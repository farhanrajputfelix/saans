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e4f8acc-5c7a-e8b9-a98f-12cb649424a4}">
          <p14:sldIdLst>
            <p14:sldId id="256"/>
            <p14:sldId id="257"/>
            <p14:sldId id="258"/>
          </p14:sldIdLst>
        </p14:section>
        <p14:section name="Data" id="{05e62df5-0768-c760-6b88-29e1eabc57f3}">
          <p14:sldIdLst>
            <p14:sldId id="259"/>
            <p14:sldId id="260"/>
          </p14:sldIdLst>
        </p14:section>
        <p14:section name="Method" id="{1a368b21-1d79-88db-ca74-f78b02b7e37c}">
          <p14:sldIdLst>
            <p14:sldId id="261"/>
            <p14:sldId id="262"/>
            <p14:sldId id="263"/>
          </p14:sldIdLst>
        </p14:section>
        <p14:section name="Results" id="{98b585a2-cbb6-10b6-fcd8-f263998f1a92}">
          <p14:sldIdLst>
            <p14:sldId id="264"/>
            <p14:sldId id="265"/>
            <p14:sldId id="266"/>
          </p14:sldIdLst>
        </p14:section>
        <p14:section name="Product" id="{85111cc1-67b5-51f8-f744-f6b7572d42ad}">
          <p14:sldIdLst>
            <p14:sldId id="267"/>
          </p14:sldIdLst>
        </p14:section>
        <p14:section name="Closing" id="{a3b0b442-a8f5-8100-c646-230fb3e906d8}">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0B0B"/>
                </a:solidFill>
                <a:latin typeface="+mn-lt"/>
              </a:defRPr>
            </a:pPr>
            <a:r>
              <a:rPr sz="1400" b="0" i="0" u="none" strike="noStrike">
                <a:solidFill>
                  <a:srgbClr val="0B0B0B"/>
                </a:solidFill>
                <a:latin typeface="+mn-lt"/>
              </a:rPr>
              <a:t>Events extracted, by type</a:t>
            </a:r>
          </a:p>
        </c:rich>
      </c:tx>
      <c:layout/>
      <c:overlay val="0"/>
    </c:title>
    <c:autoTitleDeleted val="0"/>
    <c:plotArea>
      <c:layout/>
      <c:barChart>
        <c:barDir val="bar"/>
        <c:grouping val="clustered"/>
        <c:varyColors val="0"/>
        <c:ser>
          <c:idx val="0"/>
          <c:order val="0"/>
          <c:tx>
            <c:strRef>
              <c:f>Sheet1!$B$1</c:f>
              <c:strCache>
                <c:ptCount val="1"/>
                <c:pt idx="0">
                  <c:v>Events</c:v>
                </c:pt>
              </c:strCache>
            </c:strRef>
          </c:tx>
          <c:spPr>
            <a:solidFill>
              <a:srgbClr val="2A78D6"/>
            </a:solidFill>
            <a:effectLst/>
          </c:spPr>
          <c:invertIfNegative val="0"/>
          <c:dLbls>
            <c:numFmt formatCode="#,##0"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cat>
            <c:multiLvlStrRef>
              <c:f>Sheet1!$A$2:$A$9</c:f>
              <c:multiLvlStrCache>
                <c:ptCount val="8"/>
                <c:lvl>
                  <c:pt idx="0">
                    <c:v>Crop-burning ban</c:v>
                  </c:pt>
                  <c:pt idx="1">
                    <c:v>Fireworks night</c:v>
                  </c:pt>
                  <c:pt idx="2">
                    <c:v>Smog emergency</c:v>
                  </c:pt>
                  <c:pt idx="3">
                    <c:v>Construction / industry ban</c:v>
                  </c:pt>
                  <c:pt idx="4">
                    <c:v>Lockdown / office closure</c:v>
                  </c:pt>
                  <c:pt idx="5">
                    <c:v>Traffic restriction</c:v>
                  </c:pt>
                  <c:pt idx="6">
                    <c:v>Other measure</c:v>
                  </c:pt>
                  <c:pt idx="7">
                    <c:v>School closure</c:v>
                  </c:pt>
                </c:lvl>
              </c:multiLvlStrCache>
            </c:multiLvlStrRef>
          </c:cat>
          <c:val>
            <c:numRef>
              <c:f>Sheet1!$B$2:$B$9</c:f>
              <c:numCache>
                <c:formatCode>General</c:formatCode>
                <c:ptCount val="8"/>
                <c:pt idx="0">
                  <c:v>5</c:v>
                </c:pt>
                <c:pt idx="1">
                  <c:v>7</c:v>
                </c:pt>
                <c:pt idx="2">
                  <c:v>19</c:v>
                </c:pt>
                <c:pt idx="3">
                  <c:v>43</c:v>
                </c:pt>
                <c:pt idx="4">
                  <c:v>55</c:v>
                </c:pt>
                <c:pt idx="5">
                  <c:v>65</c:v>
                </c:pt>
                <c:pt idx="6">
                  <c:v>95</c:v>
                </c:pt>
                <c:pt idx="7">
                  <c:v>136</c:v>
                </c:pt>
              </c:numCache>
            </c:numRef>
          </c:val>
        </c:ser>
        <c:dLbls>
          <c:numFmt formatCode="#,##0"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0B0B"/>
                </a:solidFill>
                <a:latin typeface="+mn-lt"/>
              </a:defRPr>
            </a:pPr>
            <a:r>
              <a:rPr sz="1400" b="0" i="0" u="none" strike="noStrike">
                <a:solidFill>
                  <a:srgbClr val="0B0B0B"/>
                </a:solidFill>
                <a:latin typeface="+mn-lt"/>
              </a:rPr>
              <a:t>Mean absolute error, µg/m³ (lower is better)</a:t>
            </a:r>
          </a:p>
        </c:rich>
      </c:tx>
      <c:layout/>
      <c:overlay val="0"/>
    </c:title>
    <c:autoTitleDeleted val="0"/>
    <c:plotArea>
      <c:layout/>
      <c:barChart>
        <c:barDir val="col"/>
        <c:grouping val="clustered"/>
        <c:varyColors val="0"/>
        <c:ser>
          <c:idx val="0"/>
          <c:order val="0"/>
          <c:tx>
            <c:strRef>
              <c:f>Sheet1!$B$1</c:f>
              <c:strCache>
                <c:ptCount val="1"/>
                <c:pt idx="0">
                  <c:v>SAANS</c:v>
                </c:pt>
              </c:strCache>
            </c:strRef>
          </c:tx>
          <c:spPr>
            <a:solidFill>
              <a:srgbClr val="2A78D6"/>
            </a:solidFill>
            <a:effectLst/>
          </c:spPr>
          <c:invertIfNegative val="0"/>
          <c:dLbls>
            <c:numFmt formatCode="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Sheet1!$A$2:$A$5</c:f>
              <c:multiLvlStrCache>
                <c:ptCount val="4"/>
                <c:lvl>
                  <c:pt idx="0">
                    <c:v>2024-25 · next 24 h</c:v>
                  </c:pt>
                  <c:pt idx="1">
                    <c:v>2024-25 · 24-48 h</c:v>
                  </c:pt>
                  <c:pt idx="2">
                    <c:v>2025-26 · next 24 h</c:v>
                  </c:pt>
                  <c:pt idx="3">
                    <c:v>2025-26 · 24-48 h</c:v>
                  </c:pt>
                </c:lvl>
              </c:multiLvlStrCache>
            </c:multiLvlStrRef>
          </c:cat>
          <c:val>
            <c:numRef>
              <c:f>Sheet1!$B$2:$B$5</c:f>
              <c:numCache>
                <c:formatCode>General</c:formatCode>
                <c:ptCount val="4"/>
                <c:pt idx="0">
                  <c:v>28</c:v>
                </c:pt>
                <c:pt idx="1">
                  <c:v>38</c:v>
                </c:pt>
                <c:pt idx="2">
                  <c:v>25.4</c:v>
                </c:pt>
                <c:pt idx="3">
                  <c:v>34.6</c:v>
                </c:pt>
              </c:numCache>
            </c:numRef>
          </c:val>
        </c:ser>
        <c:ser>
          <c:idx val="1"/>
          <c:order val="1"/>
          <c:tx>
            <c:strRef>
              <c:f>Sheet1!$C$1</c:f>
              <c:strCache>
                <c:ptCount val="1"/>
                <c:pt idx="0">
                  <c:v>Persistence</c:v>
                </c:pt>
              </c:strCache>
            </c:strRef>
          </c:tx>
          <c:spPr>
            <a:solidFill>
              <a:srgbClr val="EB6834"/>
            </a:solidFill>
            <a:effectLst/>
          </c:spPr>
          <c:invertIfNegative val="0"/>
          <c:dLbls>
            <c:numFmt formatCode="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Sheet1!$A$2:$A$5</c:f>
              <c:multiLvlStrCache>
                <c:ptCount val="4"/>
                <c:lvl>
                  <c:pt idx="0">
                    <c:v>2024-25 · next 24 h</c:v>
                  </c:pt>
                  <c:pt idx="1">
                    <c:v>2024-25 · 24-48 h</c:v>
                  </c:pt>
                  <c:pt idx="2">
                    <c:v>2025-26 · next 24 h</c:v>
                  </c:pt>
                  <c:pt idx="3">
                    <c:v>2025-26 · 24-48 h</c:v>
                  </c:pt>
                </c:lvl>
              </c:multiLvlStrCache>
            </c:multiLvlStrRef>
          </c:cat>
          <c:val>
            <c:numRef>
              <c:f>Sheet1!$C$2:$C$5</c:f>
              <c:numCache>
                <c:formatCode>General</c:formatCode>
                <c:ptCount val="4"/>
                <c:pt idx="0">
                  <c:v>32.7</c:v>
                </c:pt>
                <c:pt idx="1">
                  <c:v>44.1</c:v>
                </c:pt>
                <c:pt idx="2">
                  <c:v>25.8</c:v>
                </c:pt>
                <c:pt idx="3">
                  <c:v>36.1</c:v>
                </c:pt>
              </c:numCache>
            </c:numRef>
          </c:val>
        </c:ser>
        <c:ser>
          <c:idx val="2"/>
          <c:order val="2"/>
          <c:tx>
            <c:strRef>
              <c:f>Sheet1!$D$1</c:f>
              <c:strCache>
                <c:ptCount val="1"/>
                <c:pt idx="0">
                  <c:v>Seasonal average</c:v>
                </c:pt>
              </c:strCache>
            </c:strRef>
          </c:tx>
          <c:spPr>
            <a:solidFill>
              <a:srgbClr val="B5B3AC"/>
            </a:solidFill>
            <a:effectLst/>
          </c:spPr>
          <c:invertIfNegative val="0"/>
          <c:dLbls>
            <c:numFmt formatCode="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cat>
            <c:multiLvlStrRef>
              <c:f>Sheet1!$A$2:$A$5</c:f>
              <c:multiLvlStrCache>
                <c:ptCount val="4"/>
                <c:lvl>
                  <c:pt idx="0">
                    <c:v>2024-25 · next 24 h</c:v>
                  </c:pt>
                  <c:pt idx="1">
                    <c:v>2024-25 · 24-48 h</c:v>
                  </c:pt>
                  <c:pt idx="2">
                    <c:v>2025-26 · next 24 h</c:v>
                  </c:pt>
                  <c:pt idx="3">
                    <c:v>2025-26 · 24-48 h</c:v>
                  </c:pt>
                </c:lvl>
              </c:multiLvlStrCache>
            </c:multiLvlStrRef>
          </c:cat>
          <c:val>
            <c:numRef>
              <c:f>Sheet1!$D$2:$D$5</c:f>
              <c:numCache>
                <c:formatCode>General</c:formatCode>
                <c:ptCount val="4"/>
                <c:pt idx="0">
                  <c:v>48.2</c:v>
                </c:pt>
                <c:pt idx="1">
                  <c:v>48</c:v>
                </c:pt>
                <c:pt idx="2">
                  <c:v>68.5</c:v>
                </c:pt>
                <c:pt idx="3">
                  <c:v>69.6</c:v>
                </c:pt>
              </c:numCache>
            </c:numRef>
          </c:val>
        </c:ser>
        <c:dLbls>
          <c:numFmt formatCode="0.0" sourceLinked="0"/>
          <c:txPr>
            <a:bodyPr/>
            <a:lstStyle/>
            <a:p>
              <a:pPr>
                <a:defRPr b="0" i="0" strike="noStrike" sz="1000" u="none">
                  <a:solidFill>
                    <a:srgbClr val="52514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98781"/>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2514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SAANS forecasts smog one to two days ahead for Lahore, Faisalabad, Multan, Islamabad and Karachi, and explains what is driving it. The map shows one month of crop fires in autumn 2024; most burn east of Lahore. Everything I show is computed from free data, and the code and notebooks are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November 2024 Lahore's AQI was reported at 1,165 and schools closed across 18 districts. Every measure came after the air was already hazardous, because public tools only show the current hour. SAANS targets three gaps: no forecast, no explanation of the causes, and no clear advice in Urdu and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SAANS does three things. It forecasts the mean PM2.5 for the next 24 and 48 hours and warns when the air will cross AQI 300. It explains each forecast with SHAP, and it turns the numbers into a short English and Urdu advisory. The pipeline underneath runs from four free data streams to a public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free sources give just over two million raw records from 2020 to January 2026. The coverage chart was my first risk check: long reference records exist only at the US posts in three cities, and that feed stopped in March 2025. Faisalabad and Multan have sensors only from June 2025, so I turned them into an unseen-city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is the core of the project, and every step logs before and after counts. Four findings changed the rules: empty readings mislabelled as negatives, a metadata field that would have deleted Lahore's best monitor, a monitor stuck at 67 for 105 hours, and a humidity correction that would have doubled the error of already-corrected sensors. All of it is in the Data Quality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Upwind Fire Exposure Index sums every fire seen one to three days earlier, weighted by its power, its distance and whether the wind was blowing from the fire to the city. Tuned on training data only, the wind term lifts the correlation with next-day PM2.5 from 0.30 to 0.38. That is the proposal's central physical claim, now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works inside the data pipeline: Gemini reads 2,255 real headlines and returns structured events, and its output is validated like any raw data. I checked 20 random events strictly and 13 were fully correct, so I report 65%. The misses are instructive, for example reading 'lift lockdown' as a new lockdown, so the event calendar is treated as a noisy, minor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split by time, never at random, because overlapping 24-hour windows would leak tomorrow's air into training. The model trains up to September 2024 and is tested on the record 2024-25 season and on 2025-26, including two cities it never saw. One design change mattered most: predicting the change from the last 24 hours instead of the level, which lifted the record-day forecast from 283 to 386.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record 2024-25 season SAANS cuts the 24-hour error of persistence by 14 percent, and by 14 percent at 48 hours too. In 2025-26 the margin is small, 2 to 4 percent, and I will explain why on the next slide. The hazard classifier catches 92 percent of hazardous periods against 76 percent for persistence, at the cost of more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result is generalisation: Faisalabad and Multan were never in training, yet SAANS beats persistence there by 14 and 11 percent. The honest weak spot is Lahore in 2025-26: when the US monitor stopped, the data switched to low-cost networks that read differently, and the model over-forecasts by about 26. Losing one reference monitor visibly degrades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splits each forecast into parts that add up exactly. On 6 November 2024 most of the 386 came from pollution already in the air, plus smaller pushes from fires, weather and calendar. The what-if tool shows that removing all upwind fires would lower this forecast to 340. This is the model's reasoning, not a chemical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Streamlit dashboard replaying the forecast for Lahore on 6 November 2024. The top shows each city's forecast, its risk on the map and the 48-hour chart with the 80 percent range; the bottom shows why, a what-if slider for crop fires, and the advisory in English and Urdu. It runs from precomputed files, so it needs no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limits I would state to a policymaker. Attribution is statistical; the Lahore network change shows how fragile public monitoring is; and the what-if is not guaranteed to move the right way, which monotone constraints would fix. The data are thin in two cities and the event calendar is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free, open data is enough to forecast smog a day ahead in Pakistan's cities, to warn of most hazardous periods, and to say why. The next steps are to calibrate the low-cost networks, add weather forecasts, constrain the fire response, and run SAANS live this season.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SAANS  |  Data Science  |  SZABIST Karachi</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280160"/>
            <a:ext cx="6583680" cy="109728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3" name="Text 0"/>
          <p:cNvSpPr/>
          <p:nvPr>
            <p:ph idx="101" type="body" hasCustomPrompt="1"/>
          </p:nvPr>
        </p:nvSpPr>
        <p:spPr>
          <a:xfrm>
            <a:off x="640080" y="2514600"/>
            <a:ext cx="6583680" cy="118872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91440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280160"/>
            <a:ext cx="6583680" cy="1097280"/>
          </a:xfrm>
          <a:prstGeom prst="rect">
            <a:avLst/>
          </a:prstGeom>
          <a:noFill/>
          <a:ln/>
        </p:spPr>
        <p:txBody>
          <a:bodyPr wrap="square" lIns="0" tIns="0" rIns="0" bIns="0" rtlCol="0" anchor="b"/>
          <a:lstStyle/>
          <a:p>
            <a:pPr indent="0" marL="0">
              <a:buNone/>
            </a:pPr>
            <a:r>
              <a:rPr lang="en-US" sz="5400" b="1" dirty="0">
                <a:solidFill>
                  <a:schemeClr val="bg1"/>
                </a:solidFill>
              </a:rPr>
              <a:t>SAANS</a:t>
            </a:r>
            <a:endParaRPr lang="en-US" sz="5400" dirty="0"/>
          </a:p>
        </p:txBody>
      </p:sp>
      <p:sp>
        <p:nvSpPr>
          <p:cNvPr id="3" name="Text 0"/>
          <p:cNvSpPr/>
          <p:nvPr>
            <p:ph idx="101" type="body" hasCustomPrompt="1"/>
          </p:nvPr>
        </p:nvSpPr>
        <p:spPr>
          <a:xfrm>
            <a:off x="640080" y="2514600"/>
            <a:ext cx="6583680" cy="1188720"/>
          </a:xfrm>
          <a:prstGeom prst="rect">
            <a:avLst/>
          </a:prstGeom>
          <a:noFill/>
          <a:ln/>
        </p:spPr>
        <p:txBody>
          <a:bodyPr wrap="square" lIns="0" tIns="0" rIns="0" bIns="0" rtlCol="0" anchor="t"/>
          <a:lstStyle/>
          <a:p>
            <a:pPr indent="0" marL="0">
              <a:buNone/>
            </a:pPr>
            <a:r>
              <a:rPr lang="en-US" sz="2200" dirty="0">
                <a:solidFill>
                  <a:schemeClr val="bg2"/>
                </a:solidFill>
              </a:rPr>
              <a:t>AI smog forecasting and source attribution for five Pakistani cities</a:t>
            </a:r>
            <a:endParaRPr lang="en-US" sz="2200" dirty="0"/>
          </a:p>
        </p:txBody>
      </p:sp>
      <p:sp>
        <p:nvSpPr>
          <p:cNvPr id="4" name="Text 2"/>
          <p:cNvSpPr txBox="1"/>
          <p:nvPr/>
        </p:nvSpPr>
        <p:spPr>
          <a:xfrm>
            <a:off x="640080" y="4114800"/>
            <a:ext cx="6583680" cy="1463040"/>
          </a:xfrm>
          <a:prstGeom prst="rect">
            <a:avLst/>
          </a:prstGeom>
          <a:noFill/>
          <a:ln/>
        </p:spPr>
        <p:txBody>
          <a:bodyPr wrap="square" lIns="0" tIns="0" rIns="0" bIns="0" rtlCol="0" anchor="t"/>
          <a:lstStyle/>
          <a:p>
            <a:pPr indent="0" marL="0">
              <a:buNone/>
            </a:pPr>
            <a:r>
              <a:rPr lang="en-US" sz="1600" i="1" dirty="0">
                <a:solidFill>
                  <a:schemeClr val="bg2"/>
                </a:solidFill>
              </a:rPr>
              <a:t>Saans means breath in Urdu</a:t>
            </a:r>
            <a:endParaRPr lang="en-US" sz="1600" dirty="0"/>
          </a:p>
          <a:p>
            <a:pPr indent="0" marL="0">
              <a:buNone/>
            </a:pPr>
            <a:r>
              <a:rPr lang="en-US" sz="1600" dirty="0">
                <a:solidFill>
                  <a:schemeClr val="bg2"/>
                </a:solidFill>
              </a:rPr>
              <a:t> </a:t>
            </a:r>
            <a:endParaRPr lang="en-US" sz="1600" dirty="0"/>
          </a:p>
          <a:p>
            <a:pPr indent="0" marL="0">
              <a:buNone/>
            </a:pPr>
            <a:r>
              <a:rPr lang="en-US" sz="1600" dirty="0">
                <a:solidFill>
                  <a:schemeClr val="bg2"/>
                </a:solidFill>
              </a:rPr>
              <a:t>Farhan Bashir (2312407)  ·  Data Science</a:t>
            </a:r>
            <a:endParaRPr lang="en-US" sz="1600" dirty="0"/>
          </a:p>
          <a:p>
            <a:pPr indent="0" marL="0">
              <a:buNone/>
            </a:pPr>
            <a:r>
              <a:rPr lang="en-US" sz="1600" dirty="0">
                <a:solidFill>
                  <a:schemeClr val="bg2"/>
                </a:solidFill>
              </a:rPr>
              <a:t>Submitted to Sir Ahsan Nisar  ·  SZABIST University Karachi  ·  October 2026</a:t>
            </a:r>
            <a:endParaRPr lang="en-US" sz="1600" dirty="0"/>
          </a:p>
        </p:txBody>
      </p:sp>
      <p:pic>
        <p:nvPicPr>
          <p:cNvPr id="5" name="Map of crop fires, 15 Oct to 14 Nov 2024" descr="Map of crop fires, 15 Oct to 14 Nov 2024">    </p:cNvPr>
          <p:cNvPicPr>
            <a:picLocks noChangeAspect="1"/>
          </p:cNvPicPr>
          <p:nvPr/>
        </p:nvPicPr>
        <p:blipFill>
          <a:blip r:embed="rId1"/>
          <a:stretch>
            <a:fillRect/>
          </a:stretch>
        </p:blipFill>
        <p:spPr>
          <a:xfrm>
            <a:off x="7726680" y="1143000"/>
            <a:ext cx="3931920" cy="3420270"/>
          </a:xfrm>
          <a:prstGeom prst="rect">
            <a:avLst/>
          </a:prstGeom>
        </p:spPr>
      </p:pic>
      <p:sp>
        <p:nvSpPr>
          <p:cNvPr id="6" name="Text 3"/>
          <p:cNvSpPr txBox="1"/>
          <p:nvPr/>
        </p:nvSpPr>
        <p:spPr>
          <a:xfrm>
            <a:off x="7726680" y="4617720"/>
            <a:ext cx="3931920" cy="320040"/>
          </a:xfrm>
          <a:prstGeom prst="rect">
            <a:avLst/>
          </a:prstGeom>
          <a:noFill/>
          <a:ln/>
        </p:spPr>
        <p:txBody>
          <a:bodyPr wrap="square" lIns="0" tIns="0" rIns="0" bIns="0" rtlCol="0" anchor="ctr"/>
          <a:lstStyle/>
          <a:p>
            <a:pPr algn="ctr" indent="0" marL="0">
              <a:buNone/>
            </a:pPr>
            <a:r>
              <a:rPr lang="en-US" sz="1100" dirty="0">
                <a:solidFill>
                  <a:schemeClr val="bg2"/>
                </a:solidFill>
              </a:rPr>
              <a:t>Satellite fire detections, 15 Oct to 14 Nov 2024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Smog policy reacts after the air is already hazardous</a:t>
            </a:r>
            <a:endParaRPr lang="en-US" sz="3000" dirty="0"/>
          </a:p>
        </p:txBody>
      </p:sp>
      <p:sp>
        <p:nvSpPr>
          <p:cNvPr id="3" name="stat card 1"/>
          <p:cNvSpPr/>
          <p:nvPr/>
        </p:nvSpPr>
        <p:spPr>
          <a:xfrm>
            <a:off x="548640" y="1325880"/>
            <a:ext cx="3474720" cy="1828800"/>
          </a:xfrm>
          <a:prstGeom prst="roundRect">
            <a:avLst>
              <a:gd name="adj" fmla="val 4000"/>
            </a:avLst>
          </a:prstGeom>
          <a:solidFill>
            <a:schemeClr val="bg2"/>
          </a:solidFill>
          <a:ln/>
        </p:spPr>
      </p:sp>
      <p:sp>
        <p:nvSpPr>
          <p:cNvPr id="4" name="Text 2"/>
          <p:cNvSpPr txBox="1"/>
          <p:nvPr/>
        </p:nvSpPr>
        <p:spPr>
          <a:xfrm>
            <a:off x="777240" y="1417320"/>
            <a:ext cx="3017520" cy="731520"/>
          </a:xfrm>
          <a:prstGeom prst="rect">
            <a:avLst/>
          </a:prstGeom>
          <a:noFill/>
          <a:ln/>
        </p:spPr>
        <p:txBody>
          <a:bodyPr wrap="square" lIns="0" tIns="0" rIns="0" bIns="0" rtlCol="0" anchor="b"/>
          <a:lstStyle/>
          <a:p>
            <a:pPr indent="0" marL="0">
              <a:buNone/>
            </a:pPr>
            <a:r>
              <a:rPr lang="en-US" sz="4400" b="1" dirty="0">
                <a:solidFill>
                  <a:schemeClr val="accent5"/>
                </a:solidFill>
                <a:latin typeface="Cambria" pitchFamily="34" charset="0"/>
                <a:ea typeface="Cambria" pitchFamily="34" charset="-122"/>
                <a:cs typeface="Cambria" pitchFamily="34" charset="-120"/>
              </a:rPr>
              <a:t>1,165</a:t>
            </a:r>
            <a:endParaRPr lang="en-US" sz="4400" dirty="0"/>
          </a:p>
        </p:txBody>
      </p:sp>
      <p:sp>
        <p:nvSpPr>
          <p:cNvPr id="5" name="Text 3"/>
          <p:cNvSpPr txBox="1"/>
          <p:nvPr/>
        </p:nvSpPr>
        <p:spPr>
          <a:xfrm>
            <a:off x="777240" y="2194560"/>
            <a:ext cx="3017520" cy="685800"/>
          </a:xfrm>
          <a:prstGeom prst="rect">
            <a:avLst/>
          </a:prstGeom>
          <a:noFill/>
          <a:ln/>
        </p:spPr>
        <p:txBody>
          <a:bodyPr wrap="square" lIns="0" tIns="0" rIns="0" bIns="0" rtlCol="0" anchor="t"/>
          <a:lstStyle/>
          <a:p>
            <a:pPr indent="0" marL="0">
              <a:buNone/>
            </a:pPr>
            <a:r>
              <a:rPr lang="en-US" sz="1400" dirty="0">
                <a:solidFill>
                  <a:schemeClr val="tx1"/>
                </a:solidFill>
              </a:rPr>
              <a:t>AQI reported in Lahore, November 2024</a:t>
            </a:r>
            <a:endParaRPr lang="en-US" sz="1400" dirty="0"/>
          </a:p>
        </p:txBody>
      </p:sp>
      <p:sp>
        <p:nvSpPr>
          <p:cNvPr id="6" name="stat card 2"/>
          <p:cNvSpPr/>
          <p:nvPr/>
        </p:nvSpPr>
        <p:spPr>
          <a:xfrm>
            <a:off x="4297680" y="1325880"/>
            <a:ext cx="3474720" cy="1828800"/>
          </a:xfrm>
          <a:prstGeom prst="roundRect">
            <a:avLst>
              <a:gd name="adj" fmla="val 4000"/>
            </a:avLst>
          </a:prstGeom>
          <a:solidFill>
            <a:schemeClr val="bg2"/>
          </a:solidFill>
          <a:ln/>
        </p:spPr>
      </p:sp>
      <p:sp>
        <p:nvSpPr>
          <p:cNvPr id="7" name="Text 5"/>
          <p:cNvSpPr txBox="1"/>
          <p:nvPr/>
        </p:nvSpPr>
        <p:spPr>
          <a:xfrm>
            <a:off x="4526280" y="1417320"/>
            <a:ext cx="3017520" cy="731520"/>
          </a:xfrm>
          <a:prstGeom prst="rect">
            <a:avLst/>
          </a:prstGeom>
          <a:noFill/>
          <a:ln/>
        </p:spPr>
        <p:txBody>
          <a:bodyPr wrap="square" lIns="0" tIns="0" rIns="0" bIns="0" rtlCol="0" anchor="b"/>
          <a:lstStyle/>
          <a:p>
            <a:pPr indent="0" marL="0">
              <a:buNone/>
            </a:pPr>
            <a:r>
              <a:rPr lang="en-US" sz="4400" b="1" dirty="0">
                <a:solidFill>
                  <a:schemeClr val="accent2"/>
                </a:solidFill>
                <a:latin typeface="Cambria" pitchFamily="34" charset="0"/>
                <a:ea typeface="Cambria" pitchFamily="34" charset="-122"/>
                <a:cs typeface="Cambria" pitchFamily="34" charset="-120"/>
              </a:rPr>
              <a:t>18</a:t>
            </a:r>
            <a:endParaRPr lang="en-US" sz="4400" dirty="0"/>
          </a:p>
        </p:txBody>
      </p:sp>
      <p:sp>
        <p:nvSpPr>
          <p:cNvPr id="8" name="Text 6"/>
          <p:cNvSpPr txBox="1"/>
          <p:nvPr/>
        </p:nvSpPr>
        <p:spPr>
          <a:xfrm>
            <a:off x="4526280" y="2194560"/>
            <a:ext cx="3017520" cy="685800"/>
          </a:xfrm>
          <a:prstGeom prst="rect">
            <a:avLst/>
          </a:prstGeom>
          <a:noFill/>
          <a:ln/>
        </p:spPr>
        <p:txBody>
          <a:bodyPr wrap="square" lIns="0" tIns="0" rIns="0" bIns="0" rtlCol="0" anchor="t"/>
          <a:lstStyle/>
          <a:p>
            <a:pPr indent="0" marL="0">
              <a:buNone/>
            </a:pPr>
            <a:r>
              <a:rPr lang="en-US" sz="1400" dirty="0">
                <a:solidFill>
                  <a:schemeClr val="tx1"/>
                </a:solidFill>
              </a:rPr>
              <a:t>districts closed schools and colleges</a:t>
            </a:r>
            <a:endParaRPr lang="en-US" sz="1400" dirty="0"/>
          </a:p>
        </p:txBody>
      </p:sp>
      <p:sp>
        <p:nvSpPr>
          <p:cNvPr id="9" name="stat card 3"/>
          <p:cNvSpPr/>
          <p:nvPr/>
        </p:nvSpPr>
        <p:spPr>
          <a:xfrm>
            <a:off x="8046720" y="1325880"/>
            <a:ext cx="3474720" cy="1828800"/>
          </a:xfrm>
          <a:prstGeom prst="roundRect">
            <a:avLst>
              <a:gd name="adj" fmla="val 4000"/>
            </a:avLst>
          </a:prstGeom>
          <a:solidFill>
            <a:schemeClr val="bg2"/>
          </a:solidFill>
          <a:ln/>
        </p:spPr>
      </p:sp>
      <p:sp>
        <p:nvSpPr>
          <p:cNvPr id="10" name="Text 8"/>
          <p:cNvSpPr txBox="1"/>
          <p:nvPr/>
        </p:nvSpPr>
        <p:spPr>
          <a:xfrm>
            <a:off x="8275320" y="1417320"/>
            <a:ext cx="3017520" cy="73152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Now only</a:t>
            </a:r>
            <a:endParaRPr lang="en-US" sz="4400" dirty="0"/>
          </a:p>
        </p:txBody>
      </p:sp>
      <p:sp>
        <p:nvSpPr>
          <p:cNvPr id="11" name="Text 9"/>
          <p:cNvSpPr txBox="1"/>
          <p:nvPr/>
        </p:nvSpPr>
        <p:spPr>
          <a:xfrm>
            <a:off x="8275320" y="2194560"/>
            <a:ext cx="3017520" cy="685800"/>
          </a:xfrm>
          <a:prstGeom prst="rect">
            <a:avLst/>
          </a:prstGeom>
          <a:noFill/>
          <a:ln/>
        </p:spPr>
        <p:txBody>
          <a:bodyPr wrap="square" lIns="0" tIns="0" rIns="0" bIns="0" rtlCol="0" anchor="t"/>
          <a:lstStyle/>
          <a:p>
            <a:pPr indent="0" marL="0">
              <a:buNone/>
            </a:pPr>
            <a:r>
              <a:rPr lang="en-US" sz="1400" dirty="0">
                <a:solidFill>
                  <a:schemeClr val="tx1"/>
                </a:solidFill>
              </a:rPr>
              <a:t>public AQI tools report the current hour, not tomorrow</a:t>
            </a:r>
            <a:endParaRPr lang="en-US" sz="1400" dirty="0"/>
          </a:p>
        </p:txBody>
      </p:sp>
      <p:sp>
        <p:nvSpPr>
          <p:cNvPr id="12" name="circle 1"/>
          <p:cNvSpPr/>
          <p:nvPr/>
        </p:nvSpPr>
        <p:spPr>
          <a:xfrm>
            <a:off x="548640" y="3611880"/>
            <a:ext cx="457200" cy="457200"/>
          </a:xfrm>
          <a:prstGeom prst="ellipse">
            <a:avLst/>
          </a:prstGeom>
          <a:solidFill>
            <a:schemeClr val="accent1"/>
          </a:solidFill>
          <a:ln/>
        </p:spPr>
      </p:sp>
      <p:sp>
        <p:nvSpPr>
          <p:cNvPr id="13" name="Text 11"/>
          <p:cNvSpPr txBox="1"/>
          <p:nvPr/>
        </p:nvSpPr>
        <p:spPr>
          <a:xfrm>
            <a:off x="548640" y="3611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4" name="Text 12"/>
          <p:cNvSpPr txBox="1"/>
          <p:nvPr/>
        </p:nvSpPr>
        <p:spPr>
          <a:xfrm>
            <a:off x="1143000" y="3611880"/>
            <a:ext cx="2880360" cy="457200"/>
          </a:xfrm>
          <a:prstGeom prst="rect">
            <a:avLst/>
          </a:prstGeom>
          <a:noFill/>
          <a:ln/>
        </p:spPr>
        <p:txBody>
          <a:bodyPr wrap="square" lIns="0" tIns="0" rIns="0" bIns="0" rtlCol="0" anchor="ctr"/>
          <a:lstStyle/>
          <a:p>
            <a:pPr indent="0" marL="0">
              <a:buNone/>
            </a:pPr>
            <a:r>
              <a:rPr lang="en-US" sz="1800" b="1" dirty="0">
                <a:solidFill>
                  <a:schemeClr val="tx1"/>
                </a:solidFill>
              </a:rPr>
              <a:t>No forecast</a:t>
            </a:r>
            <a:endParaRPr lang="en-US" sz="1800" dirty="0"/>
          </a:p>
        </p:txBody>
      </p:sp>
      <p:sp>
        <p:nvSpPr>
          <p:cNvPr id="15" name="Text 13"/>
          <p:cNvSpPr txBox="1"/>
          <p:nvPr/>
        </p:nvSpPr>
        <p:spPr>
          <a:xfrm>
            <a:off x="1143000" y="4114800"/>
            <a:ext cx="2880360" cy="1188720"/>
          </a:xfrm>
          <a:prstGeom prst="rect">
            <a:avLst/>
          </a:prstGeom>
          <a:noFill/>
          <a:ln/>
        </p:spPr>
        <p:txBody>
          <a:bodyPr wrap="square" lIns="0" tIns="0" rIns="0" bIns="0" rtlCol="0" anchor="t"/>
          <a:lstStyle/>
          <a:p>
            <a:pPr indent="0" marL="0">
              <a:buNone/>
            </a:pPr>
            <a:r>
              <a:rPr lang="en-US" sz="1600" dirty="0">
                <a:solidFill>
                  <a:schemeClr val="tx1"/>
                </a:solidFill>
              </a:rPr>
              <a:t>Nobody sees what tomorrow will bring, so schools close after the air turns bad.</a:t>
            </a:r>
            <a:endParaRPr lang="en-US" sz="1600" dirty="0"/>
          </a:p>
        </p:txBody>
      </p:sp>
      <p:sp>
        <p:nvSpPr>
          <p:cNvPr id="16" name="circle 2"/>
          <p:cNvSpPr/>
          <p:nvPr/>
        </p:nvSpPr>
        <p:spPr>
          <a:xfrm>
            <a:off x="4297680" y="3611880"/>
            <a:ext cx="457200" cy="457200"/>
          </a:xfrm>
          <a:prstGeom prst="ellipse">
            <a:avLst/>
          </a:prstGeom>
          <a:solidFill>
            <a:schemeClr val="accent1"/>
          </a:solidFill>
          <a:ln/>
        </p:spPr>
      </p:sp>
      <p:sp>
        <p:nvSpPr>
          <p:cNvPr id="17" name="Text 15"/>
          <p:cNvSpPr txBox="1"/>
          <p:nvPr/>
        </p:nvSpPr>
        <p:spPr>
          <a:xfrm>
            <a:off x="4297680" y="3611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8" name="Text 16"/>
          <p:cNvSpPr txBox="1"/>
          <p:nvPr/>
        </p:nvSpPr>
        <p:spPr>
          <a:xfrm>
            <a:off x="4892040" y="3611880"/>
            <a:ext cx="2880360" cy="457200"/>
          </a:xfrm>
          <a:prstGeom prst="rect">
            <a:avLst/>
          </a:prstGeom>
          <a:noFill/>
          <a:ln/>
        </p:spPr>
        <p:txBody>
          <a:bodyPr wrap="square" lIns="0" tIns="0" rIns="0" bIns="0" rtlCol="0" anchor="ctr"/>
          <a:lstStyle/>
          <a:p>
            <a:pPr indent="0" marL="0">
              <a:buNone/>
            </a:pPr>
            <a:r>
              <a:rPr lang="en-US" sz="1800" b="1" dirty="0">
                <a:solidFill>
                  <a:schemeClr val="tx1"/>
                </a:solidFill>
              </a:rPr>
              <a:t>No explanation</a:t>
            </a:r>
            <a:endParaRPr lang="en-US" sz="1800" dirty="0"/>
          </a:p>
        </p:txBody>
      </p:sp>
      <p:sp>
        <p:nvSpPr>
          <p:cNvPr id="19" name="Text 17"/>
          <p:cNvSpPr txBox="1"/>
          <p:nvPr/>
        </p:nvSpPr>
        <p:spPr>
          <a:xfrm>
            <a:off x="4892040" y="4114800"/>
            <a:ext cx="2880360" cy="1188720"/>
          </a:xfrm>
          <a:prstGeom prst="rect">
            <a:avLst/>
          </a:prstGeom>
          <a:noFill/>
          <a:ln/>
        </p:spPr>
        <p:txBody>
          <a:bodyPr wrap="square" lIns="0" tIns="0" rIns="0" bIns="0" rtlCol="0" anchor="t"/>
          <a:lstStyle/>
          <a:p>
            <a:pPr indent="0" marL="0">
              <a:buNone/>
            </a:pPr>
            <a:r>
              <a:rPr lang="en-US" sz="1600" dirty="0">
                <a:solidFill>
                  <a:schemeClr val="tx1"/>
                </a:solidFill>
              </a:rPr>
              <a:t>Is it crop burning upwind, stagnant weather or local traffic? Nobody quantifies it.</a:t>
            </a:r>
            <a:endParaRPr lang="en-US" sz="1600" dirty="0"/>
          </a:p>
        </p:txBody>
      </p:sp>
      <p:sp>
        <p:nvSpPr>
          <p:cNvPr id="20" name="circle 3"/>
          <p:cNvSpPr/>
          <p:nvPr/>
        </p:nvSpPr>
        <p:spPr>
          <a:xfrm>
            <a:off x="8046720" y="3611880"/>
            <a:ext cx="457200" cy="457200"/>
          </a:xfrm>
          <a:prstGeom prst="ellipse">
            <a:avLst/>
          </a:prstGeom>
          <a:solidFill>
            <a:schemeClr val="accent1"/>
          </a:solidFill>
          <a:ln/>
        </p:spPr>
      </p:sp>
      <p:sp>
        <p:nvSpPr>
          <p:cNvPr id="21" name="Text 19"/>
          <p:cNvSpPr txBox="1"/>
          <p:nvPr/>
        </p:nvSpPr>
        <p:spPr>
          <a:xfrm>
            <a:off x="8046720" y="3611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2" name="Text 20"/>
          <p:cNvSpPr txBox="1"/>
          <p:nvPr/>
        </p:nvSpPr>
        <p:spPr>
          <a:xfrm>
            <a:off x="8641080" y="3611880"/>
            <a:ext cx="2880360" cy="457200"/>
          </a:xfrm>
          <a:prstGeom prst="rect">
            <a:avLst/>
          </a:prstGeom>
          <a:noFill/>
          <a:ln/>
        </p:spPr>
        <p:txBody>
          <a:bodyPr wrap="square" lIns="0" tIns="0" rIns="0" bIns="0" rtlCol="0" anchor="ctr"/>
          <a:lstStyle/>
          <a:p>
            <a:pPr indent="0" marL="0">
              <a:buNone/>
            </a:pPr>
            <a:r>
              <a:rPr lang="en-US" sz="1800" b="1" dirty="0">
                <a:solidFill>
                  <a:schemeClr val="tx1"/>
                </a:solidFill>
              </a:rPr>
              <a:t>No accessible advice</a:t>
            </a:r>
            <a:endParaRPr lang="en-US" sz="1800" dirty="0"/>
          </a:p>
        </p:txBody>
      </p:sp>
      <p:sp>
        <p:nvSpPr>
          <p:cNvPr id="23" name="Text 21"/>
          <p:cNvSpPr txBox="1"/>
          <p:nvPr/>
        </p:nvSpPr>
        <p:spPr>
          <a:xfrm>
            <a:off x="8641080" y="4114800"/>
            <a:ext cx="2880360" cy="1188720"/>
          </a:xfrm>
          <a:prstGeom prst="rect">
            <a:avLst/>
          </a:prstGeom>
          <a:noFill/>
          <a:ln/>
        </p:spPr>
        <p:txBody>
          <a:bodyPr wrap="square" lIns="0" tIns="0" rIns="0" bIns="0" rtlCol="0" anchor="t"/>
          <a:lstStyle/>
          <a:p>
            <a:pPr indent="0" marL="0">
              <a:buNone/>
            </a:pPr>
            <a:r>
              <a:rPr lang="en-US" sz="1600" dirty="0">
                <a:solidFill>
                  <a:schemeClr val="tx1"/>
                </a:solidFill>
              </a:rPr>
              <a:t>Numbers on an app, not clear guidance in Urdu and English.</a:t>
            </a:r>
            <a:endParaRPr lang="en-US" sz="1600" dirty="0"/>
          </a:p>
        </p:txBody>
      </p:sp>
      <p:sp>
        <p:nvSpPr>
          <p:cNvPr id="24" name="Text 22"/>
          <p:cNvSpPr txBox="1"/>
          <p:nvPr/>
        </p:nvSpPr>
        <p:spPr>
          <a:xfrm>
            <a:off x="548640" y="5852160"/>
            <a:ext cx="10972800" cy="274320"/>
          </a:xfrm>
          <a:prstGeom prst="rect">
            <a:avLst/>
          </a:prstGeom>
          <a:noFill/>
          <a:ln/>
        </p:spPr>
        <p:txBody>
          <a:bodyPr wrap="square" lIns="0" tIns="0" rIns="0" bIns="0" rtlCol="0" anchor="ctr"/>
          <a:lstStyle/>
          <a:p>
            <a:pPr indent="0" marL="0">
              <a:buNone/>
            </a:pPr>
            <a:r>
              <a:rPr lang="en-US" sz="1100" dirty="0">
                <a:solidFill>
                  <a:schemeClr val="accent6"/>
                </a:solidFill>
              </a:rPr>
              <a:t>Source: Dawn, 7 November 2024 (schools closed across 18 districts as smog reigned in Punjab).</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SAANS forecasts tomorrow's smog, explains it, and advises</a:t>
            </a:r>
            <a:endParaRPr lang="en-US" sz="3000" dirty="0"/>
          </a:p>
        </p:txBody>
      </p:sp>
      <p:sp>
        <p:nvSpPr>
          <p:cNvPr id="3" name="Forecast card"/>
          <p:cNvSpPr/>
          <p:nvPr/>
        </p:nvSpPr>
        <p:spPr>
          <a:xfrm>
            <a:off x="548640" y="1325880"/>
            <a:ext cx="3474720" cy="3246120"/>
          </a:xfrm>
          <a:prstGeom prst="roundRect">
            <a:avLst>
              <a:gd name="adj" fmla="val 2254"/>
            </a:avLst>
          </a:prstGeom>
          <a:solidFill>
            <a:schemeClr val="bg2"/>
          </a:solidFill>
          <a:ln/>
        </p:spPr>
      </p:sp>
      <p:sp>
        <p:nvSpPr>
          <p:cNvPr id="4" name="circle 1"/>
          <p:cNvSpPr/>
          <p:nvPr/>
        </p:nvSpPr>
        <p:spPr>
          <a:xfrm>
            <a:off x="822960" y="1554480"/>
            <a:ext cx="502920" cy="502920"/>
          </a:xfrm>
          <a:prstGeom prst="ellipse">
            <a:avLst/>
          </a:prstGeom>
          <a:solidFill>
            <a:schemeClr val="accent1"/>
          </a:solidFill>
          <a:ln/>
        </p:spPr>
      </p:sp>
      <p:sp>
        <p:nvSpPr>
          <p:cNvPr id="5" name="Text 3"/>
          <p:cNvSpPr txBox="1"/>
          <p:nvPr/>
        </p:nvSpPr>
        <p:spPr>
          <a:xfrm>
            <a:off x="822960" y="15544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463040" y="1554480"/>
            <a:ext cx="2377440"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Forecast</a:t>
            </a:r>
            <a:endParaRPr lang="en-US" sz="2200" dirty="0"/>
          </a:p>
        </p:txBody>
      </p:sp>
      <p:sp>
        <p:nvSpPr>
          <p:cNvPr id="7" name="Text 5"/>
          <p:cNvSpPr txBox="1"/>
          <p:nvPr/>
        </p:nvSpPr>
        <p:spPr>
          <a:xfrm>
            <a:off x="822960" y="2286000"/>
            <a:ext cx="297180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Mean PM2.5 for the next 24 hours and the 24 hours after, with an 80% range</a:t>
            </a:r>
            <a:endParaRPr lang="en-US" sz="1500" dirty="0"/>
          </a:p>
          <a:p>
            <a:pPr marL="342900" indent="-342900">
              <a:spcAft>
                <a:spcPts val="800"/>
              </a:spcAft>
              <a:buSzPct val="100000"/>
              <a:buChar char="•"/>
            </a:pPr>
            <a:r>
              <a:rPr lang="en-US" sz="1500" dirty="0">
                <a:solidFill>
                  <a:schemeClr val="tx1"/>
                </a:solidFill>
              </a:rPr>
              <a:t>A warning when the next 24 hours will exceed AQI 300</a:t>
            </a:r>
            <a:endParaRPr lang="en-US" sz="1500" dirty="0"/>
          </a:p>
        </p:txBody>
      </p:sp>
      <p:sp>
        <p:nvSpPr>
          <p:cNvPr id="8" name="Explain card"/>
          <p:cNvSpPr/>
          <p:nvPr/>
        </p:nvSpPr>
        <p:spPr>
          <a:xfrm>
            <a:off x="4297680" y="1325880"/>
            <a:ext cx="3474720" cy="3246120"/>
          </a:xfrm>
          <a:prstGeom prst="roundRect">
            <a:avLst>
              <a:gd name="adj" fmla="val 2254"/>
            </a:avLst>
          </a:prstGeom>
          <a:solidFill>
            <a:schemeClr val="bg2"/>
          </a:solidFill>
          <a:ln/>
        </p:spPr>
      </p:sp>
      <p:sp>
        <p:nvSpPr>
          <p:cNvPr id="9" name="circle 2"/>
          <p:cNvSpPr/>
          <p:nvPr/>
        </p:nvSpPr>
        <p:spPr>
          <a:xfrm>
            <a:off x="4572000" y="1554480"/>
            <a:ext cx="502920" cy="502920"/>
          </a:xfrm>
          <a:prstGeom prst="ellipse">
            <a:avLst/>
          </a:prstGeom>
          <a:solidFill>
            <a:schemeClr val="accent3"/>
          </a:solidFill>
          <a:ln/>
        </p:spPr>
      </p:sp>
      <p:sp>
        <p:nvSpPr>
          <p:cNvPr id="10" name="Text 8"/>
          <p:cNvSpPr txBox="1"/>
          <p:nvPr/>
        </p:nvSpPr>
        <p:spPr>
          <a:xfrm>
            <a:off x="4572000" y="15544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212080" y="1554480"/>
            <a:ext cx="2377440"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Explain</a:t>
            </a:r>
            <a:endParaRPr lang="en-US" sz="2200" dirty="0"/>
          </a:p>
        </p:txBody>
      </p:sp>
      <p:sp>
        <p:nvSpPr>
          <p:cNvPr id="12" name="Text 10"/>
          <p:cNvSpPr txBox="1"/>
          <p:nvPr/>
        </p:nvSpPr>
        <p:spPr>
          <a:xfrm>
            <a:off x="4572000" y="2286000"/>
            <a:ext cx="297180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SHAP splits every forecast into four drivers: recent pollution, weather, upwind crop fires, calendar</a:t>
            </a:r>
            <a:endParaRPr lang="en-US" sz="1500" dirty="0"/>
          </a:p>
          <a:p>
            <a:pPr marL="342900" indent="-342900">
              <a:spcAft>
                <a:spcPts val="800"/>
              </a:spcAft>
              <a:buSzPct val="100000"/>
              <a:buChar char="•"/>
            </a:pPr>
            <a:r>
              <a:rPr lang="en-US" sz="1500" dirty="0">
                <a:solidFill>
                  <a:schemeClr val="tx1"/>
                </a:solidFill>
              </a:rPr>
              <a:t>What-if: fewer crop fires</a:t>
            </a:r>
            <a:endParaRPr lang="en-US" sz="1500" dirty="0"/>
          </a:p>
        </p:txBody>
      </p:sp>
      <p:sp>
        <p:nvSpPr>
          <p:cNvPr id="13" name="Advise card"/>
          <p:cNvSpPr/>
          <p:nvPr/>
        </p:nvSpPr>
        <p:spPr>
          <a:xfrm>
            <a:off x="8046720" y="1325880"/>
            <a:ext cx="3474720" cy="3246120"/>
          </a:xfrm>
          <a:prstGeom prst="roundRect">
            <a:avLst>
              <a:gd name="adj" fmla="val 2254"/>
            </a:avLst>
          </a:prstGeom>
          <a:solidFill>
            <a:schemeClr val="bg2"/>
          </a:solidFill>
          <a:ln/>
        </p:spPr>
      </p:sp>
      <p:sp>
        <p:nvSpPr>
          <p:cNvPr id="14" name="circle 3"/>
          <p:cNvSpPr/>
          <p:nvPr/>
        </p:nvSpPr>
        <p:spPr>
          <a:xfrm>
            <a:off x="8321040" y="1554480"/>
            <a:ext cx="502920" cy="502920"/>
          </a:xfrm>
          <a:prstGeom prst="ellipse">
            <a:avLst/>
          </a:prstGeom>
          <a:solidFill>
            <a:schemeClr val="accent2"/>
          </a:solidFill>
          <a:ln/>
        </p:spPr>
      </p:sp>
      <p:sp>
        <p:nvSpPr>
          <p:cNvPr id="15" name="Text 13"/>
          <p:cNvSpPr txBox="1"/>
          <p:nvPr/>
        </p:nvSpPr>
        <p:spPr>
          <a:xfrm>
            <a:off x="8321040" y="15544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961120" y="1554480"/>
            <a:ext cx="2377440"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Advise</a:t>
            </a:r>
            <a:endParaRPr lang="en-US" sz="2200" dirty="0"/>
          </a:p>
        </p:txBody>
      </p:sp>
      <p:sp>
        <p:nvSpPr>
          <p:cNvPr id="17" name="Text 15"/>
          <p:cNvSpPr txBox="1"/>
          <p:nvPr/>
        </p:nvSpPr>
        <p:spPr>
          <a:xfrm>
            <a:off x="8321040" y="2286000"/>
            <a:ext cx="297180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Gemini writes a three-line advisory in English and Urdu</a:t>
            </a:r>
            <a:endParaRPr lang="en-US" sz="1500" dirty="0"/>
          </a:p>
          <a:p>
            <a:pPr marL="342900" indent="-342900">
              <a:spcAft>
                <a:spcPts val="800"/>
              </a:spcAft>
              <a:buSzPct val="100000"/>
              <a:buChar char="•"/>
            </a:pPr>
            <a:r>
              <a:rPr lang="en-US" sz="1500" dirty="0">
                <a:solidFill>
                  <a:schemeClr val="tx1"/>
                </a:solidFill>
              </a:rPr>
              <a:t>Only the model's numbers, checked automatically</a:t>
            </a:r>
            <a:endParaRPr lang="en-US" sz="1500" dirty="0"/>
          </a:p>
        </p:txBody>
      </p:sp>
      <p:sp>
        <p:nvSpPr>
          <p:cNvPr id="18" name="pipeline 1"/>
          <p:cNvSpPr/>
          <p:nvPr/>
        </p:nvSpPr>
        <p:spPr>
          <a:xfrm>
            <a:off x="548640" y="4983480"/>
            <a:ext cx="1645920" cy="640080"/>
          </a:xfrm>
          <a:prstGeom prst="roundRect">
            <a:avLst>
              <a:gd name="adj" fmla="val 11429"/>
            </a:avLst>
          </a:prstGeom>
          <a:solidFill>
            <a:schemeClr val="tx2"/>
          </a:solidFill>
          <a:ln/>
        </p:spPr>
      </p:sp>
      <p:sp>
        <p:nvSpPr>
          <p:cNvPr id="19" name="Text 17"/>
          <p:cNvSpPr txBox="1"/>
          <p:nvPr/>
        </p:nvSpPr>
        <p:spPr>
          <a:xfrm>
            <a:off x="548640" y="4983480"/>
            <a:ext cx="1645920" cy="640080"/>
          </a:xfrm>
          <a:prstGeom prst="rect">
            <a:avLst/>
          </a:prstGeom>
          <a:noFill/>
          <a:ln/>
        </p:spPr>
        <p:txBody>
          <a:bodyPr wrap="square" lIns="0" tIns="0" rIns="0" bIns="0" rtlCol="0" anchor="ctr"/>
          <a:lstStyle/>
          <a:p>
            <a:pPr algn="ctr" indent="0" marL="0">
              <a:buNone/>
            </a:pPr>
            <a:r>
              <a:rPr lang="en-US" sz="1400" b="1" dirty="0">
                <a:solidFill>
                  <a:schemeClr val="bg1"/>
                </a:solidFill>
              </a:rPr>
              <a:t>4 free data streams</a:t>
            </a:r>
            <a:endParaRPr lang="en-US" sz="1400" dirty="0"/>
          </a:p>
        </p:txBody>
      </p:sp>
      <p:sp>
        <p:nvSpPr>
          <p:cNvPr id="20" name="Text 18"/>
          <p:cNvSpPr txBox="1"/>
          <p:nvPr/>
        </p:nvSpPr>
        <p:spPr>
          <a:xfrm>
            <a:off x="2194560" y="4983480"/>
            <a:ext cx="246888" cy="64008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21" name="pipeline 2"/>
          <p:cNvSpPr/>
          <p:nvPr/>
        </p:nvSpPr>
        <p:spPr>
          <a:xfrm>
            <a:off x="2441448" y="4983480"/>
            <a:ext cx="1645920" cy="640080"/>
          </a:xfrm>
          <a:prstGeom prst="roundRect">
            <a:avLst>
              <a:gd name="adj" fmla="val 11429"/>
            </a:avLst>
          </a:prstGeom>
          <a:solidFill>
            <a:schemeClr val="bg2"/>
          </a:solidFill>
          <a:ln/>
        </p:spPr>
      </p:sp>
      <p:sp>
        <p:nvSpPr>
          <p:cNvPr id="22" name="Text 20"/>
          <p:cNvSpPr txBox="1"/>
          <p:nvPr/>
        </p:nvSpPr>
        <p:spPr>
          <a:xfrm>
            <a:off x="2441448" y="4983480"/>
            <a:ext cx="1645920" cy="640080"/>
          </a:xfrm>
          <a:prstGeom prst="rect">
            <a:avLst/>
          </a:prstGeom>
          <a:noFill/>
          <a:ln/>
        </p:spPr>
        <p:txBody>
          <a:bodyPr wrap="square" lIns="0" tIns="0" rIns="0" bIns="0" rtlCol="0" anchor="ctr"/>
          <a:lstStyle/>
          <a:p>
            <a:pPr algn="ctr" indent="0" marL="0">
              <a:buNone/>
            </a:pPr>
            <a:r>
              <a:rPr lang="en-US" sz="1400" b="1" dirty="0">
                <a:solidFill>
                  <a:schemeClr val="tx1"/>
                </a:solidFill>
              </a:rPr>
              <a:t>9-step cleaning</a:t>
            </a:r>
            <a:endParaRPr lang="en-US" sz="1400" dirty="0"/>
          </a:p>
        </p:txBody>
      </p:sp>
      <p:sp>
        <p:nvSpPr>
          <p:cNvPr id="23" name="Text 21"/>
          <p:cNvSpPr txBox="1"/>
          <p:nvPr/>
        </p:nvSpPr>
        <p:spPr>
          <a:xfrm>
            <a:off x="4087368" y="4983480"/>
            <a:ext cx="246888" cy="64008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24" name="pipeline 3"/>
          <p:cNvSpPr/>
          <p:nvPr/>
        </p:nvSpPr>
        <p:spPr>
          <a:xfrm>
            <a:off x="4334256" y="4983480"/>
            <a:ext cx="1645920" cy="640080"/>
          </a:xfrm>
          <a:prstGeom prst="roundRect">
            <a:avLst>
              <a:gd name="adj" fmla="val 11429"/>
            </a:avLst>
          </a:prstGeom>
          <a:solidFill>
            <a:schemeClr val="tx2"/>
          </a:solidFill>
          <a:ln/>
        </p:spPr>
      </p:sp>
      <p:sp>
        <p:nvSpPr>
          <p:cNvPr id="25" name="Text 23"/>
          <p:cNvSpPr txBox="1"/>
          <p:nvPr/>
        </p:nvSpPr>
        <p:spPr>
          <a:xfrm>
            <a:off x="4334256" y="4983480"/>
            <a:ext cx="1645920" cy="640080"/>
          </a:xfrm>
          <a:prstGeom prst="rect">
            <a:avLst/>
          </a:prstGeom>
          <a:noFill/>
          <a:ln/>
        </p:spPr>
        <p:txBody>
          <a:bodyPr wrap="square" lIns="0" tIns="0" rIns="0" bIns="0" rtlCol="0" anchor="ctr"/>
          <a:lstStyle/>
          <a:p>
            <a:pPr algn="ctr" indent="0" marL="0">
              <a:buNone/>
            </a:pPr>
            <a:r>
              <a:rPr lang="en-US" sz="1400" b="1" dirty="0">
                <a:solidFill>
                  <a:schemeClr val="bg1"/>
                </a:solidFill>
              </a:rPr>
              <a:t>Features</a:t>
            </a:r>
            <a:endParaRPr lang="en-US" sz="1400" dirty="0"/>
          </a:p>
        </p:txBody>
      </p:sp>
      <p:sp>
        <p:nvSpPr>
          <p:cNvPr id="26" name="Text 24"/>
          <p:cNvSpPr txBox="1"/>
          <p:nvPr/>
        </p:nvSpPr>
        <p:spPr>
          <a:xfrm>
            <a:off x="5980176" y="4983480"/>
            <a:ext cx="246888" cy="64008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27" name="pipeline 4"/>
          <p:cNvSpPr/>
          <p:nvPr/>
        </p:nvSpPr>
        <p:spPr>
          <a:xfrm>
            <a:off x="6227064" y="4983480"/>
            <a:ext cx="1645920" cy="640080"/>
          </a:xfrm>
          <a:prstGeom prst="roundRect">
            <a:avLst>
              <a:gd name="adj" fmla="val 11429"/>
            </a:avLst>
          </a:prstGeom>
          <a:solidFill>
            <a:schemeClr val="bg2"/>
          </a:solidFill>
          <a:ln/>
        </p:spPr>
      </p:sp>
      <p:sp>
        <p:nvSpPr>
          <p:cNvPr id="28" name="Text 26"/>
          <p:cNvSpPr txBox="1"/>
          <p:nvPr/>
        </p:nvSpPr>
        <p:spPr>
          <a:xfrm>
            <a:off x="6227064" y="4983480"/>
            <a:ext cx="1645920" cy="640080"/>
          </a:xfrm>
          <a:prstGeom prst="rect">
            <a:avLst/>
          </a:prstGeom>
          <a:noFill/>
          <a:ln/>
        </p:spPr>
        <p:txBody>
          <a:bodyPr wrap="square" lIns="0" tIns="0" rIns="0" bIns="0" rtlCol="0" anchor="ctr"/>
          <a:lstStyle/>
          <a:p>
            <a:pPr algn="ctr" indent="0" marL="0">
              <a:buNone/>
            </a:pPr>
            <a:r>
              <a:rPr lang="en-US" sz="1400" b="1" dirty="0">
                <a:solidFill>
                  <a:schemeClr val="tx1"/>
                </a:solidFill>
              </a:rPr>
              <a:t>LightGBM + SHAP</a:t>
            </a:r>
            <a:endParaRPr lang="en-US" sz="1400" dirty="0"/>
          </a:p>
        </p:txBody>
      </p:sp>
      <p:sp>
        <p:nvSpPr>
          <p:cNvPr id="29" name="Text 27"/>
          <p:cNvSpPr txBox="1"/>
          <p:nvPr/>
        </p:nvSpPr>
        <p:spPr>
          <a:xfrm>
            <a:off x="7872984" y="4983480"/>
            <a:ext cx="246888" cy="64008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30" name="pipeline 5"/>
          <p:cNvSpPr/>
          <p:nvPr/>
        </p:nvSpPr>
        <p:spPr>
          <a:xfrm>
            <a:off x="8119872" y="4983480"/>
            <a:ext cx="1645920" cy="640080"/>
          </a:xfrm>
          <a:prstGeom prst="roundRect">
            <a:avLst>
              <a:gd name="adj" fmla="val 11429"/>
            </a:avLst>
          </a:prstGeom>
          <a:solidFill>
            <a:schemeClr val="tx2"/>
          </a:solidFill>
          <a:ln/>
        </p:spPr>
      </p:sp>
      <p:sp>
        <p:nvSpPr>
          <p:cNvPr id="31" name="Text 29"/>
          <p:cNvSpPr txBox="1"/>
          <p:nvPr/>
        </p:nvSpPr>
        <p:spPr>
          <a:xfrm>
            <a:off x="8119872" y="4983480"/>
            <a:ext cx="1645920" cy="640080"/>
          </a:xfrm>
          <a:prstGeom prst="rect">
            <a:avLst/>
          </a:prstGeom>
          <a:noFill/>
          <a:ln/>
        </p:spPr>
        <p:txBody>
          <a:bodyPr wrap="square" lIns="0" tIns="0" rIns="0" bIns="0" rtlCol="0" anchor="ctr"/>
          <a:lstStyle/>
          <a:p>
            <a:pPr algn="ctr" indent="0" marL="0">
              <a:buNone/>
            </a:pPr>
            <a:r>
              <a:rPr lang="en-US" sz="1400" b="1" dirty="0">
                <a:solidFill>
                  <a:schemeClr val="bg1"/>
                </a:solidFill>
              </a:rPr>
              <a:t>LLM advisories</a:t>
            </a:r>
            <a:endParaRPr lang="en-US" sz="1400" dirty="0"/>
          </a:p>
        </p:txBody>
      </p:sp>
      <p:sp>
        <p:nvSpPr>
          <p:cNvPr id="32" name="Text 30"/>
          <p:cNvSpPr txBox="1"/>
          <p:nvPr/>
        </p:nvSpPr>
        <p:spPr>
          <a:xfrm>
            <a:off x="9765792" y="4983480"/>
            <a:ext cx="246888" cy="64008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33" name="pipeline 6"/>
          <p:cNvSpPr/>
          <p:nvPr/>
        </p:nvSpPr>
        <p:spPr>
          <a:xfrm>
            <a:off x="10012680" y="4983480"/>
            <a:ext cx="1645920" cy="640080"/>
          </a:xfrm>
          <a:prstGeom prst="roundRect">
            <a:avLst>
              <a:gd name="adj" fmla="val 11429"/>
            </a:avLst>
          </a:prstGeom>
          <a:solidFill>
            <a:schemeClr val="bg2"/>
          </a:solidFill>
          <a:ln/>
        </p:spPr>
      </p:sp>
      <p:sp>
        <p:nvSpPr>
          <p:cNvPr id="34" name="Text 32"/>
          <p:cNvSpPr txBox="1"/>
          <p:nvPr/>
        </p:nvSpPr>
        <p:spPr>
          <a:xfrm>
            <a:off x="10012680" y="4983480"/>
            <a:ext cx="1645920" cy="640080"/>
          </a:xfrm>
          <a:prstGeom prst="rect">
            <a:avLst/>
          </a:prstGeom>
          <a:noFill/>
          <a:ln/>
        </p:spPr>
        <p:txBody>
          <a:bodyPr wrap="square" lIns="0" tIns="0" rIns="0" bIns="0" rtlCol="0" anchor="ctr"/>
          <a:lstStyle/>
          <a:p>
            <a:pPr algn="ctr" indent="0" marL="0">
              <a:buNone/>
            </a:pPr>
            <a:r>
              <a:rPr lang="en-US" sz="1400" b="1" dirty="0">
                <a:solidFill>
                  <a:schemeClr val="tx1"/>
                </a:solidFill>
              </a:rPr>
              <a:t>Dashboard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Two million raw records from four free sources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4206240" cy="914400"/>
        </p:xfrm>
        <a:graphic>
          <a:graphicData uri="http://schemas.openxmlformats.org/drawingml/2006/table">
            <a:tbl>
              <a:tblPr/>
              <a:tblGrid>
                <a:gridCol w="2834640"/>
                <a:gridCol w="1371600"/>
              </a:tblGrid>
              <a:tr h="411480">
                <a:tc>
                  <a:txBody>
                    <a:bodyPr/>
                    <a:lstStyle/>
                    <a:p>
                      <a:pPr indent="0" marL="0">
                        <a:buNone/>
                      </a:pPr>
                      <a:r>
                        <a:rPr lang="en-US" sz="1400" b="1" dirty="0">
                          <a:solidFill>
                            <a:schemeClr val="tx1"/>
                          </a:solidFill>
                        </a:rPr>
                        <a:t>Source</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Records</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solidFill>
                      <a:schemeClr val="bg2"/>
                    </a:solidFill>
                  </a:tcPr>
                </a:tc>
              </a:tr>
              <a:tr h="411480">
                <a:tc>
                  <a:txBody>
                    <a:bodyPr/>
                    <a:lstStyle/>
                    <a:p>
                      <a:pPr indent="0" marL="0">
                        <a:buNone/>
                      </a:pPr>
                      <a:r>
                        <a:rPr lang="en-US" sz="1400" dirty="0">
                          <a:solidFill>
                            <a:schemeClr val="tx1"/>
                          </a:solidFill>
                        </a:rPr>
                        <a:t>Open-Meteo ERA5 weather</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266,760</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r>
              <a:tr h="411480">
                <a:tc>
                  <a:txBody>
                    <a:bodyPr/>
                    <a:lstStyle/>
                    <a:p>
                      <a:pPr indent="0" marL="0">
                        <a:buNone/>
                      </a:pPr>
                      <a:r>
                        <a:rPr lang="en-US" sz="1400" dirty="0">
                          <a:solidFill>
                            <a:schemeClr val="tx1"/>
                          </a:solidFill>
                        </a:rPr>
                        <a:t>OpenAQ PM2.5, 200 sensors</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587,969</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r>
              <a:tr h="411480">
                <a:tc>
                  <a:txBody>
                    <a:bodyPr/>
                    <a:lstStyle/>
                    <a:p>
                      <a:pPr indent="0" marL="0">
                        <a:buNone/>
                      </a:pPr>
                      <a:r>
                        <a:rPr lang="en-US" sz="1400" dirty="0">
                          <a:solidFill>
                            <a:schemeClr val="tx1"/>
                          </a:solidFill>
                        </a:rPr>
                        <a:t>NASA FIRMS fires</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1,184,817</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r>
              <a:tr h="411480">
                <a:tc>
                  <a:txBody>
                    <a:bodyPr/>
                    <a:lstStyle/>
                    <a:p>
                      <a:pPr indent="0" marL="0">
                        <a:buNone/>
                      </a:pPr>
                      <a:r>
                        <a:rPr lang="en-US" sz="1400" dirty="0">
                          <a:solidFill>
                            <a:schemeClr val="tx1"/>
                          </a:solidFill>
                        </a:rPr>
                        <a:t>GDELT news headlines</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2,255</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r>
              <a:tr h="411480">
                <a:tc>
                  <a:txBody>
                    <a:bodyPr/>
                    <a:lstStyle/>
                    <a:p>
                      <a:pPr indent="0" marL="0">
                        <a:buNone/>
                      </a:pPr>
                      <a:r>
                        <a:rPr lang="en-US" sz="1400" b="1" dirty="0">
                          <a:solidFill>
                            <a:schemeClr val="tx1"/>
                          </a:solidFill>
                        </a:rPr>
                        <a:t>Total</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b="1" dirty="0">
                          <a:solidFill>
                            <a:schemeClr val="tx1"/>
                          </a:solidFill>
                        </a:rPr>
                        <a:t>2,041,801</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r>
            </a:tbl>
          </a:graphicData>
        </a:graphic>
      </p:graphicFrame>
      <p:sp>
        <p:nvSpPr>
          <p:cNvPr id="4" name="Text 1"/>
          <p:cNvSpPr txBox="1"/>
          <p:nvPr/>
        </p:nvSpPr>
        <p:spPr>
          <a:xfrm>
            <a:off x="548640" y="4023360"/>
            <a:ext cx="4206240" cy="1097280"/>
          </a:xfrm>
          <a:prstGeom prst="rect">
            <a:avLst/>
          </a:prstGeom>
          <a:noFill/>
          <a:ln/>
        </p:spPr>
        <p:txBody>
          <a:bodyPr wrap="square" lIns="0" tIns="0" rIns="0" bIns="0" rtlCol="0" anchor="t"/>
          <a:lstStyle/>
          <a:p>
            <a:pPr indent="0" marL="0">
              <a:buNone/>
            </a:pPr>
            <a:r>
              <a:rPr lang="en-US" sz="1400" dirty="0">
                <a:solidFill>
                  <a:schemeClr val="accent6"/>
                </a:solidFill>
              </a:rPr>
              <a:t>1 Jan 2020 to 31 Jan 2026, five cities. Every timestamp stored in UTC; every raw response kept untouched.</a:t>
            </a:r>
            <a:endParaRPr lang="en-US" sz="1400" dirty="0"/>
          </a:p>
        </p:txBody>
      </p:sp>
      <p:pic>
        <p:nvPicPr>
          <p:cNvPr id="5" name="PM2.5 sensor coverage per city over time" descr="PM2.5 sensor coverage per city over time">    </p:cNvPr>
          <p:cNvPicPr>
            <a:picLocks noChangeAspect="1"/>
          </p:cNvPicPr>
          <p:nvPr/>
        </p:nvPicPr>
        <p:blipFill>
          <a:blip r:embed="rId1"/>
          <a:stretch>
            <a:fillRect/>
          </a:stretch>
        </p:blipFill>
        <p:spPr>
          <a:xfrm>
            <a:off x="5120640" y="1325880"/>
            <a:ext cx="6492240" cy="2877166"/>
          </a:xfrm>
          <a:prstGeom prst="rect">
            <a:avLst/>
          </a:prstGeom>
        </p:spPr>
      </p:pic>
      <p:sp>
        <p:nvSpPr>
          <p:cNvPr id="6" name="coverage takeaway"/>
          <p:cNvSpPr/>
          <p:nvPr/>
        </p:nvSpPr>
        <p:spPr>
          <a:xfrm>
            <a:off x="5120640" y="4343400"/>
            <a:ext cx="6492240" cy="1417320"/>
          </a:xfrm>
          <a:prstGeom prst="roundRect">
            <a:avLst>
              <a:gd name="adj" fmla="val 5161"/>
            </a:avLst>
          </a:prstGeom>
          <a:solidFill>
            <a:schemeClr val="bg2"/>
          </a:solidFill>
          <a:ln/>
        </p:spPr>
      </p:sp>
      <p:sp>
        <p:nvSpPr>
          <p:cNvPr id="7" name="Text 3"/>
          <p:cNvSpPr txBox="1"/>
          <p:nvPr/>
        </p:nvSpPr>
        <p:spPr>
          <a:xfrm>
            <a:off x="5349240" y="4480560"/>
            <a:ext cx="6035040" cy="1188720"/>
          </a:xfrm>
          <a:prstGeom prst="rect">
            <a:avLst/>
          </a:prstGeom>
          <a:noFill/>
          <a:ln/>
        </p:spPr>
        <p:txBody>
          <a:bodyPr wrap="square" lIns="0" tIns="0" rIns="0" bIns="0" rtlCol="0" anchor="t"/>
          <a:lstStyle/>
          <a:p>
            <a:pPr indent="0" marL="0">
              <a:buNone/>
            </a:pPr>
            <a:r>
              <a:rPr lang="en-US" sz="1500" dirty="0">
                <a:solidFill>
                  <a:schemeClr val="tx1"/>
                </a:solidFill>
              </a:rPr>
              <a:t>Reference monitors exist only at the US posts in 3 cities, and that feed ended on 4 March 2025. </a:t>
            </a:r>
            <a:pPr indent="0" marL="0">
              <a:buNone/>
            </a:pPr>
            <a:r>
              <a:rPr lang="en-US" sz="1500" b="1" dirty="0">
                <a:solidFill>
                  <a:schemeClr val="tx1"/>
                </a:solidFill>
              </a:rPr>
              <a:t>Faisalabad and Multan only start in June 2025, so they became a test on cities the model has never seen.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Cleaning caught four errors that would have passed silently</a:t>
            </a:r>
            <a:endParaRPr lang="en-US" sz="3000" dirty="0"/>
          </a:p>
        </p:txBody>
      </p:sp>
      <p:sp>
        <p:nvSpPr>
          <p:cNvPr id="3" name="finding 1"/>
          <p:cNvSpPr/>
          <p:nvPr/>
        </p:nvSpPr>
        <p:spPr>
          <a:xfrm>
            <a:off x="548640" y="1325880"/>
            <a:ext cx="5440680" cy="1828800"/>
          </a:xfrm>
          <a:prstGeom prst="roundRect">
            <a:avLst>
              <a:gd name="adj" fmla="val 4000"/>
            </a:avLst>
          </a:prstGeom>
          <a:solidFill>
            <a:schemeClr val="bg2"/>
          </a:solidFill>
          <a:ln/>
        </p:spPr>
      </p:sp>
      <p:sp>
        <p:nvSpPr>
          <p:cNvPr id="4" name="Text 2"/>
          <p:cNvSpPr txBox="1"/>
          <p:nvPr/>
        </p:nvSpPr>
        <p:spPr>
          <a:xfrm>
            <a:off x="822960" y="1508760"/>
            <a:ext cx="2103120" cy="146304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25,555</a:t>
            </a:r>
            <a:endParaRPr lang="en-US" sz="3400" dirty="0"/>
          </a:p>
        </p:txBody>
      </p:sp>
      <p:sp>
        <p:nvSpPr>
          <p:cNvPr id="5" name="Text 3"/>
          <p:cNvSpPr txBox="1"/>
          <p:nvPr/>
        </p:nvSpPr>
        <p:spPr>
          <a:xfrm>
            <a:off x="2971800" y="1554480"/>
            <a:ext cx="2788920" cy="1417320"/>
          </a:xfrm>
          <a:prstGeom prst="rect">
            <a:avLst/>
          </a:prstGeom>
          <a:noFill/>
          <a:ln/>
        </p:spPr>
        <p:txBody>
          <a:bodyPr wrap="square" lIns="0" tIns="0" rIns="0" bIns="0" rtlCol="0" anchor="ctr"/>
          <a:lstStyle/>
          <a:p>
            <a:pPr indent="0" marL="0">
              <a:buNone/>
            </a:pPr>
            <a:r>
              <a:rPr lang="en-US" sz="1500" dirty="0">
                <a:solidFill>
                  <a:schemeClr val="tx1"/>
                </a:solidFill>
              </a:rPr>
              <a:t>"negative" values were really empty readings: the filter value &gt;= 0 also drops nulls</a:t>
            </a:r>
            <a:endParaRPr lang="en-US" sz="1500" dirty="0"/>
          </a:p>
        </p:txBody>
      </p:sp>
      <p:sp>
        <p:nvSpPr>
          <p:cNvPr id="6" name="finding 2"/>
          <p:cNvSpPr/>
          <p:nvPr/>
        </p:nvSpPr>
        <p:spPr>
          <a:xfrm>
            <a:off x="6172200" y="1325880"/>
            <a:ext cx="5440680" cy="1828800"/>
          </a:xfrm>
          <a:prstGeom prst="roundRect">
            <a:avLst>
              <a:gd name="adj" fmla="val 4000"/>
            </a:avLst>
          </a:prstGeom>
          <a:solidFill>
            <a:schemeClr val="bg2"/>
          </a:solidFill>
          <a:ln/>
        </p:spPr>
      </p:sp>
      <p:sp>
        <p:nvSpPr>
          <p:cNvPr id="7" name="Text 5"/>
          <p:cNvSpPr txBox="1"/>
          <p:nvPr/>
        </p:nvSpPr>
        <p:spPr>
          <a:xfrm>
            <a:off x="6446520" y="1508760"/>
            <a:ext cx="2103120" cy="146304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15,542</a:t>
            </a:r>
            <a:endParaRPr lang="en-US" sz="3400" dirty="0"/>
          </a:p>
        </p:txBody>
      </p:sp>
      <p:sp>
        <p:nvSpPr>
          <p:cNvPr id="8" name="Text 6"/>
          <p:cNvSpPr txBox="1"/>
          <p:nvPr/>
        </p:nvSpPr>
        <p:spPr>
          <a:xfrm>
            <a:off x="8595360" y="1554480"/>
            <a:ext cx="2788920" cy="1417320"/>
          </a:xfrm>
          <a:prstGeom prst="rect">
            <a:avLst/>
          </a:prstGeom>
          <a:noFill/>
          <a:ln/>
        </p:spPr>
        <p:txBody>
          <a:bodyPr wrap="square" lIns="0" tIns="0" rIns="0" bIns="0" rtlCol="0" anchor="ctr"/>
          <a:lstStyle/>
          <a:p>
            <a:pPr indent="0" marL="0">
              <a:buNone/>
            </a:pPr>
            <a:r>
              <a:rPr lang="en-US" sz="1500" dirty="0">
                <a:solidFill>
                  <a:schemeClr val="tx1"/>
                </a:solidFill>
              </a:rPr>
              <a:t>good Clarity hours in Lahore a wrong metadata field would have deleted (it assumes 12 readings an hour; Clarity sends 3 to 4)</a:t>
            </a:r>
            <a:endParaRPr lang="en-US" sz="1500" dirty="0"/>
          </a:p>
        </p:txBody>
      </p:sp>
      <p:sp>
        <p:nvSpPr>
          <p:cNvPr id="9" name="finding 3"/>
          <p:cNvSpPr/>
          <p:nvPr/>
        </p:nvSpPr>
        <p:spPr>
          <a:xfrm>
            <a:off x="548640" y="3383280"/>
            <a:ext cx="5440680" cy="1828800"/>
          </a:xfrm>
          <a:prstGeom prst="roundRect">
            <a:avLst>
              <a:gd name="adj" fmla="val 4000"/>
            </a:avLst>
          </a:prstGeom>
          <a:solidFill>
            <a:schemeClr val="bg2"/>
          </a:solidFill>
          <a:ln/>
        </p:spPr>
      </p:sp>
      <p:sp>
        <p:nvSpPr>
          <p:cNvPr id="10" name="Text 8"/>
          <p:cNvSpPr txBox="1"/>
          <p:nvPr/>
        </p:nvSpPr>
        <p:spPr>
          <a:xfrm>
            <a:off x="822960" y="3566160"/>
            <a:ext cx="2103120" cy="1463040"/>
          </a:xfrm>
          <a:prstGeom prst="rect">
            <a:avLst/>
          </a:prstGeom>
          <a:noFill/>
          <a:ln/>
        </p:spPr>
        <p:txBody>
          <a:bodyPr wrap="square" lIns="0" tIns="0" rIns="0" bIns="0" rtlCol="0" anchor="ctr"/>
          <a:lstStyle/>
          <a:p>
            <a:pPr indent="0" marL="0">
              <a:buNone/>
            </a:pPr>
            <a:r>
              <a:rPr lang="en-US" sz="3400" b="1" dirty="0">
                <a:solidFill>
                  <a:schemeClr val="accent5"/>
                </a:solidFill>
                <a:latin typeface="Cambria" pitchFamily="34" charset="0"/>
                <a:ea typeface="Cambria" pitchFamily="34" charset="-122"/>
                <a:cs typeface="Cambria" pitchFamily="34" charset="-120"/>
              </a:rPr>
              <a:t>105 h</a:t>
            </a:r>
            <a:endParaRPr lang="en-US" sz="3400" dirty="0"/>
          </a:p>
        </p:txBody>
      </p:sp>
      <p:sp>
        <p:nvSpPr>
          <p:cNvPr id="11" name="Text 9"/>
          <p:cNvSpPr txBox="1"/>
          <p:nvPr/>
        </p:nvSpPr>
        <p:spPr>
          <a:xfrm>
            <a:off x="2971800" y="3611880"/>
            <a:ext cx="2788920" cy="1417320"/>
          </a:xfrm>
          <a:prstGeom prst="rect">
            <a:avLst/>
          </a:prstGeom>
          <a:noFill/>
          <a:ln/>
        </p:spPr>
        <p:txBody>
          <a:bodyPr wrap="square" lIns="0" tIns="0" rIns="0" bIns="0" rtlCol="0" anchor="ctr"/>
          <a:lstStyle/>
          <a:p>
            <a:pPr indent="0" marL="0">
              <a:buNone/>
            </a:pPr>
            <a:r>
              <a:rPr lang="en-US" sz="1500" dirty="0">
                <a:solidFill>
                  <a:schemeClr val="tx1"/>
                </a:solidFill>
              </a:rPr>
              <a:t>the US monitor in Lahore stuck at exactly 67.0 µg/m³ (29 May to 1 June 2024)</a:t>
            </a:r>
            <a:endParaRPr lang="en-US" sz="1500" dirty="0"/>
          </a:p>
        </p:txBody>
      </p:sp>
      <p:sp>
        <p:nvSpPr>
          <p:cNvPr id="12" name="finding 4"/>
          <p:cNvSpPr/>
          <p:nvPr/>
        </p:nvSpPr>
        <p:spPr>
          <a:xfrm>
            <a:off x="6172200" y="3383280"/>
            <a:ext cx="5440680" cy="1828800"/>
          </a:xfrm>
          <a:prstGeom prst="roundRect">
            <a:avLst>
              <a:gd name="adj" fmla="val 4000"/>
            </a:avLst>
          </a:prstGeom>
          <a:solidFill>
            <a:schemeClr val="bg2"/>
          </a:solidFill>
          <a:ln/>
        </p:spPr>
      </p:sp>
      <p:sp>
        <p:nvSpPr>
          <p:cNvPr id="13" name="Text 11"/>
          <p:cNvSpPr txBox="1"/>
          <p:nvPr/>
        </p:nvSpPr>
        <p:spPr>
          <a:xfrm>
            <a:off x="6446520" y="3566160"/>
            <a:ext cx="2103120" cy="146304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9.8 → 15.6</a:t>
            </a:r>
            <a:endParaRPr lang="en-US" sz="3400" dirty="0"/>
          </a:p>
        </p:txBody>
      </p:sp>
      <p:sp>
        <p:nvSpPr>
          <p:cNvPr id="14" name="Text 12"/>
          <p:cNvSpPr txBox="1"/>
          <p:nvPr/>
        </p:nvSpPr>
        <p:spPr>
          <a:xfrm>
            <a:off x="8595360" y="3611880"/>
            <a:ext cx="2788920" cy="1417320"/>
          </a:xfrm>
          <a:prstGeom prst="rect">
            <a:avLst/>
          </a:prstGeom>
          <a:noFill/>
          <a:ln/>
        </p:spPr>
        <p:txBody>
          <a:bodyPr wrap="square" lIns="0" tIns="0" rIns="0" bIns="0" rtlCol="0" anchor="ctr"/>
          <a:lstStyle/>
          <a:p>
            <a:pPr indent="0" marL="0">
              <a:buNone/>
            </a:pPr>
            <a:r>
              <a:rPr lang="en-US" sz="1500" dirty="0">
                <a:solidFill>
                  <a:schemeClr val="tx1"/>
                </a:solidFill>
              </a:rPr>
              <a:t>AirGradient error if the EPA humidity correction were applied: its data are already corrected</a:t>
            </a:r>
            <a:endParaRPr lang="en-US" sz="1500" dirty="0"/>
          </a:p>
        </p:txBody>
      </p:sp>
      <p:sp>
        <p:nvSpPr>
          <p:cNvPr id="15" name="Text 13"/>
          <p:cNvSpPr txBox="1"/>
          <p:nvPr/>
        </p:nvSpPr>
        <p:spPr>
          <a:xfrm>
            <a:off x="548640" y="5486400"/>
            <a:ext cx="11064240" cy="731520"/>
          </a:xfrm>
          <a:prstGeom prst="rect">
            <a:avLst/>
          </a:prstGeom>
          <a:noFill/>
          <a:ln/>
        </p:spPr>
        <p:txBody>
          <a:bodyPr wrap="square" lIns="0" tIns="0" rIns="0" bIns="0" rtlCol="0" anchor="t"/>
          <a:lstStyle/>
          <a:p>
            <a:pPr indent="0" marL="0">
              <a:buNone/>
            </a:pPr>
            <a:r>
              <a:rPr lang="en-US" sz="1400" dirty="0">
                <a:solidFill>
                  <a:schemeClr val="accent6"/>
                </a:solidFill>
              </a:rPr>
              <a:t>Nine logged steps feed an auto-generated Data Quality Report: 95.1% of PM2.5 sensor-hours kept; 1.18 million fire detections cleaned to 814,793 distinct fires; 21,840 missing boundary-layer values imputed (r = 0.91 on a hidden half-year).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Wind direction matters: upwind fires predict tomorrow's smog</a:t>
            </a:r>
            <a:endParaRPr lang="en-US" sz="3000" dirty="0"/>
          </a:p>
        </p:txBody>
      </p:sp>
      <p:sp>
        <p:nvSpPr>
          <p:cNvPr id="3" name="formula card"/>
          <p:cNvSpPr/>
          <p:nvPr/>
        </p:nvSpPr>
        <p:spPr>
          <a:xfrm>
            <a:off x="548640" y="1325880"/>
            <a:ext cx="5120640" cy="1143000"/>
          </a:xfrm>
          <a:prstGeom prst="roundRect">
            <a:avLst>
              <a:gd name="adj" fmla="val 6400"/>
            </a:avLst>
          </a:prstGeom>
          <a:solidFill>
            <a:schemeClr val="bg2"/>
          </a:solidFill>
          <a:ln/>
        </p:spPr>
      </p:sp>
      <p:sp>
        <p:nvSpPr>
          <p:cNvPr id="4" name="Text 2"/>
          <p:cNvSpPr txBox="1"/>
          <p:nvPr/>
        </p:nvSpPr>
        <p:spPr>
          <a:xfrm>
            <a:off x="640080" y="1417320"/>
            <a:ext cx="4937760" cy="502920"/>
          </a:xfrm>
          <a:prstGeom prst="rect">
            <a:avLst/>
          </a:prstGeom>
          <a:noFill/>
          <a:ln/>
        </p:spPr>
        <p:txBody>
          <a:bodyPr wrap="square" lIns="0" tIns="0" rIns="0" bIns="0" rtlCol="0" anchor="ctr"/>
          <a:lstStyle/>
          <a:p>
            <a:pPr algn="ctr" indent="0" marL="0">
              <a:buNone/>
            </a:pPr>
            <a:r>
              <a:rPr lang="en-US" sz="1700" dirty="0">
                <a:solidFill>
                  <a:schemeClr val="tx1"/>
                </a:solidFill>
                <a:latin typeface="Cambria" pitchFamily="34" charset="0"/>
                <a:ea typeface="Cambria" pitchFamily="34" charset="-122"/>
                <a:cs typeface="Cambria" pitchFamily="34" charset="-120"/>
              </a:rPr>
              <a:t>UFI(t) = Σ</a:t>
            </a:r>
            <a:pPr algn="ctr" indent="0" marL="0">
              <a:buNone/>
            </a:pPr>
            <a:r>
              <a:rPr lang="en-US" sz="1700" baseline="-40000" dirty="0">
                <a:solidFill>
                  <a:schemeClr val="tx1"/>
                </a:solidFill>
                <a:latin typeface="Cambria" pitchFamily="34" charset="0"/>
                <a:ea typeface="Cambria" pitchFamily="34" charset="-122"/>
                <a:cs typeface="Cambria" pitchFamily="34" charset="-120"/>
              </a:rPr>
              <a:t>i</a:t>
            </a:r>
            <a:pPr algn="ctr" indent="0" marL="0">
              <a:buNone/>
            </a:pPr>
            <a:r>
              <a:rPr lang="en-US" sz="1700" dirty="0">
                <a:solidFill>
                  <a:schemeClr val="tx1"/>
                </a:solidFill>
                <a:latin typeface="Cambria" pitchFamily="34" charset="0"/>
                <a:ea typeface="Cambria" pitchFamily="34" charset="-122"/>
                <a:cs typeface="Cambria" pitchFamily="34" charset="-120"/>
              </a:rPr>
              <a:t> FRP</a:t>
            </a:r>
            <a:pPr algn="ctr" indent="0" marL="0">
              <a:buNone/>
            </a:pPr>
            <a:r>
              <a:rPr lang="en-US" sz="1700" baseline="-40000" dirty="0">
                <a:solidFill>
                  <a:schemeClr val="tx1"/>
                </a:solidFill>
                <a:latin typeface="Cambria" pitchFamily="34" charset="0"/>
                <a:ea typeface="Cambria" pitchFamily="34" charset="-122"/>
                <a:cs typeface="Cambria" pitchFamily="34" charset="-120"/>
              </a:rPr>
              <a:t>i</a:t>
            </a:r>
            <a:pPr algn="ctr" indent="0" marL="0">
              <a:buNone/>
            </a:pPr>
            <a:r>
              <a:rPr lang="en-US" sz="1700" dirty="0">
                <a:solidFill>
                  <a:schemeClr val="tx1"/>
                </a:solidFill>
                <a:latin typeface="Cambria" pitchFamily="34" charset="0"/>
                <a:ea typeface="Cambria" pitchFamily="34" charset="-122"/>
                <a:cs typeface="Cambria" pitchFamily="34" charset="-120"/>
              </a:rPr>
              <a:t> · exp(−d</a:t>
            </a:r>
            <a:pPr algn="ctr" indent="0" marL="0">
              <a:buNone/>
            </a:pPr>
            <a:r>
              <a:rPr lang="en-US" sz="1700" baseline="-40000" dirty="0">
                <a:solidFill>
                  <a:schemeClr val="tx1"/>
                </a:solidFill>
                <a:latin typeface="Cambria" pitchFamily="34" charset="0"/>
                <a:ea typeface="Cambria" pitchFamily="34" charset="-122"/>
                <a:cs typeface="Cambria" pitchFamily="34" charset="-120"/>
              </a:rPr>
              <a:t>i</a:t>
            </a:r>
            <a:pPr algn="ctr" indent="0" marL="0">
              <a:buNone/>
            </a:pPr>
            <a:r>
              <a:rPr lang="en-US" sz="1700" dirty="0">
                <a:solidFill>
                  <a:schemeClr val="tx1"/>
                </a:solidFill>
                <a:latin typeface="Cambria" pitchFamily="34" charset="0"/>
                <a:ea typeface="Cambria" pitchFamily="34" charset="-122"/>
                <a:cs typeface="Cambria" pitchFamily="34" charset="-120"/>
              </a:rPr>
              <a:t> / L) · max(0, cos θ</a:t>
            </a:r>
            <a:pPr algn="ctr" indent="0" marL="0">
              <a:buNone/>
            </a:pPr>
            <a:r>
              <a:rPr lang="en-US" sz="1700" baseline="-40000" dirty="0">
                <a:solidFill>
                  <a:schemeClr val="tx1"/>
                </a:solidFill>
                <a:latin typeface="Cambria" pitchFamily="34" charset="0"/>
                <a:ea typeface="Cambria" pitchFamily="34" charset="-122"/>
                <a:cs typeface="Cambria" pitchFamily="34" charset="-120"/>
              </a:rPr>
              <a:t>i</a:t>
            </a:r>
            <a:pPr algn="ctr" indent="0" marL="0">
              <a:buNone/>
            </a:pPr>
            <a:r>
              <a:rPr lang="en-US" sz="1700" dirty="0">
                <a:solidFill>
                  <a:schemeClr val="tx1"/>
                </a:solidFill>
                <a:latin typeface="Cambria" pitchFamily="34" charset="0"/>
                <a:ea typeface="Cambria" pitchFamily="34" charset="-122"/>
                <a:cs typeface="Cambria" pitchFamily="34" charset="-120"/>
              </a:rPr>
              <a:t>)</a:t>
            </a:r>
            <a:endParaRPr lang="en-US" sz="1700" dirty="0"/>
          </a:p>
        </p:txBody>
      </p:sp>
      <p:sp>
        <p:nvSpPr>
          <p:cNvPr id="5" name="Text 3"/>
          <p:cNvSpPr txBox="1"/>
          <p:nvPr/>
        </p:nvSpPr>
        <p:spPr>
          <a:xfrm>
            <a:off x="731520" y="1920240"/>
            <a:ext cx="4754880" cy="502920"/>
          </a:xfrm>
          <a:prstGeom prst="rect">
            <a:avLst/>
          </a:prstGeom>
          <a:noFill/>
          <a:ln/>
        </p:spPr>
        <p:txBody>
          <a:bodyPr wrap="square" lIns="0" tIns="0" rIns="0" bIns="0" rtlCol="0" anchor="t"/>
          <a:lstStyle/>
          <a:p>
            <a:pPr algn="ctr" indent="0" marL="0">
              <a:buNone/>
            </a:pPr>
            <a:r>
              <a:rPr lang="en-US" sz="1300" dirty="0">
                <a:solidFill>
                  <a:schemeClr val="accent6"/>
                </a:solidFill>
              </a:rPr>
              <a:t>Fires seen 24 to 72 h earlier, weighted by power, distance and whether the wind blew from the fire to the city</a:t>
            </a:r>
            <a:endParaRPr lang="en-US" sz="1300" dirty="0"/>
          </a:p>
        </p:txBody>
      </p:sp>
      <p:sp>
        <p:nvSpPr>
          <p:cNvPr id="6" name="Text 4"/>
          <p:cNvSpPr txBox="1"/>
          <p:nvPr/>
        </p:nvSpPr>
        <p:spPr>
          <a:xfrm>
            <a:off x="548640" y="2697480"/>
            <a:ext cx="5120640" cy="731520"/>
          </a:xfrm>
          <a:prstGeom prst="rect">
            <a:avLst/>
          </a:prstGeom>
          <a:noFill/>
          <a:ln/>
        </p:spPr>
        <p:txBody>
          <a:bodyPr wrap="square" lIns="0" tIns="0" rIns="0" bIns="0" rtlCol="0" anchor="b"/>
          <a:lstStyle/>
          <a:p>
            <a:pPr indent="0" marL="0">
              <a:buNone/>
            </a:pPr>
            <a:r>
              <a:rPr lang="en-US" sz="4000" b="1" dirty="0">
                <a:solidFill>
                  <a:schemeClr val="accent3"/>
                </a:solidFill>
                <a:latin typeface="Cambria" pitchFamily="34" charset="0"/>
                <a:ea typeface="Cambria" pitchFamily="34" charset="-122"/>
                <a:cs typeface="Cambria" pitchFamily="34" charset="-120"/>
              </a:rPr>
              <a:t>0.295 → 0.383</a:t>
            </a:r>
            <a:endParaRPr lang="en-US" sz="4000" dirty="0"/>
          </a:p>
        </p:txBody>
      </p:sp>
      <p:sp>
        <p:nvSpPr>
          <p:cNvPr id="7" name="Text 5"/>
          <p:cNvSpPr txBox="1"/>
          <p:nvPr/>
        </p:nvSpPr>
        <p:spPr>
          <a:xfrm>
            <a:off x="548640" y="3474720"/>
            <a:ext cx="5120640" cy="685800"/>
          </a:xfrm>
          <a:prstGeom prst="rect">
            <a:avLst/>
          </a:prstGeom>
          <a:noFill/>
          <a:ln/>
        </p:spPr>
        <p:txBody>
          <a:bodyPr wrap="square" lIns="0" tIns="0" rIns="0" bIns="0" rtlCol="0" anchor="t"/>
          <a:lstStyle/>
          <a:p>
            <a:pPr indent="0" marL="0">
              <a:buNone/>
            </a:pPr>
            <a:r>
              <a:rPr lang="en-US" sz="1400" dirty="0">
                <a:solidFill>
                  <a:schemeClr val="tx1"/>
                </a:solidFill>
              </a:rPr>
              <a:t>Spearman correlation with next-day PM2.5 when only upwind fires count (best decay length L = 50 km)</a:t>
            </a:r>
            <a:endParaRPr lang="en-US" sz="1400" dirty="0"/>
          </a:p>
        </p:txBody>
      </p:sp>
      <p:sp>
        <p:nvSpPr>
          <p:cNvPr id="8" name="Text 6"/>
          <p:cNvSpPr txBox="1"/>
          <p:nvPr/>
        </p:nvSpPr>
        <p:spPr>
          <a:xfrm>
            <a:off x="548640" y="4434840"/>
            <a:ext cx="5120640" cy="146304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Stagnation Index: </a:t>
            </a:r>
            <a:pPr indent="0" marL="0">
              <a:spcAft>
                <a:spcPts val="800"/>
              </a:spcAft>
              <a:buNone/>
            </a:pPr>
            <a:r>
              <a:rPr lang="en-US" sz="1500" dirty="0">
                <a:solidFill>
                  <a:schemeClr val="tx1"/>
                </a:solidFill>
              </a:rPr>
              <a:t>low ventilation (lid height × wind) + high humidity + cold air, standardised on training data.</a:t>
            </a:r>
            <a:endParaRPr lang="en-US" sz="1500" dirty="0"/>
          </a:p>
          <a:p>
            <a:pPr indent="0" marL="0">
              <a:spcAft>
                <a:spcPts val="800"/>
              </a:spcAft>
              <a:buNone/>
            </a:pPr>
            <a:r>
              <a:rPr lang="en-US" sz="1500" b="1" dirty="0">
                <a:solidFill>
                  <a:schemeClr val="tx1"/>
                </a:solidFill>
              </a:rPr>
              <a:t>No peeking: </a:t>
            </a:r>
            <a:pPr indent="0" marL="0">
              <a:spcAft>
                <a:spcPts val="800"/>
              </a:spcAft>
              <a:buNone/>
            </a:pPr>
            <a:r>
              <a:rPr lang="en-US" sz="1500" dirty="0">
                <a:solidFill>
                  <a:schemeClr val="tx1"/>
                </a:solidFill>
              </a:rPr>
              <a:t>every feature uses only what is known at forecast time.</a:t>
            </a:r>
            <a:endParaRPr lang="en-US" sz="1500" dirty="0"/>
          </a:p>
        </p:txBody>
      </p:sp>
      <p:pic>
        <p:nvPicPr>
          <p:cNvPr id="9" name="Next-day PM2.5 by Upwind Fire Exposure Index decile, Lahore" descr="Next-day PM2.5 by Upwind Fire Exposure Index decile, Lahore">    </p:cNvPr>
          <p:cNvPicPr>
            <a:picLocks noChangeAspect="1"/>
          </p:cNvPicPr>
          <p:nvPr/>
        </p:nvPicPr>
        <p:blipFill>
          <a:blip r:embed="rId1"/>
          <a:stretch>
            <a:fillRect/>
          </a:stretch>
        </p:blipFill>
        <p:spPr>
          <a:xfrm>
            <a:off x="5989320" y="1325880"/>
            <a:ext cx="5623560" cy="2800666"/>
          </a:xfrm>
          <a:prstGeom prst="rect">
            <a:avLst/>
          </a:prstGeom>
        </p:spPr>
      </p:pic>
      <p:sp>
        <p:nvSpPr>
          <p:cNvPr id="10" name="Text 7"/>
          <p:cNvSpPr txBox="1"/>
          <p:nvPr/>
        </p:nvSpPr>
        <p:spPr>
          <a:xfrm>
            <a:off x="5989320" y="4206240"/>
            <a:ext cx="5623560" cy="365760"/>
          </a:xfrm>
          <a:prstGeom prst="rect">
            <a:avLst/>
          </a:prstGeom>
          <a:noFill/>
          <a:ln/>
        </p:spPr>
        <p:txBody>
          <a:bodyPr wrap="square" lIns="0" tIns="0" rIns="0" bIns="0" rtlCol="0" anchor="t"/>
          <a:lstStyle/>
          <a:p>
            <a:pPr indent="0" marL="0">
              <a:buNone/>
            </a:pPr>
            <a:r>
              <a:rPr lang="en-US" sz="1100" dirty="0">
                <a:solidFill>
                  <a:schemeClr val="accent6"/>
                </a:solidFill>
              </a:rPr>
              <a:t>Lahore, smog seasons 2020-23: median next-day PM2.5 by fire-index decile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Gemini read 2,255 headlines: 425 events, 65% fully correct</a:t>
            </a:r>
            <a:endParaRPr lang="en-US" sz="3000" dirty="0"/>
          </a:p>
        </p:txBody>
      </p:sp>
      <p:sp>
        <p:nvSpPr>
          <p:cNvPr id="3" name="circle 1"/>
          <p:cNvSpPr/>
          <p:nvPr/>
        </p:nvSpPr>
        <p:spPr>
          <a:xfrm>
            <a:off x="548640" y="1371600"/>
            <a:ext cx="457200" cy="457200"/>
          </a:xfrm>
          <a:prstGeom prst="ellipse">
            <a:avLst/>
          </a:prstGeom>
          <a:solidFill>
            <a:schemeClr val="accent1"/>
          </a:solidFill>
          <a:ln/>
        </p:spPr>
      </p:sp>
      <p:sp>
        <p:nvSpPr>
          <p:cNvPr id="4" name="Text 2"/>
          <p:cNvSpPr txBox="1"/>
          <p:nvPr/>
        </p:nvSpPr>
        <p:spPr>
          <a:xfrm>
            <a:off x="54864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188720" y="1371600"/>
            <a:ext cx="4480560" cy="548640"/>
          </a:xfrm>
          <a:prstGeom prst="rect">
            <a:avLst/>
          </a:prstGeom>
          <a:noFill/>
          <a:ln/>
        </p:spPr>
        <p:txBody>
          <a:bodyPr wrap="square" lIns="0" tIns="0" rIns="0" bIns="0" rtlCol="0" anchor="ctr"/>
          <a:lstStyle/>
          <a:p>
            <a:pPr indent="0" marL="0">
              <a:buNone/>
            </a:pPr>
            <a:r>
              <a:rPr lang="en-US" sz="1500" dirty="0">
                <a:solidFill>
                  <a:schemeClr val="tx1"/>
                </a:solidFill>
              </a:rPr>
              <a:t>Dated headlines in batches of 60, temperature 0, strict JSON</a:t>
            </a:r>
            <a:endParaRPr lang="en-US" sz="1500" dirty="0"/>
          </a:p>
        </p:txBody>
      </p:sp>
      <p:sp>
        <p:nvSpPr>
          <p:cNvPr id="6" name="circle 2"/>
          <p:cNvSpPr/>
          <p:nvPr/>
        </p:nvSpPr>
        <p:spPr>
          <a:xfrm>
            <a:off x="548640" y="2148840"/>
            <a:ext cx="457200" cy="457200"/>
          </a:xfrm>
          <a:prstGeom prst="ellipse">
            <a:avLst/>
          </a:prstGeom>
          <a:solidFill>
            <a:schemeClr val="accent1"/>
          </a:solidFill>
          <a:ln/>
        </p:spPr>
      </p:sp>
      <p:sp>
        <p:nvSpPr>
          <p:cNvPr id="7" name="Text 5"/>
          <p:cNvSpPr txBox="1"/>
          <p:nvPr/>
        </p:nvSpPr>
        <p:spPr>
          <a:xfrm>
            <a:off x="548640" y="2148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188720" y="2148840"/>
            <a:ext cx="4480560" cy="548640"/>
          </a:xfrm>
          <a:prstGeom prst="rect">
            <a:avLst/>
          </a:prstGeom>
          <a:noFill/>
          <a:ln/>
        </p:spPr>
        <p:txBody>
          <a:bodyPr wrap="square" lIns="0" tIns="0" rIns="0" bIns="0" rtlCol="0" anchor="ctr"/>
          <a:lstStyle/>
          <a:p>
            <a:pPr indent="0" marL="0">
              <a:buNone/>
            </a:pPr>
            <a:r>
              <a:rPr lang="en-US" sz="1500" dirty="0">
                <a:solidFill>
                  <a:schemeClr val="tx1"/>
                </a:solidFill>
              </a:rPr>
              <a:t>Output validated like raw data: 428 events → 425</a:t>
            </a:r>
            <a:endParaRPr lang="en-US" sz="1500" dirty="0"/>
          </a:p>
        </p:txBody>
      </p:sp>
      <p:sp>
        <p:nvSpPr>
          <p:cNvPr id="9" name="circle 3"/>
          <p:cNvSpPr/>
          <p:nvPr/>
        </p:nvSpPr>
        <p:spPr>
          <a:xfrm>
            <a:off x="548640" y="2926080"/>
            <a:ext cx="457200" cy="457200"/>
          </a:xfrm>
          <a:prstGeom prst="ellipse">
            <a:avLst/>
          </a:prstGeom>
          <a:solidFill>
            <a:schemeClr val="accent1"/>
          </a:solidFill>
          <a:ln/>
        </p:spPr>
      </p:sp>
      <p:sp>
        <p:nvSpPr>
          <p:cNvPr id="10" name="Text 8"/>
          <p:cNvSpPr txBox="1"/>
          <p:nvPr/>
        </p:nvSpPr>
        <p:spPr>
          <a:xfrm>
            <a:off x="548640" y="2926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188720" y="2926080"/>
            <a:ext cx="4480560" cy="548640"/>
          </a:xfrm>
          <a:prstGeom prst="rect">
            <a:avLst/>
          </a:prstGeom>
          <a:noFill/>
          <a:ln/>
        </p:spPr>
        <p:txBody>
          <a:bodyPr wrap="square" lIns="0" tIns="0" rIns="0" bIns="0" rtlCol="0" anchor="ctr"/>
          <a:lstStyle/>
          <a:p>
            <a:pPr indent="0" marL="0">
              <a:buNone/>
            </a:pPr>
            <a:r>
              <a:rPr lang="en-US" sz="1500" dirty="0">
                <a:solidFill>
                  <a:schemeClr val="tx1"/>
                </a:solidFill>
              </a:rPr>
              <a:t>Hand-check of 20 random events: 13 fully correct</a:t>
            </a:r>
            <a:endParaRPr lang="en-US" sz="1500" dirty="0"/>
          </a:p>
        </p:txBody>
      </p:sp>
      <p:sp>
        <p:nvSpPr>
          <p:cNvPr id="12" name="error analysis card"/>
          <p:cNvSpPr/>
          <p:nvPr/>
        </p:nvSpPr>
        <p:spPr>
          <a:xfrm>
            <a:off x="548640" y="3840480"/>
            <a:ext cx="5120640" cy="2148840"/>
          </a:xfrm>
          <a:prstGeom prst="roundRect">
            <a:avLst>
              <a:gd name="adj" fmla="val 3404"/>
            </a:avLst>
          </a:prstGeom>
          <a:solidFill>
            <a:schemeClr val="bg2"/>
          </a:solidFill>
          <a:ln/>
        </p:spPr>
      </p:sp>
      <p:sp>
        <p:nvSpPr>
          <p:cNvPr id="13" name="Text 11"/>
          <p:cNvSpPr txBox="1"/>
          <p:nvPr/>
        </p:nvSpPr>
        <p:spPr>
          <a:xfrm>
            <a:off x="777240" y="3977640"/>
            <a:ext cx="4663440" cy="365760"/>
          </a:xfrm>
          <a:prstGeom prst="rect">
            <a:avLst/>
          </a:prstGeom>
          <a:noFill/>
          <a:ln/>
        </p:spPr>
        <p:txBody>
          <a:bodyPr wrap="square" lIns="0" tIns="0" rIns="0" bIns="0" rtlCol="0" anchor="ctr"/>
          <a:lstStyle/>
          <a:p>
            <a:pPr indent="0" marL="0">
              <a:buNone/>
            </a:pPr>
            <a:r>
              <a:rPr lang="en-US" sz="1600" b="1" dirty="0">
                <a:solidFill>
                  <a:schemeClr val="tx1"/>
                </a:solidFill>
              </a:rPr>
              <a:t>Why the 7 misses happened</a:t>
            </a:r>
            <a:endParaRPr lang="en-US" sz="1600" dirty="0"/>
          </a:p>
        </p:txBody>
      </p:sp>
      <p:sp>
        <p:nvSpPr>
          <p:cNvPr id="14" name="Text 12"/>
          <p:cNvSpPr txBox="1"/>
          <p:nvPr/>
        </p:nvSpPr>
        <p:spPr>
          <a:xfrm>
            <a:off x="777240" y="4389120"/>
            <a:ext cx="470916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Inverted meaning (2): "lift lockdown", "schools reopen"</a:t>
            </a:r>
            <a:endParaRPr lang="en-US" sz="1500" dirty="0"/>
          </a:p>
          <a:p>
            <a:pPr marL="342900" indent="-342900">
              <a:spcAft>
                <a:spcPts val="600"/>
              </a:spcAft>
              <a:buSzPct val="100000"/>
              <a:buChar char="•"/>
            </a:pPr>
            <a:r>
              <a:rPr lang="en-US" sz="1500" dirty="0">
                <a:solidFill>
                  <a:schemeClr val="tx1"/>
                </a:solidFill>
              </a:rPr>
              <a:t>Place inferred, not stated (2)</a:t>
            </a:r>
            <a:endParaRPr lang="en-US" sz="1500" dirty="0"/>
          </a:p>
          <a:p>
            <a:pPr marL="342900" indent="-342900">
              <a:spcAft>
                <a:spcPts val="600"/>
              </a:spcAft>
              <a:buSzPct val="100000"/>
              <a:buChar char="•"/>
            </a:pPr>
            <a:r>
              <a:rPr lang="en-US" sz="1500" dirty="0">
                <a:solidFill>
                  <a:schemeClr val="tx1"/>
                </a:solidFill>
              </a:rPr>
              <a:t>Not a smog event (3): toll tag, kiln upgrade, fuel lab</a:t>
            </a:r>
            <a:endParaRPr lang="en-US" sz="1500" dirty="0"/>
          </a:p>
        </p:txBody>
      </p:sp>
      <p:graphicFrame>
        <p:nvGraphicFramePr>
          <p:cNvPr id="15" name="Chart 0" descr=""/>
          <p:cNvGraphicFramePr/>
          <p:nvPr/>
        </p:nvGraphicFramePr>
        <p:xfrm>
          <a:off x="5989320" y="1280160"/>
          <a:ext cx="5623560"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Tested like a real forecast: split by time, against baselines</a:t>
            </a:r>
            <a:endParaRPr lang="en-US" sz="3000" dirty="0"/>
          </a:p>
        </p:txBody>
      </p:sp>
      <p:sp>
        <p:nvSpPr>
          <p:cNvPr id="3" name="timeline axis"/>
          <p:cNvSpPr/>
          <p:nvPr/>
        </p:nvSpPr>
        <p:spPr>
          <a:xfrm>
            <a:off x="822960" y="2697480"/>
            <a:ext cx="10515600" cy="0"/>
          </a:xfrm>
          <a:prstGeom prst="line">
            <a:avLst/>
          </a:prstGeom>
          <a:noFill/>
          <a:ln w="12700">
            <a:solidFill>
              <a:srgbClr val="C3C2B7"/>
            </a:solidFill>
            <a:prstDash val="solid"/>
          </a:ln>
        </p:spPr>
      </p:sp>
      <p:sp>
        <p:nvSpPr>
          <p:cNvPr id="4" name="Text 2"/>
          <p:cNvSpPr txBox="1"/>
          <p:nvPr/>
        </p:nvSpPr>
        <p:spPr>
          <a:xfrm>
            <a:off x="457200" y="2743200"/>
            <a:ext cx="731520" cy="274320"/>
          </a:xfrm>
          <a:prstGeom prst="rect">
            <a:avLst/>
          </a:prstGeom>
          <a:noFill/>
          <a:ln/>
        </p:spPr>
        <p:txBody>
          <a:bodyPr wrap="square" lIns="0" tIns="0" rIns="0" bIns="0" rtlCol="0" anchor="ctr"/>
          <a:lstStyle/>
          <a:p>
            <a:pPr algn="ctr" indent="0" marL="0">
              <a:buNone/>
            </a:pPr>
            <a:r>
              <a:rPr lang="en-US" sz="1200" dirty="0">
                <a:solidFill>
                  <a:schemeClr val="accent6"/>
                </a:solidFill>
              </a:rPr>
              <a:t>2020</a:t>
            </a:r>
            <a:endParaRPr lang="en-US" sz="1200" dirty="0"/>
          </a:p>
        </p:txBody>
      </p:sp>
      <p:sp>
        <p:nvSpPr>
          <p:cNvPr id="5" name="Text 3"/>
          <p:cNvSpPr txBox="1"/>
          <p:nvPr/>
        </p:nvSpPr>
        <p:spPr>
          <a:xfrm>
            <a:off x="2185792" y="2743200"/>
            <a:ext cx="731520" cy="274320"/>
          </a:xfrm>
          <a:prstGeom prst="rect">
            <a:avLst/>
          </a:prstGeom>
          <a:noFill/>
          <a:ln/>
        </p:spPr>
        <p:txBody>
          <a:bodyPr wrap="square" lIns="0" tIns="0" rIns="0" bIns="0" rtlCol="0" anchor="ctr"/>
          <a:lstStyle/>
          <a:p>
            <a:pPr algn="ctr" indent="0" marL="0">
              <a:buNone/>
            </a:pPr>
            <a:r>
              <a:rPr lang="en-US" sz="1200" dirty="0">
                <a:solidFill>
                  <a:schemeClr val="accent6"/>
                </a:solidFill>
              </a:rPr>
              <a:t>2021</a:t>
            </a:r>
            <a:endParaRPr lang="en-US" sz="1200" dirty="0"/>
          </a:p>
        </p:txBody>
      </p:sp>
      <p:sp>
        <p:nvSpPr>
          <p:cNvPr id="6" name="Text 4"/>
          <p:cNvSpPr txBox="1"/>
          <p:nvPr/>
        </p:nvSpPr>
        <p:spPr>
          <a:xfrm>
            <a:off x="3914384" y="2743200"/>
            <a:ext cx="731520" cy="274320"/>
          </a:xfrm>
          <a:prstGeom prst="rect">
            <a:avLst/>
          </a:prstGeom>
          <a:noFill/>
          <a:ln/>
        </p:spPr>
        <p:txBody>
          <a:bodyPr wrap="square" lIns="0" tIns="0" rIns="0" bIns="0" rtlCol="0" anchor="ctr"/>
          <a:lstStyle/>
          <a:p>
            <a:pPr algn="ctr" indent="0" marL="0">
              <a:buNone/>
            </a:pPr>
            <a:r>
              <a:rPr lang="en-US" sz="1200" dirty="0">
                <a:solidFill>
                  <a:schemeClr val="accent6"/>
                </a:solidFill>
              </a:rPr>
              <a:t>2022</a:t>
            </a:r>
            <a:endParaRPr lang="en-US" sz="1200" dirty="0"/>
          </a:p>
        </p:txBody>
      </p:sp>
      <p:sp>
        <p:nvSpPr>
          <p:cNvPr id="7" name="Text 5"/>
          <p:cNvSpPr txBox="1"/>
          <p:nvPr/>
        </p:nvSpPr>
        <p:spPr>
          <a:xfrm>
            <a:off x="5642975" y="2743200"/>
            <a:ext cx="731520" cy="274320"/>
          </a:xfrm>
          <a:prstGeom prst="rect">
            <a:avLst/>
          </a:prstGeom>
          <a:noFill/>
          <a:ln/>
        </p:spPr>
        <p:txBody>
          <a:bodyPr wrap="square" lIns="0" tIns="0" rIns="0" bIns="0" rtlCol="0" anchor="ctr"/>
          <a:lstStyle/>
          <a:p>
            <a:pPr algn="ctr" indent="0" marL="0">
              <a:buNone/>
            </a:pPr>
            <a:r>
              <a:rPr lang="en-US" sz="1200" dirty="0">
                <a:solidFill>
                  <a:schemeClr val="accent6"/>
                </a:solidFill>
              </a:rPr>
              <a:t>2023</a:t>
            </a:r>
            <a:endParaRPr lang="en-US" sz="1200" dirty="0"/>
          </a:p>
        </p:txBody>
      </p:sp>
      <p:sp>
        <p:nvSpPr>
          <p:cNvPr id="8" name="Text 6"/>
          <p:cNvSpPr txBox="1"/>
          <p:nvPr/>
        </p:nvSpPr>
        <p:spPr>
          <a:xfrm>
            <a:off x="7371567" y="2743200"/>
            <a:ext cx="731520" cy="274320"/>
          </a:xfrm>
          <a:prstGeom prst="rect">
            <a:avLst/>
          </a:prstGeom>
          <a:noFill/>
          <a:ln/>
        </p:spPr>
        <p:txBody>
          <a:bodyPr wrap="square" lIns="0" tIns="0" rIns="0" bIns="0" rtlCol="0" anchor="ctr"/>
          <a:lstStyle/>
          <a:p>
            <a:pPr algn="ctr" indent="0" marL="0">
              <a:buNone/>
            </a:pPr>
            <a:r>
              <a:rPr lang="en-US" sz="1200" dirty="0">
                <a:solidFill>
                  <a:schemeClr val="accent6"/>
                </a:solidFill>
              </a:rPr>
              <a:t>2024</a:t>
            </a:r>
            <a:endParaRPr lang="en-US" sz="1200" dirty="0"/>
          </a:p>
        </p:txBody>
      </p:sp>
      <p:sp>
        <p:nvSpPr>
          <p:cNvPr id="9" name="Text 7"/>
          <p:cNvSpPr txBox="1"/>
          <p:nvPr/>
        </p:nvSpPr>
        <p:spPr>
          <a:xfrm>
            <a:off x="9100159" y="2743200"/>
            <a:ext cx="731520" cy="274320"/>
          </a:xfrm>
          <a:prstGeom prst="rect">
            <a:avLst/>
          </a:prstGeom>
          <a:noFill/>
          <a:ln/>
        </p:spPr>
        <p:txBody>
          <a:bodyPr wrap="square" lIns="0" tIns="0" rIns="0" bIns="0" rtlCol="0" anchor="ctr"/>
          <a:lstStyle/>
          <a:p>
            <a:pPr algn="ctr" indent="0" marL="0">
              <a:buNone/>
            </a:pPr>
            <a:r>
              <a:rPr lang="en-US" sz="1200" dirty="0">
                <a:solidFill>
                  <a:schemeClr val="accent6"/>
                </a:solidFill>
              </a:rPr>
              <a:t>2025</a:t>
            </a:r>
            <a:endParaRPr lang="en-US" sz="1200" dirty="0"/>
          </a:p>
        </p:txBody>
      </p:sp>
      <p:sp>
        <p:nvSpPr>
          <p:cNvPr id="10" name="Text 8"/>
          <p:cNvSpPr txBox="1"/>
          <p:nvPr/>
        </p:nvSpPr>
        <p:spPr>
          <a:xfrm>
            <a:off x="10828751" y="2743200"/>
            <a:ext cx="731520" cy="274320"/>
          </a:xfrm>
          <a:prstGeom prst="rect">
            <a:avLst/>
          </a:prstGeom>
          <a:noFill/>
          <a:ln/>
        </p:spPr>
        <p:txBody>
          <a:bodyPr wrap="square" lIns="0" tIns="0" rIns="0" bIns="0" rtlCol="0" anchor="ctr"/>
          <a:lstStyle/>
          <a:p>
            <a:pPr algn="ctr" indent="0" marL="0">
              <a:buNone/>
            </a:pPr>
            <a:r>
              <a:rPr lang="en-US" sz="1200" dirty="0">
                <a:solidFill>
                  <a:schemeClr val="accent6"/>
                </a:solidFill>
              </a:rPr>
              <a:t>2026</a:t>
            </a:r>
            <a:endParaRPr lang="en-US" sz="1200" dirty="0"/>
          </a:p>
        </p:txBody>
      </p:sp>
      <p:sp>
        <p:nvSpPr>
          <p:cNvPr id="11" name="training period"/>
          <p:cNvSpPr/>
          <p:nvPr/>
        </p:nvSpPr>
        <p:spPr>
          <a:xfrm>
            <a:off x="822960" y="2103120"/>
            <a:ext cx="8210811" cy="502920"/>
          </a:xfrm>
          <a:prstGeom prst="rect">
            <a:avLst/>
          </a:prstGeom>
          <a:solidFill>
            <a:schemeClr val="accent1"/>
          </a:solidFill>
          <a:ln/>
        </p:spPr>
      </p:sp>
      <p:sp>
        <p:nvSpPr>
          <p:cNvPr id="12" name="validation season"/>
          <p:cNvSpPr/>
          <p:nvPr/>
        </p:nvSpPr>
        <p:spPr>
          <a:xfrm>
            <a:off x="7305179" y="2103120"/>
            <a:ext cx="576197" cy="502920"/>
          </a:xfrm>
          <a:prstGeom prst="rect">
            <a:avLst/>
          </a:prstGeom>
          <a:solidFill>
            <a:schemeClr val="tx2"/>
          </a:solidFill>
          <a:ln/>
        </p:spPr>
      </p:sp>
      <p:sp>
        <p:nvSpPr>
          <p:cNvPr id="13" name="Text 11"/>
          <p:cNvSpPr txBox="1"/>
          <p:nvPr/>
        </p:nvSpPr>
        <p:spPr>
          <a:xfrm>
            <a:off x="967009" y="2103120"/>
            <a:ext cx="6194121" cy="502920"/>
          </a:xfrm>
          <a:prstGeom prst="rect">
            <a:avLst/>
          </a:prstGeom>
          <a:noFill/>
          <a:ln/>
        </p:spPr>
        <p:txBody>
          <a:bodyPr wrap="square" lIns="0" tIns="0" rIns="0" bIns="0" rtlCol="0" anchor="ctr"/>
          <a:lstStyle/>
          <a:p>
            <a:pPr indent="0" marL="0">
              <a:buNone/>
            </a:pPr>
            <a:r>
              <a:rPr lang="en-US" sz="1400" b="1" dirty="0">
                <a:solidFill>
                  <a:schemeClr val="bg1"/>
                </a:solidFill>
              </a:rPr>
              <a:t>Training: Jan 2020 to Sep 2024 · Lahore, Islamabad, Karachi</a:t>
            </a:r>
            <a:endParaRPr lang="en-US" sz="1400" dirty="0"/>
          </a:p>
        </p:txBody>
      </p:sp>
      <p:sp>
        <p:nvSpPr>
          <p:cNvPr id="14" name="Text 12"/>
          <p:cNvSpPr txBox="1"/>
          <p:nvPr/>
        </p:nvSpPr>
        <p:spPr>
          <a:xfrm>
            <a:off x="6404558" y="3063240"/>
            <a:ext cx="2377440" cy="320040"/>
          </a:xfrm>
          <a:prstGeom prst="rect">
            <a:avLst/>
          </a:prstGeom>
          <a:noFill/>
          <a:ln/>
        </p:spPr>
        <p:txBody>
          <a:bodyPr wrap="square" lIns="0" tIns="0" rIns="0" bIns="0" rtlCol="0" anchor="t"/>
          <a:lstStyle/>
          <a:p>
            <a:pPr algn="ctr" indent="0" marL="0">
              <a:buNone/>
            </a:pPr>
            <a:r>
              <a:rPr lang="en-US" sz="1200" dirty="0">
                <a:solidFill>
                  <a:schemeClr val="tx2"/>
                </a:solidFill>
              </a:rPr>
              <a:t>Validation: 2023-24 season</a:t>
            </a:r>
            <a:endParaRPr lang="en-US" sz="1200" dirty="0"/>
          </a:p>
        </p:txBody>
      </p:sp>
      <p:sp>
        <p:nvSpPr>
          <p:cNvPr id="15" name="test season 1"/>
          <p:cNvSpPr/>
          <p:nvPr/>
        </p:nvSpPr>
        <p:spPr>
          <a:xfrm>
            <a:off x="9033771" y="2103120"/>
            <a:ext cx="576197" cy="502920"/>
          </a:xfrm>
          <a:prstGeom prst="rect">
            <a:avLst/>
          </a:prstGeom>
          <a:solidFill>
            <a:schemeClr val="accent2"/>
          </a:solidFill>
          <a:ln/>
        </p:spPr>
      </p:sp>
      <p:sp>
        <p:nvSpPr>
          <p:cNvPr id="16" name="test season 2"/>
          <p:cNvSpPr/>
          <p:nvPr/>
        </p:nvSpPr>
        <p:spPr>
          <a:xfrm>
            <a:off x="10762363" y="2103120"/>
            <a:ext cx="576197" cy="502920"/>
          </a:xfrm>
          <a:prstGeom prst="rect">
            <a:avLst/>
          </a:prstGeom>
          <a:solidFill>
            <a:schemeClr val="accent3"/>
          </a:solidFill>
          <a:ln/>
        </p:spPr>
      </p:sp>
      <p:sp>
        <p:nvSpPr>
          <p:cNvPr id="17" name="Text 15"/>
          <p:cNvSpPr txBox="1"/>
          <p:nvPr/>
        </p:nvSpPr>
        <p:spPr>
          <a:xfrm>
            <a:off x="7858830" y="1600200"/>
            <a:ext cx="2926080" cy="411480"/>
          </a:xfrm>
          <a:prstGeom prst="rect">
            <a:avLst/>
          </a:prstGeom>
          <a:noFill/>
          <a:ln/>
        </p:spPr>
        <p:txBody>
          <a:bodyPr wrap="square" lIns="0" tIns="0" rIns="0" bIns="0" rtlCol="0" anchor="b"/>
          <a:lstStyle/>
          <a:p>
            <a:pPr algn="ctr" indent="0" marL="0">
              <a:buNone/>
            </a:pPr>
            <a:r>
              <a:rPr lang="en-US" sz="1300" b="1" dirty="0">
                <a:solidFill>
                  <a:schemeClr val="accent2"/>
                </a:solidFill>
              </a:rPr>
              <a:t>Test 1: record 2024-25 season</a:t>
            </a:r>
            <a:endParaRPr lang="en-US" sz="1300" dirty="0"/>
          </a:p>
        </p:txBody>
      </p:sp>
      <p:sp>
        <p:nvSpPr>
          <p:cNvPr id="18" name="Text 16"/>
          <p:cNvSpPr txBox="1"/>
          <p:nvPr/>
        </p:nvSpPr>
        <p:spPr>
          <a:xfrm>
            <a:off x="8732520" y="3063240"/>
            <a:ext cx="2926080" cy="548640"/>
          </a:xfrm>
          <a:prstGeom prst="rect">
            <a:avLst/>
          </a:prstGeom>
          <a:noFill/>
          <a:ln/>
        </p:spPr>
        <p:txBody>
          <a:bodyPr wrap="square" lIns="0" tIns="0" rIns="0" bIns="0" rtlCol="0" anchor="t"/>
          <a:lstStyle/>
          <a:p>
            <a:pPr algn="r" indent="0" marL="0">
              <a:buNone/>
            </a:pPr>
            <a:r>
              <a:rPr lang="en-US" sz="1200" b="1" dirty="0">
                <a:solidFill>
                  <a:schemeClr val="accent3"/>
                </a:solidFill>
              </a:rPr>
              <a:t>Test 2: 2025-26 season, plus unseen Faisalabad and Multan</a:t>
            </a:r>
            <a:endParaRPr lang="en-US" sz="1200" dirty="0"/>
          </a:p>
        </p:txBody>
      </p:sp>
      <p:sp>
        <p:nvSpPr>
          <p:cNvPr id="19" name="design card 1"/>
          <p:cNvSpPr/>
          <p:nvPr/>
        </p:nvSpPr>
        <p:spPr>
          <a:xfrm>
            <a:off x="548640" y="3794760"/>
            <a:ext cx="3474720" cy="2240280"/>
          </a:xfrm>
          <a:prstGeom prst="roundRect">
            <a:avLst>
              <a:gd name="adj" fmla="val 3265"/>
            </a:avLst>
          </a:prstGeom>
          <a:solidFill>
            <a:schemeClr val="bg2"/>
          </a:solidFill>
          <a:ln/>
        </p:spPr>
      </p:sp>
      <p:sp>
        <p:nvSpPr>
          <p:cNvPr id="20" name="Text 18"/>
          <p:cNvSpPr txBox="1"/>
          <p:nvPr/>
        </p:nvSpPr>
        <p:spPr>
          <a:xfrm>
            <a:off x="822960" y="3931920"/>
            <a:ext cx="292608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Two baselines</a:t>
            </a:r>
            <a:endParaRPr lang="en-US" sz="1800" dirty="0"/>
          </a:p>
        </p:txBody>
      </p:sp>
      <p:sp>
        <p:nvSpPr>
          <p:cNvPr id="21" name="Text 19"/>
          <p:cNvSpPr txBox="1"/>
          <p:nvPr/>
        </p:nvSpPr>
        <p:spPr>
          <a:xfrm>
            <a:off x="822960" y="4434840"/>
            <a:ext cx="2926080" cy="1508760"/>
          </a:xfrm>
          <a:prstGeom prst="rect">
            <a:avLst/>
          </a:prstGeom>
          <a:noFill/>
          <a:ln/>
        </p:spPr>
        <p:txBody>
          <a:bodyPr wrap="square" lIns="0" tIns="0" rIns="0" bIns="0" rtlCol="0" anchor="t"/>
          <a:lstStyle/>
          <a:p>
            <a:pPr indent="0" marL="0">
              <a:buNone/>
            </a:pPr>
            <a:r>
              <a:rPr lang="en-US" sz="1500" dirty="0">
                <a:solidFill>
                  <a:schemeClr val="tx1"/>
                </a:solidFill>
              </a:rPr>
              <a:t>Persistence (next 24 h = last 24 h) and the seasonal average for that city, month and hour.</a:t>
            </a:r>
            <a:endParaRPr lang="en-US" sz="1500" dirty="0"/>
          </a:p>
        </p:txBody>
      </p:sp>
      <p:sp>
        <p:nvSpPr>
          <p:cNvPr id="22" name="design card 2"/>
          <p:cNvSpPr/>
          <p:nvPr/>
        </p:nvSpPr>
        <p:spPr>
          <a:xfrm>
            <a:off x="4297680" y="3794760"/>
            <a:ext cx="3474720" cy="2240280"/>
          </a:xfrm>
          <a:prstGeom prst="roundRect">
            <a:avLst>
              <a:gd name="adj" fmla="val 3265"/>
            </a:avLst>
          </a:prstGeom>
          <a:solidFill>
            <a:schemeClr val="bg2"/>
          </a:solidFill>
          <a:ln/>
        </p:spPr>
      </p:sp>
      <p:sp>
        <p:nvSpPr>
          <p:cNvPr id="23" name="Text 21"/>
          <p:cNvSpPr txBox="1"/>
          <p:nvPr/>
        </p:nvSpPr>
        <p:spPr>
          <a:xfrm>
            <a:off x="4572000" y="3931920"/>
            <a:ext cx="292608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No peeking</a:t>
            </a:r>
            <a:endParaRPr lang="en-US" sz="1800" dirty="0"/>
          </a:p>
        </p:txBody>
      </p:sp>
      <p:sp>
        <p:nvSpPr>
          <p:cNvPr id="24" name="Text 22"/>
          <p:cNvSpPr txBox="1"/>
          <p:nvPr/>
        </p:nvSpPr>
        <p:spPr>
          <a:xfrm>
            <a:off x="4572000" y="4434840"/>
            <a:ext cx="2926080" cy="1508760"/>
          </a:xfrm>
          <a:prstGeom prst="rect">
            <a:avLst/>
          </a:prstGeom>
          <a:noFill/>
          <a:ln/>
        </p:spPr>
        <p:txBody>
          <a:bodyPr wrap="square" lIns="0" tIns="0" rIns="0" bIns="0" rtlCol="0" anchor="t"/>
          <a:lstStyle/>
          <a:p>
            <a:pPr indent="0" marL="0">
              <a:buNone/>
            </a:pPr>
            <a:r>
              <a:rPr lang="en-US" sz="1500" dirty="0">
                <a:solidFill>
                  <a:schemeClr val="tx1"/>
                </a:solidFill>
              </a:rPr>
              <a:t>Only data known at forecast time; test seasons are never interpolated; the warning threshold is set on validation data.</a:t>
            </a:r>
            <a:endParaRPr lang="en-US" sz="1500" dirty="0"/>
          </a:p>
        </p:txBody>
      </p:sp>
      <p:sp>
        <p:nvSpPr>
          <p:cNvPr id="25" name="design card 3"/>
          <p:cNvSpPr/>
          <p:nvPr/>
        </p:nvSpPr>
        <p:spPr>
          <a:xfrm>
            <a:off x="8046720" y="3794760"/>
            <a:ext cx="3474720" cy="2240280"/>
          </a:xfrm>
          <a:prstGeom prst="roundRect">
            <a:avLst>
              <a:gd name="adj" fmla="val 3265"/>
            </a:avLst>
          </a:prstGeom>
          <a:solidFill>
            <a:schemeClr val="bg2"/>
          </a:solidFill>
          <a:ln/>
        </p:spPr>
      </p:sp>
      <p:sp>
        <p:nvSpPr>
          <p:cNvPr id="26" name="Text 24"/>
          <p:cNvSpPr txBox="1"/>
          <p:nvPr/>
        </p:nvSpPr>
        <p:spPr>
          <a:xfrm>
            <a:off x="8321040" y="3931920"/>
            <a:ext cx="2926080"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Predict the change</a:t>
            </a:r>
            <a:endParaRPr lang="en-US" sz="1800" dirty="0"/>
          </a:p>
        </p:txBody>
      </p:sp>
      <p:sp>
        <p:nvSpPr>
          <p:cNvPr id="27" name="Text 25"/>
          <p:cNvSpPr txBox="1"/>
          <p:nvPr/>
        </p:nvSpPr>
        <p:spPr>
          <a:xfrm>
            <a:off x="8321040" y="4434840"/>
            <a:ext cx="2926080" cy="1508760"/>
          </a:xfrm>
          <a:prstGeom prst="rect">
            <a:avLst/>
          </a:prstGeom>
          <a:noFill/>
          <a:ln/>
        </p:spPr>
        <p:txBody>
          <a:bodyPr wrap="square" lIns="0" tIns="0" rIns="0" bIns="0" rtlCol="0" anchor="t"/>
          <a:lstStyle/>
          <a:p>
            <a:pPr indent="0" marL="0">
              <a:buNone/>
            </a:pPr>
            <a:r>
              <a:rPr lang="en-US" sz="1500" dirty="0">
                <a:solidFill>
                  <a:schemeClr val="tx1"/>
                </a:solidFill>
              </a:rPr>
              <a:t>6 Nov 2024, Lahore: a level model said 283, the change model 386; observed 510. Trees cannot extrapolate past record levels.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SAANS beats both baselines in both test seasons</a:t>
            </a:r>
            <a:endParaRPr lang="en-US" sz="3000" dirty="0"/>
          </a:p>
        </p:txBody>
      </p:sp>
      <p:graphicFrame>
        <p:nvGraphicFramePr>
          <p:cNvPr id="3" name="Chart 0" descr=""/>
          <p:cNvGraphicFramePr/>
          <p:nvPr/>
        </p:nvGraphicFramePr>
        <p:xfrm>
          <a:off x="548640" y="1280160"/>
          <a:ext cx="704088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001000" y="1325880"/>
            <a:ext cx="3611880" cy="73152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+14.4%</a:t>
            </a:r>
            <a:endParaRPr lang="en-US" sz="4400" dirty="0"/>
          </a:p>
        </p:txBody>
      </p:sp>
      <p:sp>
        <p:nvSpPr>
          <p:cNvPr id="5" name="Text 2"/>
          <p:cNvSpPr txBox="1"/>
          <p:nvPr/>
        </p:nvSpPr>
        <p:spPr>
          <a:xfrm>
            <a:off x="8001000" y="2103120"/>
            <a:ext cx="3611880" cy="685800"/>
          </a:xfrm>
          <a:prstGeom prst="rect">
            <a:avLst/>
          </a:prstGeom>
          <a:noFill/>
          <a:ln/>
        </p:spPr>
        <p:txBody>
          <a:bodyPr wrap="square" lIns="0" tIns="0" rIns="0" bIns="0" rtlCol="0" anchor="t"/>
          <a:lstStyle/>
          <a:p>
            <a:pPr indent="0" marL="0">
              <a:buNone/>
            </a:pPr>
            <a:r>
              <a:rPr lang="en-US" sz="1400" dirty="0">
                <a:solidFill>
                  <a:schemeClr val="tx1"/>
                </a:solidFill>
              </a:rPr>
              <a:t>lower 24-hour error than persistence in the record 2024-25 season (+13.8% at 48 h)</a:t>
            </a:r>
            <a:endParaRPr lang="en-US" sz="1400" dirty="0"/>
          </a:p>
        </p:txBody>
      </p:sp>
      <p:sp>
        <p:nvSpPr>
          <p:cNvPr id="6" name="Text 3"/>
          <p:cNvSpPr txBox="1"/>
          <p:nvPr/>
        </p:nvSpPr>
        <p:spPr>
          <a:xfrm>
            <a:off x="8001000" y="2880360"/>
            <a:ext cx="3611880" cy="731520"/>
          </a:xfrm>
          <a:prstGeom prst="rect">
            <a:avLst/>
          </a:prstGeom>
          <a:noFill/>
          <a:ln/>
        </p:spPr>
        <p:txBody>
          <a:bodyPr wrap="square" lIns="0" tIns="0" rIns="0" bIns="0" rtlCol="0" anchor="b"/>
          <a:lstStyle/>
          <a:p>
            <a:pPr indent="0" marL="0">
              <a:buNone/>
            </a:pPr>
            <a:r>
              <a:rPr lang="en-US" sz="4000" b="1" dirty="0">
                <a:solidFill>
                  <a:schemeClr val="accent3"/>
                </a:solidFill>
                <a:latin typeface="Cambria" pitchFamily="34" charset="0"/>
                <a:ea typeface="Cambria" pitchFamily="34" charset="-122"/>
                <a:cs typeface="Cambria" pitchFamily="34" charset="-120"/>
              </a:rPr>
              <a:t>92% vs 76%</a:t>
            </a:r>
            <a:endParaRPr lang="en-US" sz="4000" dirty="0"/>
          </a:p>
        </p:txBody>
      </p:sp>
      <p:sp>
        <p:nvSpPr>
          <p:cNvPr id="7" name="Text 4"/>
          <p:cNvSpPr txBox="1"/>
          <p:nvPr/>
        </p:nvSpPr>
        <p:spPr>
          <a:xfrm>
            <a:off x="8001000" y="3657600"/>
            <a:ext cx="3611880" cy="685800"/>
          </a:xfrm>
          <a:prstGeom prst="rect">
            <a:avLst/>
          </a:prstGeom>
          <a:noFill/>
          <a:ln/>
        </p:spPr>
        <p:txBody>
          <a:bodyPr wrap="square" lIns="0" tIns="0" rIns="0" bIns="0" rtlCol="0" anchor="t"/>
          <a:lstStyle/>
          <a:p>
            <a:pPr indent="0" marL="0">
              <a:buNone/>
            </a:pPr>
            <a:r>
              <a:rPr lang="en-US" sz="1400" dirty="0">
                <a:solidFill>
                  <a:schemeClr val="tx1"/>
                </a:solidFill>
              </a:rPr>
              <a:t>of hazardous periods (AQI &gt; 300) warned: SAANS vs persistence, both seasons</a:t>
            </a:r>
            <a:endParaRPr lang="en-US" sz="1400" dirty="0"/>
          </a:p>
        </p:txBody>
      </p:sp>
      <p:sp>
        <p:nvSpPr>
          <p:cNvPr id="8" name="Text 5"/>
          <p:cNvSpPr txBox="1"/>
          <p:nvPr/>
        </p:nvSpPr>
        <p:spPr>
          <a:xfrm>
            <a:off x="8001000" y="4434840"/>
            <a:ext cx="3611880" cy="73152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0.774</a:t>
            </a:r>
            <a:endParaRPr lang="en-US" sz="4000" dirty="0"/>
          </a:p>
        </p:txBody>
      </p:sp>
      <p:sp>
        <p:nvSpPr>
          <p:cNvPr id="9" name="Text 6"/>
          <p:cNvSpPr txBox="1"/>
          <p:nvPr/>
        </p:nvSpPr>
        <p:spPr>
          <a:xfrm>
            <a:off x="8001000" y="5212080"/>
            <a:ext cx="3611880" cy="685800"/>
          </a:xfrm>
          <a:prstGeom prst="rect">
            <a:avLst/>
          </a:prstGeom>
          <a:noFill/>
          <a:ln/>
        </p:spPr>
        <p:txBody>
          <a:bodyPr wrap="square" lIns="0" tIns="0" rIns="0" bIns="0" rtlCol="0" anchor="t"/>
          <a:lstStyle/>
          <a:p>
            <a:pPr indent="0" marL="0">
              <a:buNone/>
            </a:pPr>
            <a:r>
              <a:rPr lang="en-US" sz="1400" dirty="0">
                <a:solidFill>
                  <a:schemeClr val="tx1"/>
                </a:solidFill>
              </a:rPr>
              <a:t>F1 of the hazard warning in 2024-25 (persistence 0.755); 0.775 vs 0.764 in 2025-26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Works in unseen cities; fails where Lahore's sensors changed</a:t>
            </a:r>
            <a:endParaRPr lang="en-US" sz="3000" dirty="0"/>
          </a:p>
        </p:txBody>
      </p:sp>
      <p:sp>
        <p:nvSpPr>
          <p:cNvPr id="3" name="Faisalabad card"/>
          <p:cNvSpPr/>
          <p:nvPr/>
        </p:nvSpPr>
        <p:spPr>
          <a:xfrm>
            <a:off x="548640" y="1325880"/>
            <a:ext cx="2606040" cy="2331720"/>
          </a:xfrm>
          <a:prstGeom prst="roundRect">
            <a:avLst>
              <a:gd name="adj" fmla="val 3137"/>
            </a:avLst>
          </a:prstGeom>
          <a:solidFill>
            <a:schemeClr val="bg2"/>
          </a:solidFill>
          <a:ln/>
        </p:spPr>
      </p:sp>
      <p:sp>
        <p:nvSpPr>
          <p:cNvPr id="4" name="Text 2"/>
          <p:cNvSpPr txBox="1"/>
          <p:nvPr/>
        </p:nvSpPr>
        <p:spPr>
          <a:xfrm>
            <a:off x="777240" y="1463040"/>
            <a:ext cx="2194560" cy="731520"/>
          </a:xfrm>
          <a:prstGeom prst="rect">
            <a:avLst/>
          </a:prstGeom>
          <a:noFill/>
          <a:ln/>
        </p:spPr>
        <p:txBody>
          <a:bodyPr wrap="square" lIns="0" tIns="0" rIns="0" bIns="0" rtlCol="0" anchor="b"/>
          <a:lstStyle/>
          <a:p>
            <a:pPr indent="0" marL="0">
              <a:buNone/>
            </a:pPr>
            <a:r>
              <a:rPr lang="en-US" sz="4400" b="1" dirty="0">
                <a:solidFill>
                  <a:schemeClr val="accent3"/>
                </a:solidFill>
                <a:latin typeface="Cambria" pitchFamily="34" charset="0"/>
                <a:ea typeface="Cambria" pitchFamily="34" charset="-122"/>
                <a:cs typeface="Cambria" pitchFamily="34" charset="-120"/>
              </a:rPr>
              <a:t>+14%</a:t>
            </a:r>
            <a:endParaRPr lang="en-US" sz="4400" dirty="0"/>
          </a:p>
        </p:txBody>
      </p:sp>
      <p:sp>
        <p:nvSpPr>
          <p:cNvPr id="5" name="Text 3"/>
          <p:cNvSpPr txBox="1"/>
          <p:nvPr/>
        </p:nvSpPr>
        <p:spPr>
          <a:xfrm>
            <a:off x="777240" y="2240280"/>
            <a:ext cx="2194560" cy="685800"/>
          </a:xfrm>
          <a:prstGeom prst="rect">
            <a:avLst/>
          </a:prstGeom>
          <a:noFill/>
          <a:ln/>
        </p:spPr>
        <p:txBody>
          <a:bodyPr wrap="square" lIns="0" tIns="0" rIns="0" bIns="0" rtlCol="0" anchor="t"/>
          <a:lstStyle/>
          <a:p>
            <a:pPr indent="0" marL="0">
              <a:buNone/>
            </a:pPr>
            <a:r>
              <a:rPr lang="en-US" sz="1400" dirty="0">
                <a:solidFill>
                  <a:schemeClr val="tx1"/>
                </a:solidFill>
              </a:rPr>
              <a:t>Faisalabad: error 33.3 vs 38.7 for persistence</a:t>
            </a:r>
            <a:endParaRPr lang="en-US" sz="1400" dirty="0"/>
          </a:p>
        </p:txBody>
      </p:sp>
      <p:sp>
        <p:nvSpPr>
          <p:cNvPr id="6" name="Multan card"/>
          <p:cNvSpPr/>
          <p:nvPr/>
        </p:nvSpPr>
        <p:spPr>
          <a:xfrm>
            <a:off x="3337560" y="1325880"/>
            <a:ext cx="2606040" cy="2331720"/>
          </a:xfrm>
          <a:prstGeom prst="roundRect">
            <a:avLst>
              <a:gd name="adj" fmla="val 3137"/>
            </a:avLst>
          </a:prstGeom>
          <a:solidFill>
            <a:schemeClr val="bg2"/>
          </a:solidFill>
          <a:ln/>
        </p:spPr>
      </p:sp>
      <p:sp>
        <p:nvSpPr>
          <p:cNvPr id="7" name="Text 5"/>
          <p:cNvSpPr txBox="1"/>
          <p:nvPr/>
        </p:nvSpPr>
        <p:spPr>
          <a:xfrm>
            <a:off x="3566160" y="1463040"/>
            <a:ext cx="2194560" cy="731520"/>
          </a:xfrm>
          <a:prstGeom prst="rect">
            <a:avLst/>
          </a:prstGeom>
          <a:noFill/>
          <a:ln/>
        </p:spPr>
        <p:txBody>
          <a:bodyPr wrap="square" lIns="0" tIns="0" rIns="0" bIns="0" rtlCol="0" anchor="b"/>
          <a:lstStyle/>
          <a:p>
            <a:pPr indent="0" marL="0">
              <a:buNone/>
            </a:pPr>
            <a:r>
              <a:rPr lang="en-US" sz="4400" b="1" dirty="0">
                <a:solidFill>
                  <a:schemeClr val="accent3"/>
                </a:solidFill>
                <a:latin typeface="Cambria" pitchFamily="34" charset="0"/>
                <a:ea typeface="Cambria" pitchFamily="34" charset="-122"/>
                <a:cs typeface="Cambria" pitchFamily="34" charset="-120"/>
              </a:rPr>
              <a:t>+11%</a:t>
            </a:r>
            <a:endParaRPr lang="en-US" sz="4400" dirty="0"/>
          </a:p>
        </p:txBody>
      </p:sp>
      <p:sp>
        <p:nvSpPr>
          <p:cNvPr id="8" name="Text 6"/>
          <p:cNvSpPr txBox="1"/>
          <p:nvPr/>
        </p:nvSpPr>
        <p:spPr>
          <a:xfrm>
            <a:off x="3566160" y="2240280"/>
            <a:ext cx="2194560" cy="685800"/>
          </a:xfrm>
          <a:prstGeom prst="rect">
            <a:avLst/>
          </a:prstGeom>
          <a:noFill/>
          <a:ln/>
        </p:spPr>
        <p:txBody>
          <a:bodyPr wrap="square" lIns="0" tIns="0" rIns="0" bIns="0" rtlCol="0" anchor="t"/>
          <a:lstStyle/>
          <a:p>
            <a:pPr indent="0" marL="0">
              <a:buNone/>
            </a:pPr>
            <a:r>
              <a:rPr lang="en-US" sz="1400" dirty="0">
                <a:solidFill>
                  <a:schemeClr val="tx1"/>
                </a:solidFill>
              </a:rPr>
              <a:t>Multan: error 32.9 vs 37.1 for persistence</a:t>
            </a:r>
            <a:endParaRPr lang="en-US" sz="1400" dirty="0"/>
          </a:p>
        </p:txBody>
      </p:sp>
      <p:sp>
        <p:nvSpPr>
          <p:cNvPr id="9" name="Text 7"/>
          <p:cNvSpPr txBox="1"/>
          <p:nvPr/>
        </p:nvSpPr>
        <p:spPr>
          <a:xfrm>
            <a:off x="548640" y="3931920"/>
            <a:ext cx="5394960" cy="1097280"/>
          </a:xfrm>
          <a:prstGeom prst="rect">
            <a:avLst/>
          </a:prstGeom>
          <a:noFill/>
          <a:ln/>
        </p:spPr>
        <p:txBody>
          <a:bodyPr wrap="square" lIns="0" tIns="0" rIns="0" bIns="0" rtlCol="0" anchor="t"/>
          <a:lstStyle/>
          <a:p>
            <a:pPr indent="0" marL="0">
              <a:buNone/>
            </a:pPr>
            <a:r>
              <a:rPr lang="en-US" sz="1500" dirty="0">
                <a:solidFill>
                  <a:schemeClr val="tx1"/>
                </a:solidFill>
              </a:rPr>
              <a:t>Neither city was in training: city identity is not a feature, so the model relies on weather, fires and recent pollution.</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63640" y="1325880"/>
          <a:ext cx="5349240" cy="914400"/>
        </p:xfrm>
        <a:graphic>
          <a:graphicData uri="http://schemas.openxmlformats.org/drawingml/2006/table">
            <a:tbl>
              <a:tblPr/>
              <a:tblGrid>
                <a:gridCol w="2194560"/>
                <a:gridCol w="1005840"/>
                <a:gridCol w="1188720"/>
                <a:gridCol w="960120"/>
              </a:tblGrid>
              <a:tr h="411480">
                <a:tc>
                  <a:txBody>
                    <a:bodyPr/>
                    <a:lstStyle/>
                    <a:p>
                      <a:pPr indent="0" marL="0">
                        <a:buNone/>
                      </a:pPr>
                      <a:r>
                        <a:rPr lang="en-US" sz="1400" b="1" dirty="0">
                          <a:solidFill>
                            <a:schemeClr val="tx1"/>
                          </a:solidFill>
                        </a:rPr>
                        <a:t>2025-26, next 24 h</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SAANS</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Persistence</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Skill</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solidFill>
                      <a:schemeClr val="bg2"/>
                    </a:solidFill>
                  </a:tcPr>
                </a:tc>
              </a:tr>
              <a:tr h="411480">
                <a:tc>
                  <a:txBody>
                    <a:bodyPr/>
                    <a:lstStyle/>
                    <a:p>
                      <a:pPr indent="0" marL="0">
                        <a:buNone/>
                      </a:pPr>
                      <a:r>
                        <a:rPr lang="en-US" sz="1400" dirty="0">
                          <a:solidFill>
                            <a:schemeClr val="tx1"/>
                          </a:solidFill>
                        </a:rPr>
                        <a:t>Faisalabad (unseen)</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33.3</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38.7</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+14.0%</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r>
              <a:tr h="411480">
                <a:tc>
                  <a:txBody>
                    <a:bodyPr/>
                    <a:lstStyle/>
                    <a:p>
                      <a:pPr indent="0" marL="0">
                        <a:buNone/>
                      </a:pPr>
                      <a:r>
                        <a:rPr lang="en-US" sz="1400" dirty="0">
                          <a:solidFill>
                            <a:schemeClr val="tx1"/>
                          </a:solidFill>
                        </a:rPr>
                        <a:t>Multan (unseen)</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32.9</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37.1</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+11.3%</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r>
              <a:tr h="411480">
                <a:tc>
                  <a:txBody>
                    <a:bodyPr/>
                    <a:lstStyle/>
                    <a:p>
                      <a:pPr indent="0" marL="0">
                        <a:buNone/>
                      </a:pPr>
                      <a:r>
                        <a:rPr lang="en-US" sz="1400" dirty="0">
                          <a:solidFill>
                            <a:schemeClr val="tx1"/>
                          </a:solidFill>
                        </a:rPr>
                        <a:t>Islamabad</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12.8</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15.1</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+15.2%</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r>
              <a:tr h="411480">
                <a:tc>
                  <a:txBody>
                    <a:bodyPr/>
                    <a:lstStyle/>
                    <a:p>
                      <a:pPr indent="0" marL="0">
                        <a:buNone/>
                      </a:pPr>
                      <a:r>
                        <a:rPr lang="en-US" sz="1400" dirty="0">
                          <a:solidFill>
                            <a:schemeClr val="tx1"/>
                          </a:solidFill>
                        </a:rPr>
                        <a:t>Karachi</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16.7</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16.0</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-4.4%</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r>
              <a:tr h="411480">
                <a:tc>
                  <a:txBody>
                    <a:bodyPr/>
                    <a:lstStyle/>
                    <a:p>
                      <a:pPr indent="0" marL="0">
                        <a:buNone/>
                      </a:pPr>
                      <a:r>
                        <a:rPr lang="en-US" sz="1400" b="1" dirty="0">
                          <a:solidFill>
                            <a:schemeClr val="tx1"/>
                          </a:solidFill>
                        </a:rPr>
                        <a:t>Lahore</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31.4</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dirty="0">
                          <a:solidFill>
                            <a:schemeClr val="tx1"/>
                          </a:solidFill>
                        </a:rPr>
                        <a:t>22.5</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c>
                  <a:txBody>
                    <a:bodyPr/>
                    <a:lstStyle/>
                    <a:p>
                      <a:pPr algn="r" indent="0" marL="0">
                        <a:buNone/>
                      </a:pPr>
                      <a:r>
                        <a:rPr lang="en-US" sz="1400" b="1" dirty="0">
                          <a:solidFill>
                            <a:schemeClr val="accent5"/>
                          </a:solidFill>
                        </a:rPr>
                        <a:t>-39.6%</a:t>
                      </a:r>
                      <a:endParaRPr lang="en-US" sz="1400" dirty="0"/>
                    </a:p>
                  </a:txBody>
                  <a:tcPr marL="73152" marR="73152" marT="73152" marB="73152">
                    <a:lnL w="9525" cap="flat" cmpd="sng" algn="ctr">
                      <a:solidFill>
                        <a:srgbClr val="D9D8D2"/>
                      </a:solidFill>
                      <a:prstDash val="solid"/>
                      <a:round/>
                      <a:headEnd type="none" w="med" len="med"/>
                      <a:tailEnd type="none" w="med" len="med"/>
                    </a:lnL>
                    <a:lnR w="9525" cap="flat" cmpd="sng" algn="ctr">
                      <a:solidFill>
                        <a:srgbClr val="D9D8D2"/>
                      </a:solidFill>
                      <a:prstDash val="solid"/>
                      <a:round/>
                      <a:headEnd type="none" w="med" len="med"/>
                      <a:tailEnd type="none" w="med" len="med"/>
                    </a:lnR>
                    <a:lnT w="9525" cap="flat" cmpd="sng" algn="ctr">
                      <a:solidFill>
                        <a:srgbClr val="D9D8D2"/>
                      </a:solidFill>
                      <a:prstDash val="solid"/>
                      <a:round/>
                      <a:headEnd type="none" w="med" len="med"/>
                      <a:tailEnd type="none" w="med" len="med"/>
                    </a:lnT>
                    <a:lnB w="9525" cap="flat" cmpd="sng" algn="ctr">
                      <a:solidFill>
                        <a:srgbClr val="D9D8D2"/>
                      </a:solidFill>
                      <a:prstDash val="solid"/>
                      <a:round/>
                      <a:headEnd type="none" w="med" len="med"/>
                      <a:tailEnd type="none" w="med" len="med"/>
                    </a:lnB>
                  </a:tcPr>
                </a:tc>
              </a:tr>
            </a:tbl>
          </a:graphicData>
        </a:graphic>
      </p:graphicFrame>
      <p:sp>
        <p:nvSpPr>
          <p:cNvPr id="11" name="Lahore explanation"/>
          <p:cNvSpPr/>
          <p:nvPr/>
        </p:nvSpPr>
        <p:spPr>
          <a:xfrm>
            <a:off x="6263640" y="4114800"/>
            <a:ext cx="5349240" cy="1737360"/>
          </a:xfrm>
          <a:prstGeom prst="roundRect">
            <a:avLst>
              <a:gd name="adj" fmla="val 4211"/>
            </a:avLst>
          </a:prstGeom>
          <a:solidFill>
            <a:schemeClr val="bg2"/>
          </a:solidFill>
          <a:ln/>
        </p:spPr>
      </p:sp>
      <p:sp>
        <p:nvSpPr>
          <p:cNvPr id="12" name="Text 9"/>
          <p:cNvSpPr txBox="1"/>
          <p:nvPr/>
        </p:nvSpPr>
        <p:spPr>
          <a:xfrm>
            <a:off x="6492240" y="4251960"/>
            <a:ext cx="4937760" cy="1508760"/>
          </a:xfrm>
          <a:prstGeom prst="rect">
            <a:avLst/>
          </a:prstGeom>
          <a:noFill/>
          <a:ln/>
        </p:spPr>
        <p:txBody>
          <a:bodyPr wrap="square" lIns="0" tIns="0" rIns="0" bIns="0" rtlCol="0" anchor="t"/>
          <a:lstStyle/>
          <a:p>
            <a:pPr indent="0" marL="0">
              <a:buNone/>
            </a:pPr>
            <a:r>
              <a:rPr lang="en-US" sz="1500" b="1" dirty="0">
                <a:solidFill>
                  <a:schemeClr val="tx1"/>
                </a:solidFill>
              </a:rPr>
              <a:t>Why Lahore fails in 2025-26: </a:t>
            </a:r>
            <a:pPr indent="0" marL="0">
              <a:buNone/>
            </a:pPr>
            <a:r>
              <a:rPr lang="en-US" sz="1500" dirty="0">
                <a:solidFill>
                  <a:schemeClr val="tx1"/>
                </a:solidFill>
              </a:rPr>
              <a:t>after the US monitor stopped, Lahore's data come from low-cost networks that read differently (Clarity about 32% low). The model, trained on the reference monitor, runs about 26 µg/m³ high.</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Every forecast comes with its reasons</a:t>
            </a:r>
            <a:endParaRPr lang="en-US" sz="3000" dirty="0"/>
          </a:p>
        </p:txBody>
      </p:sp>
      <p:pic>
        <p:nvPicPr>
          <p:cNvPr id="3" name="SHAP driver contributions, Lahore 6 Nov 2024" descr="SHAP driver contributions, Lahore 6 Nov 2024">    </p:cNvPr>
          <p:cNvPicPr>
            <a:picLocks noChangeAspect="1"/>
          </p:cNvPicPr>
          <p:nvPr/>
        </p:nvPicPr>
        <p:blipFill>
          <a:blip r:embed="rId1"/>
          <a:stretch>
            <a:fillRect/>
          </a:stretch>
        </p:blipFill>
        <p:spPr>
          <a:xfrm>
            <a:off x="548640" y="1325880"/>
            <a:ext cx="6949440" cy="2737912"/>
          </a:xfrm>
          <a:prstGeom prst="rect">
            <a:avLst/>
          </a:prstGeom>
        </p:spPr>
      </p:pic>
      <p:pic>
        <p:nvPicPr>
          <p:cNvPr id="4" name="Mean SHAP by driver group, 2024-25" descr="Mean SHAP by driver group, 2024-25">    </p:cNvPr>
          <p:cNvPicPr>
            <a:picLocks noChangeAspect="1"/>
          </p:cNvPicPr>
          <p:nvPr/>
        </p:nvPicPr>
        <p:blipFill>
          <a:blip r:embed="rId2"/>
          <a:stretch>
            <a:fillRect/>
          </a:stretch>
        </p:blipFill>
        <p:spPr>
          <a:xfrm>
            <a:off x="548640" y="4160520"/>
            <a:ext cx="5120640" cy="2034568"/>
          </a:xfrm>
          <a:prstGeom prst="rect">
            <a:avLst/>
          </a:prstGeom>
        </p:spPr>
      </p:pic>
      <p:sp>
        <p:nvSpPr>
          <p:cNvPr id="5" name="Text 1"/>
          <p:cNvSpPr txBox="1"/>
          <p:nvPr/>
        </p:nvSpPr>
        <p:spPr>
          <a:xfrm>
            <a:off x="5852160" y="4343400"/>
            <a:ext cx="1691640" cy="1828800"/>
          </a:xfrm>
          <a:prstGeom prst="rect">
            <a:avLst/>
          </a:prstGeom>
          <a:noFill/>
          <a:ln/>
        </p:spPr>
        <p:txBody>
          <a:bodyPr wrap="square" lIns="0" tIns="0" rIns="0" bIns="0" rtlCol="0" anchor="t"/>
          <a:lstStyle/>
          <a:p>
            <a:pPr indent="0" marL="0">
              <a:buNone/>
            </a:pPr>
            <a:r>
              <a:rPr lang="en-US" sz="1200" dirty="0">
                <a:solidFill>
                  <a:schemeClr val="accent6"/>
                </a:solidFill>
              </a:rPr>
              <a:t>Across the season, what moves tomorrow away from today: recent pollution, then weather, calendar and upwind fires.</a:t>
            </a:r>
            <a:endParaRPr lang="en-US" sz="1200" dirty="0"/>
          </a:p>
        </p:txBody>
      </p:sp>
      <p:sp>
        <p:nvSpPr>
          <p:cNvPr id="6" name="decomposition card"/>
          <p:cNvSpPr/>
          <p:nvPr/>
        </p:nvSpPr>
        <p:spPr>
          <a:xfrm>
            <a:off x="7818120" y="1325880"/>
            <a:ext cx="3794760" cy="4663440"/>
          </a:xfrm>
          <a:prstGeom prst="roundRect">
            <a:avLst>
              <a:gd name="adj" fmla="val 1928"/>
            </a:avLst>
          </a:prstGeom>
          <a:solidFill>
            <a:schemeClr val="bg2"/>
          </a:solidFill>
          <a:ln/>
        </p:spPr>
      </p:sp>
      <p:sp>
        <p:nvSpPr>
          <p:cNvPr id="7" name="Text 3"/>
          <p:cNvSpPr txBox="1"/>
          <p:nvPr/>
        </p:nvSpPr>
        <p:spPr>
          <a:xfrm>
            <a:off x="8046720" y="1463040"/>
            <a:ext cx="3383280" cy="4114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Lahore, 08:00, 6 Nov 2024</a:t>
            </a:r>
            <a:endParaRPr lang="en-US" sz="1700" dirty="0"/>
          </a:p>
        </p:txBody>
      </p:sp>
      <p:sp>
        <p:nvSpPr>
          <p:cNvPr id="8" name="Text 4"/>
          <p:cNvSpPr txBox="1"/>
          <p:nvPr/>
        </p:nvSpPr>
        <p:spPr>
          <a:xfrm>
            <a:off x="8046720" y="1965960"/>
            <a:ext cx="2286000" cy="365760"/>
          </a:xfrm>
          <a:prstGeom prst="rect">
            <a:avLst/>
          </a:prstGeom>
          <a:noFill/>
          <a:ln/>
        </p:spPr>
        <p:txBody>
          <a:bodyPr wrap="square" lIns="0" tIns="0" rIns="0" bIns="0" rtlCol="0" anchor="ctr"/>
          <a:lstStyle/>
          <a:p>
            <a:pPr indent="0" marL="0">
              <a:buNone/>
            </a:pPr>
            <a:r>
              <a:rPr lang="en-US" sz="1500" dirty="0">
                <a:solidFill>
                  <a:schemeClr val="tx1"/>
                </a:solidFill>
              </a:rPr>
              <a:t>Typical level</a:t>
            </a:r>
            <a:endParaRPr lang="en-US" sz="1500" dirty="0"/>
          </a:p>
        </p:txBody>
      </p:sp>
      <p:sp>
        <p:nvSpPr>
          <p:cNvPr id="9" name="Text 5"/>
          <p:cNvSpPr txBox="1"/>
          <p:nvPr/>
        </p:nvSpPr>
        <p:spPr>
          <a:xfrm>
            <a:off x="10332720" y="1965960"/>
            <a:ext cx="1051560" cy="365760"/>
          </a:xfrm>
          <a:prstGeom prst="rect">
            <a:avLst/>
          </a:prstGeom>
          <a:noFill/>
          <a:ln/>
        </p:spPr>
        <p:txBody>
          <a:bodyPr wrap="square" lIns="0" tIns="0" rIns="0" bIns="0" rtlCol="0" anchor="ctr"/>
          <a:lstStyle/>
          <a:p>
            <a:pPr algn="r" indent="0" marL="0">
              <a:buNone/>
            </a:pPr>
            <a:r>
              <a:rPr lang="en-US" sz="1500" dirty="0">
                <a:solidFill>
                  <a:schemeClr val="tx1"/>
                </a:solidFill>
              </a:rPr>
              <a:t>70</a:t>
            </a:r>
            <a:endParaRPr lang="en-US" sz="1500" dirty="0"/>
          </a:p>
        </p:txBody>
      </p:sp>
      <p:sp>
        <p:nvSpPr>
          <p:cNvPr id="10" name="Text 6"/>
          <p:cNvSpPr txBox="1"/>
          <p:nvPr/>
        </p:nvSpPr>
        <p:spPr>
          <a:xfrm>
            <a:off x="8046720" y="2377440"/>
            <a:ext cx="2286000" cy="365760"/>
          </a:xfrm>
          <a:prstGeom prst="rect">
            <a:avLst/>
          </a:prstGeom>
          <a:noFill/>
          <a:ln/>
        </p:spPr>
        <p:txBody>
          <a:bodyPr wrap="square" lIns="0" tIns="0" rIns="0" bIns="0" rtlCol="0" anchor="ctr"/>
          <a:lstStyle/>
          <a:p>
            <a:pPr indent="0" marL="0">
              <a:buNone/>
            </a:pPr>
            <a:r>
              <a:rPr lang="en-US" sz="1500" dirty="0">
                <a:solidFill>
                  <a:schemeClr val="tx1"/>
                </a:solidFill>
              </a:rPr>
              <a:t>+ Recent pollution</a:t>
            </a:r>
            <a:endParaRPr lang="en-US" sz="1500" dirty="0"/>
          </a:p>
        </p:txBody>
      </p:sp>
      <p:sp>
        <p:nvSpPr>
          <p:cNvPr id="11" name="Text 7"/>
          <p:cNvSpPr txBox="1"/>
          <p:nvPr/>
        </p:nvSpPr>
        <p:spPr>
          <a:xfrm>
            <a:off x="10332720" y="2377440"/>
            <a:ext cx="1051560" cy="365760"/>
          </a:xfrm>
          <a:prstGeom prst="rect">
            <a:avLst/>
          </a:prstGeom>
          <a:noFill/>
          <a:ln/>
        </p:spPr>
        <p:txBody>
          <a:bodyPr wrap="square" lIns="0" tIns="0" rIns="0" bIns="0" rtlCol="0" anchor="ctr"/>
          <a:lstStyle/>
          <a:p>
            <a:pPr algn="r" indent="0" marL="0">
              <a:buNone/>
            </a:pPr>
            <a:r>
              <a:rPr lang="en-US" sz="1500" dirty="0">
                <a:solidFill>
                  <a:schemeClr val="tx1"/>
                </a:solidFill>
              </a:rPr>
              <a:t>+288</a:t>
            </a:r>
            <a:endParaRPr lang="en-US" sz="1500" dirty="0"/>
          </a:p>
        </p:txBody>
      </p:sp>
      <p:sp>
        <p:nvSpPr>
          <p:cNvPr id="12" name="Text 8"/>
          <p:cNvSpPr txBox="1"/>
          <p:nvPr/>
        </p:nvSpPr>
        <p:spPr>
          <a:xfrm>
            <a:off x="8046720" y="2788920"/>
            <a:ext cx="2286000" cy="365760"/>
          </a:xfrm>
          <a:prstGeom prst="rect">
            <a:avLst/>
          </a:prstGeom>
          <a:noFill/>
          <a:ln/>
        </p:spPr>
        <p:txBody>
          <a:bodyPr wrap="square" lIns="0" tIns="0" rIns="0" bIns="0" rtlCol="0" anchor="ctr"/>
          <a:lstStyle/>
          <a:p>
            <a:pPr indent="0" marL="0">
              <a:buNone/>
            </a:pPr>
            <a:r>
              <a:rPr lang="en-US" sz="1500" dirty="0">
                <a:solidFill>
                  <a:schemeClr val="tx1"/>
                </a:solidFill>
              </a:rPr>
              <a:t>+ Upwind fires</a:t>
            </a:r>
            <a:endParaRPr lang="en-US" sz="1500" dirty="0"/>
          </a:p>
        </p:txBody>
      </p:sp>
      <p:sp>
        <p:nvSpPr>
          <p:cNvPr id="13" name="Text 9"/>
          <p:cNvSpPr txBox="1"/>
          <p:nvPr/>
        </p:nvSpPr>
        <p:spPr>
          <a:xfrm>
            <a:off x="10332720" y="2788920"/>
            <a:ext cx="1051560" cy="365760"/>
          </a:xfrm>
          <a:prstGeom prst="rect">
            <a:avLst/>
          </a:prstGeom>
          <a:noFill/>
          <a:ln/>
        </p:spPr>
        <p:txBody>
          <a:bodyPr wrap="square" lIns="0" tIns="0" rIns="0" bIns="0" rtlCol="0" anchor="ctr"/>
          <a:lstStyle/>
          <a:p>
            <a:pPr algn="r" indent="0" marL="0">
              <a:buNone/>
            </a:pPr>
            <a:r>
              <a:rPr lang="en-US" sz="1500" dirty="0">
                <a:solidFill>
                  <a:schemeClr val="tx1"/>
                </a:solidFill>
              </a:rPr>
              <a:t>+12</a:t>
            </a:r>
            <a:endParaRPr lang="en-US" sz="1500" dirty="0"/>
          </a:p>
        </p:txBody>
      </p:sp>
      <p:sp>
        <p:nvSpPr>
          <p:cNvPr id="14" name="Text 10"/>
          <p:cNvSpPr txBox="1"/>
          <p:nvPr/>
        </p:nvSpPr>
        <p:spPr>
          <a:xfrm>
            <a:off x="8046720" y="3200400"/>
            <a:ext cx="2286000" cy="365760"/>
          </a:xfrm>
          <a:prstGeom prst="rect">
            <a:avLst/>
          </a:prstGeom>
          <a:noFill/>
          <a:ln/>
        </p:spPr>
        <p:txBody>
          <a:bodyPr wrap="square" lIns="0" tIns="0" rIns="0" bIns="0" rtlCol="0" anchor="ctr"/>
          <a:lstStyle/>
          <a:p>
            <a:pPr indent="0" marL="0">
              <a:buNone/>
            </a:pPr>
            <a:r>
              <a:rPr lang="en-US" sz="1500" dirty="0">
                <a:solidFill>
                  <a:schemeClr val="tx1"/>
                </a:solidFill>
              </a:rPr>
              <a:t>+ Weather</a:t>
            </a:r>
            <a:endParaRPr lang="en-US" sz="1500" dirty="0"/>
          </a:p>
        </p:txBody>
      </p:sp>
      <p:sp>
        <p:nvSpPr>
          <p:cNvPr id="15" name="Text 11"/>
          <p:cNvSpPr txBox="1"/>
          <p:nvPr/>
        </p:nvSpPr>
        <p:spPr>
          <a:xfrm>
            <a:off x="10332720" y="3200400"/>
            <a:ext cx="1051560" cy="365760"/>
          </a:xfrm>
          <a:prstGeom prst="rect">
            <a:avLst/>
          </a:prstGeom>
          <a:noFill/>
          <a:ln/>
        </p:spPr>
        <p:txBody>
          <a:bodyPr wrap="square" lIns="0" tIns="0" rIns="0" bIns="0" rtlCol="0" anchor="ctr"/>
          <a:lstStyle/>
          <a:p>
            <a:pPr algn="r" indent="0" marL="0">
              <a:buNone/>
            </a:pPr>
            <a:r>
              <a:rPr lang="en-US" sz="1500" dirty="0">
                <a:solidFill>
                  <a:schemeClr val="tx1"/>
                </a:solidFill>
              </a:rPr>
              <a:t>+8</a:t>
            </a:r>
            <a:endParaRPr lang="en-US" sz="1500" dirty="0"/>
          </a:p>
        </p:txBody>
      </p:sp>
      <p:sp>
        <p:nvSpPr>
          <p:cNvPr id="16" name="Text 12"/>
          <p:cNvSpPr txBox="1"/>
          <p:nvPr/>
        </p:nvSpPr>
        <p:spPr>
          <a:xfrm>
            <a:off x="8046720" y="3611880"/>
            <a:ext cx="2286000" cy="365760"/>
          </a:xfrm>
          <a:prstGeom prst="rect">
            <a:avLst/>
          </a:prstGeom>
          <a:noFill/>
          <a:ln/>
        </p:spPr>
        <p:txBody>
          <a:bodyPr wrap="square" lIns="0" tIns="0" rIns="0" bIns="0" rtlCol="0" anchor="ctr"/>
          <a:lstStyle/>
          <a:p>
            <a:pPr indent="0" marL="0">
              <a:buNone/>
            </a:pPr>
            <a:r>
              <a:rPr lang="en-US" sz="1500" dirty="0">
                <a:solidFill>
                  <a:schemeClr val="tx1"/>
                </a:solidFill>
              </a:rPr>
              <a:t>+ Calendar</a:t>
            </a:r>
            <a:endParaRPr lang="en-US" sz="1500" dirty="0"/>
          </a:p>
        </p:txBody>
      </p:sp>
      <p:sp>
        <p:nvSpPr>
          <p:cNvPr id="17" name="Text 13"/>
          <p:cNvSpPr txBox="1"/>
          <p:nvPr/>
        </p:nvSpPr>
        <p:spPr>
          <a:xfrm>
            <a:off x="10332720" y="3611880"/>
            <a:ext cx="1051560" cy="365760"/>
          </a:xfrm>
          <a:prstGeom prst="rect">
            <a:avLst/>
          </a:prstGeom>
          <a:noFill/>
          <a:ln/>
        </p:spPr>
        <p:txBody>
          <a:bodyPr wrap="square" lIns="0" tIns="0" rIns="0" bIns="0" rtlCol="0" anchor="ctr"/>
          <a:lstStyle/>
          <a:p>
            <a:pPr algn="r" indent="0" marL="0">
              <a:buNone/>
            </a:pPr>
            <a:r>
              <a:rPr lang="en-US" sz="1500" dirty="0">
                <a:solidFill>
                  <a:schemeClr val="tx1"/>
                </a:solidFill>
              </a:rPr>
              <a:t>+8</a:t>
            </a:r>
            <a:endParaRPr lang="en-US" sz="1500" dirty="0"/>
          </a:p>
        </p:txBody>
      </p:sp>
      <p:sp>
        <p:nvSpPr>
          <p:cNvPr id="18" name="sum rule"/>
          <p:cNvSpPr/>
          <p:nvPr/>
        </p:nvSpPr>
        <p:spPr>
          <a:xfrm>
            <a:off x="8046720" y="4069080"/>
            <a:ext cx="3337560" cy="0"/>
          </a:xfrm>
          <a:prstGeom prst="line">
            <a:avLst/>
          </a:prstGeom>
          <a:noFill/>
          <a:ln w="12700">
            <a:solidFill>
              <a:srgbClr val="C3C2B7"/>
            </a:solidFill>
            <a:prstDash val="solid"/>
          </a:ln>
        </p:spPr>
      </p:sp>
      <p:sp>
        <p:nvSpPr>
          <p:cNvPr id="19" name="Text 15"/>
          <p:cNvSpPr txBox="1"/>
          <p:nvPr/>
        </p:nvSpPr>
        <p:spPr>
          <a:xfrm>
            <a:off x="8046720" y="4160520"/>
            <a:ext cx="2286000" cy="411480"/>
          </a:xfrm>
          <a:prstGeom prst="rect">
            <a:avLst/>
          </a:prstGeom>
          <a:noFill/>
          <a:ln/>
        </p:spPr>
        <p:txBody>
          <a:bodyPr wrap="square" lIns="0" tIns="0" rIns="0" bIns="0" rtlCol="0" anchor="ctr"/>
          <a:lstStyle/>
          <a:p>
            <a:pPr indent="0" marL="0">
              <a:buNone/>
            </a:pPr>
            <a:r>
              <a:rPr lang="en-US" sz="1600" b="1" dirty="0">
                <a:solidFill>
                  <a:schemeClr val="tx1"/>
                </a:solidFill>
              </a:rPr>
              <a:t>= Forecast</a:t>
            </a:r>
            <a:endParaRPr lang="en-US" sz="1600" dirty="0"/>
          </a:p>
        </p:txBody>
      </p:sp>
      <p:sp>
        <p:nvSpPr>
          <p:cNvPr id="20" name="Text 16"/>
          <p:cNvSpPr txBox="1"/>
          <p:nvPr/>
        </p:nvSpPr>
        <p:spPr>
          <a:xfrm>
            <a:off x="9692640" y="4160520"/>
            <a:ext cx="1691640" cy="411480"/>
          </a:xfrm>
          <a:prstGeom prst="rect">
            <a:avLst/>
          </a:prstGeom>
          <a:noFill/>
          <a:ln/>
        </p:spPr>
        <p:txBody>
          <a:bodyPr wrap="square" lIns="0" tIns="0" rIns="0" bIns="0" rtlCol="0" anchor="ctr"/>
          <a:lstStyle/>
          <a:p>
            <a:pPr algn="r" indent="0" marL="0">
              <a:buNone/>
            </a:pPr>
            <a:r>
              <a:rPr lang="en-US" sz="1600" b="1" dirty="0">
                <a:solidFill>
                  <a:schemeClr val="accent1"/>
                </a:solidFill>
              </a:rPr>
              <a:t>386 µg/m³</a:t>
            </a:r>
            <a:endParaRPr lang="en-US" sz="1600" dirty="0"/>
          </a:p>
        </p:txBody>
      </p:sp>
      <p:sp>
        <p:nvSpPr>
          <p:cNvPr id="21" name="Text 17"/>
          <p:cNvSpPr txBox="1"/>
          <p:nvPr/>
        </p:nvSpPr>
        <p:spPr>
          <a:xfrm>
            <a:off x="8046720" y="4709160"/>
            <a:ext cx="3337560" cy="1188720"/>
          </a:xfrm>
          <a:prstGeom prst="rect">
            <a:avLst/>
          </a:prstGeom>
          <a:noFill/>
          <a:ln/>
        </p:spPr>
        <p:txBody>
          <a:bodyPr wrap="square" lIns="0" tIns="0" rIns="0" bIns="0" rtlCol="0" anchor="t"/>
          <a:lstStyle/>
          <a:p>
            <a:pPr indent="0" marL="0">
              <a:buNone/>
            </a:pPr>
            <a:r>
              <a:rPr lang="en-US" sz="1400" dirty="0">
                <a:solidFill>
                  <a:schemeClr val="accent6"/>
                </a:solidFill>
              </a:rPr>
              <a:t>Observed: 510. What-if: with no upwind fires the forecast drops to 340. SHAP is statistical attribution, not chemistry.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The dashboard: forecast, reasons and advice on one page</a:t>
            </a:r>
            <a:endParaRPr lang="en-US" sz="3000" dirty="0"/>
          </a:p>
        </p:txBody>
      </p:sp>
      <p:pic>
        <p:nvPicPr>
          <p:cNvPr id="3" name="Dashboard upper half: city tiles, risk map, 48-hour forecast" descr="Dashboard upper half: city tiles, risk map, 48-hour forecast">    </p:cNvPr>
          <p:cNvPicPr>
            <a:picLocks noChangeAspect="1"/>
          </p:cNvPicPr>
          <p:nvPr/>
        </p:nvPicPr>
        <p:blipFill>
          <a:blip r:embed="rId1"/>
          <a:stretch>
            <a:fillRect/>
          </a:stretch>
        </p:blipFill>
        <p:spPr>
          <a:xfrm>
            <a:off x="548640" y="1280160"/>
            <a:ext cx="5440680" cy="3627120"/>
          </a:xfrm>
          <a:prstGeom prst="rect">
            <a:avLst/>
          </a:prstGeom>
        </p:spPr>
      </p:pic>
      <p:pic>
        <p:nvPicPr>
          <p:cNvPr id="4" name="Dashboard lower half: SHAP drivers, what-if slider, bilingual advisory" descr="Dashboard lower half: SHAP drivers, what-if slider, bilingual advisory">    </p:cNvPr>
          <p:cNvPicPr>
            <a:picLocks noChangeAspect="1"/>
          </p:cNvPicPr>
          <p:nvPr/>
        </p:nvPicPr>
        <p:blipFill>
          <a:blip r:embed="rId2"/>
          <a:stretch>
            <a:fillRect/>
          </a:stretch>
        </p:blipFill>
        <p:spPr>
          <a:xfrm>
            <a:off x="6172200" y="1280160"/>
            <a:ext cx="5440680" cy="3627120"/>
          </a:xfrm>
          <a:prstGeom prst="rect">
            <a:avLst/>
          </a:prstGeom>
        </p:spPr>
      </p:pic>
      <p:sp>
        <p:nvSpPr>
          <p:cNvPr id="5" name="Text 1"/>
          <p:cNvSpPr txBox="1"/>
          <p:nvPr/>
        </p:nvSpPr>
        <p:spPr>
          <a:xfrm>
            <a:off x="548640" y="4983480"/>
            <a:ext cx="5440680" cy="685800"/>
          </a:xfrm>
          <a:prstGeom prst="rect">
            <a:avLst/>
          </a:prstGeom>
          <a:noFill/>
          <a:ln/>
        </p:spPr>
        <p:txBody>
          <a:bodyPr wrap="square" lIns="0" tIns="0" rIns="0" bIns="0" rtlCol="0" anchor="t"/>
          <a:lstStyle/>
          <a:p>
            <a:pPr indent="0" marL="0">
              <a:buNone/>
            </a:pPr>
            <a:r>
              <a:rPr lang="en-US" sz="1300" dirty="0">
                <a:solidFill>
                  <a:schemeClr val="accent6"/>
                </a:solidFill>
              </a:rPr>
              <a:t>City tiles with AQI and hazard chance · risk map with shape-coded markers · 48-hour forecast with 80% band and what actually happened</a:t>
            </a:r>
            <a:endParaRPr lang="en-US" sz="1300" dirty="0"/>
          </a:p>
        </p:txBody>
      </p:sp>
      <p:sp>
        <p:nvSpPr>
          <p:cNvPr id="6" name="Text 2"/>
          <p:cNvSpPr txBox="1"/>
          <p:nvPr/>
        </p:nvSpPr>
        <p:spPr>
          <a:xfrm>
            <a:off x="6172200" y="4983480"/>
            <a:ext cx="5440680" cy="685800"/>
          </a:xfrm>
          <a:prstGeom prst="rect">
            <a:avLst/>
          </a:prstGeom>
          <a:noFill/>
          <a:ln/>
        </p:spPr>
        <p:txBody>
          <a:bodyPr wrap="square" lIns="0" tIns="0" rIns="0" bIns="0" rtlCol="0" anchor="t"/>
          <a:lstStyle/>
          <a:p>
            <a:pPr indent="0" marL="0">
              <a:buNone/>
            </a:pPr>
            <a:r>
              <a:rPr lang="en-US" sz="1300" dirty="0">
                <a:solidFill>
                  <a:schemeClr val="accent6"/>
                </a:solidFill>
              </a:rPr>
              <a:t>Why-this-forecast drivers · what-if fire slider · English and Urdu advisory with its source labelled</a:t>
            </a:r>
            <a:endParaRPr lang="en-US" sz="1300" dirty="0"/>
          </a:p>
        </p:txBody>
      </p:sp>
      <p:sp>
        <p:nvSpPr>
          <p:cNvPr id="7" name="live link box"/>
          <p:cNvSpPr/>
          <p:nvPr/>
        </p:nvSpPr>
        <p:spPr>
          <a:xfrm>
            <a:off x="548640" y="5715000"/>
            <a:ext cx="11064240" cy="502920"/>
          </a:xfrm>
          <a:prstGeom prst="roundRect">
            <a:avLst>
              <a:gd name="adj" fmla="val 14545"/>
            </a:avLst>
          </a:prstGeom>
          <a:solidFill>
            <a:schemeClr val="bg2"/>
          </a:solidFill>
          <a:ln/>
        </p:spPr>
      </p:sp>
      <p:sp>
        <p:nvSpPr>
          <p:cNvPr id="8" name="Text 4"/>
          <p:cNvSpPr txBox="1"/>
          <p:nvPr/>
        </p:nvSpPr>
        <p:spPr>
          <a:xfrm>
            <a:off x="777240" y="5715000"/>
            <a:ext cx="10607040" cy="502920"/>
          </a:xfrm>
          <a:prstGeom prst="rect">
            <a:avLst/>
          </a:prstGeom>
          <a:noFill/>
          <a:ln/>
        </p:spPr>
        <p:txBody>
          <a:bodyPr wrap="square" lIns="0" tIns="0" rIns="0" bIns="0" rtlCol="0" anchor="ctr"/>
          <a:lstStyle/>
          <a:p>
            <a:pPr indent="0" marL="0">
              <a:buNone/>
            </a:pPr>
            <a:r>
              <a:rPr lang="en-US" sz="1400" dirty="0">
                <a:solidFill>
                  <a:schemeClr val="tx1"/>
                </a:solidFill>
              </a:rPr>
              <a:t>Live dashboard URL (Streamlit Community Cloud): to be added after deployment  ·  Code: github.com/FarhanRajputFelix/saans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chemeClr val="tx1"/>
                </a:solidFill>
              </a:rPr>
              <a:t>What SAANS cannot claim yet</a:t>
            </a:r>
            <a:endParaRPr lang="en-US" sz="3000" dirty="0"/>
          </a:p>
        </p:txBody>
      </p:sp>
      <p:sp>
        <p:nvSpPr>
          <p:cNvPr id="3" name="limitation 1"/>
          <p:cNvSpPr/>
          <p:nvPr/>
        </p:nvSpPr>
        <p:spPr>
          <a:xfrm>
            <a:off x="548640" y="1325880"/>
            <a:ext cx="3474720" cy="2148840"/>
          </a:xfrm>
          <a:prstGeom prst="roundRect">
            <a:avLst>
              <a:gd name="adj" fmla="val 3404"/>
            </a:avLst>
          </a:prstGeom>
          <a:solidFill>
            <a:schemeClr val="bg2"/>
          </a:solidFill>
          <a:ln/>
        </p:spPr>
      </p:sp>
      <p:sp>
        <p:nvSpPr>
          <p:cNvPr id="4" name="circle 1"/>
          <p:cNvSpPr/>
          <p:nvPr/>
        </p:nvSpPr>
        <p:spPr>
          <a:xfrm>
            <a:off x="822960" y="1600200"/>
            <a:ext cx="411480" cy="411480"/>
          </a:xfrm>
          <a:prstGeom prst="ellipse">
            <a:avLst/>
          </a:prstGeom>
          <a:solidFill>
            <a:schemeClr val="accent6"/>
          </a:solidFill>
          <a:ln/>
        </p:spPr>
      </p:sp>
      <p:sp>
        <p:nvSpPr>
          <p:cNvPr id="5" name="Text 3"/>
          <p:cNvSpPr txBox="1"/>
          <p:nvPr/>
        </p:nvSpPr>
        <p:spPr>
          <a:xfrm>
            <a:off x="822960" y="16002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55448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Statistical, not chemical</a:t>
            </a:r>
            <a:endParaRPr lang="en-US" sz="1600" dirty="0"/>
          </a:p>
        </p:txBody>
      </p:sp>
      <p:sp>
        <p:nvSpPr>
          <p:cNvPr id="7" name="Text 5"/>
          <p:cNvSpPr txBox="1"/>
          <p:nvPr/>
        </p:nvSpPr>
        <p:spPr>
          <a:xfrm>
            <a:off x="822960" y="2240280"/>
            <a:ext cx="2971800" cy="1143000"/>
          </a:xfrm>
          <a:prstGeom prst="rect">
            <a:avLst/>
          </a:prstGeom>
          <a:noFill/>
          <a:ln/>
        </p:spPr>
        <p:txBody>
          <a:bodyPr wrap="square" lIns="0" tIns="0" rIns="0" bIns="0" rtlCol="0" anchor="t"/>
          <a:lstStyle/>
          <a:p>
            <a:pPr indent="0" marL="0">
              <a:buNone/>
            </a:pPr>
            <a:r>
              <a:rPr lang="en-US" sz="1400" dirty="0">
                <a:solidFill>
                  <a:schemeClr val="tx1"/>
                </a:solidFill>
              </a:rPr>
              <a:t>SHAP shows what the model relied on, not measured emission sources.</a:t>
            </a:r>
            <a:endParaRPr lang="en-US" sz="1400" dirty="0"/>
          </a:p>
        </p:txBody>
      </p:sp>
      <p:sp>
        <p:nvSpPr>
          <p:cNvPr id="8" name="limitation 2"/>
          <p:cNvSpPr/>
          <p:nvPr/>
        </p:nvSpPr>
        <p:spPr>
          <a:xfrm>
            <a:off x="4297680" y="1325880"/>
            <a:ext cx="3474720" cy="2148840"/>
          </a:xfrm>
          <a:prstGeom prst="roundRect">
            <a:avLst>
              <a:gd name="adj" fmla="val 3404"/>
            </a:avLst>
          </a:prstGeom>
          <a:solidFill>
            <a:schemeClr val="bg2"/>
          </a:solidFill>
          <a:ln/>
        </p:spPr>
      </p:sp>
      <p:sp>
        <p:nvSpPr>
          <p:cNvPr id="9" name="circle 2"/>
          <p:cNvSpPr/>
          <p:nvPr/>
        </p:nvSpPr>
        <p:spPr>
          <a:xfrm>
            <a:off x="4572000" y="1600200"/>
            <a:ext cx="411480" cy="411480"/>
          </a:xfrm>
          <a:prstGeom prst="ellipse">
            <a:avLst/>
          </a:prstGeom>
          <a:solidFill>
            <a:schemeClr val="accent6"/>
          </a:solidFill>
          <a:ln/>
        </p:spPr>
      </p:sp>
      <p:sp>
        <p:nvSpPr>
          <p:cNvPr id="10" name="Text 8"/>
          <p:cNvSpPr txBox="1"/>
          <p:nvPr/>
        </p:nvSpPr>
        <p:spPr>
          <a:xfrm>
            <a:off x="4572000" y="16002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120640" y="155448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Losing a reference monitor hurts</a:t>
            </a:r>
            <a:endParaRPr lang="en-US" sz="1600" dirty="0"/>
          </a:p>
        </p:txBody>
      </p:sp>
      <p:sp>
        <p:nvSpPr>
          <p:cNvPr id="12" name="Text 10"/>
          <p:cNvSpPr txBox="1"/>
          <p:nvPr/>
        </p:nvSpPr>
        <p:spPr>
          <a:xfrm>
            <a:off x="4572000" y="2240280"/>
            <a:ext cx="2971800" cy="1143000"/>
          </a:xfrm>
          <a:prstGeom prst="rect">
            <a:avLst/>
          </a:prstGeom>
          <a:noFill/>
          <a:ln/>
        </p:spPr>
        <p:txBody>
          <a:bodyPr wrap="square" lIns="0" tIns="0" rIns="0" bIns="0" rtlCol="0" anchor="t"/>
          <a:lstStyle/>
          <a:p>
            <a:pPr indent="0" marL="0">
              <a:buNone/>
            </a:pPr>
            <a:r>
              <a:rPr lang="en-US" sz="1400" dirty="0">
                <a:solidFill>
                  <a:schemeClr val="tx1"/>
                </a:solidFill>
              </a:rPr>
              <a:t>Lahore 2025-26 runs 26 µg/m³ high; Clarity reads about 32% low.</a:t>
            </a:r>
            <a:endParaRPr lang="en-US" sz="1400" dirty="0"/>
          </a:p>
        </p:txBody>
      </p:sp>
      <p:sp>
        <p:nvSpPr>
          <p:cNvPr id="13" name="limitation 3"/>
          <p:cNvSpPr/>
          <p:nvPr/>
        </p:nvSpPr>
        <p:spPr>
          <a:xfrm>
            <a:off x="8046720" y="1325880"/>
            <a:ext cx="3474720" cy="2148840"/>
          </a:xfrm>
          <a:prstGeom prst="roundRect">
            <a:avLst>
              <a:gd name="adj" fmla="val 3404"/>
            </a:avLst>
          </a:prstGeom>
          <a:solidFill>
            <a:schemeClr val="bg2"/>
          </a:solidFill>
          <a:ln/>
        </p:spPr>
      </p:sp>
      <p:sp>
        <p:nvSpPr>
          <p:cNvPr id="14" name="circle 3"/>
          <p:cNvSpPr/>
          <p:nvPr/>
        </p:nvSpPr>
        <p:spPr>
          <a:xfrm>
            <a:off x="8321040" y="1600200"/>
            <a:ext cx="411480" cy="411480"/>
          </a:xfrm>
          <a:prstGeom prst="ellipse">
            <a:avLst/>
          </a:prstGeom>
          <a:solidFill>
            <a:schemeClr val="accent6"/>
          </a:solidFill>
          <a:ln/>
        </p:spPr>
      </p:sp>
      <p:sp>
        <p:nvSpPr>
          <p:cNvPr id="15" name="Text 13"/>
          <p:cNvSpPr txBox="1"/>
          <p:nvPr/>
        </p:nvSpPr>
        <p:spPr>
          <a:xfrm>
            <a:off x="8321040" y="16002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869680" y="155448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What-if is not monotonic</a:t>
            </a:r>
            <a:endParaRPr lang="en-US" sz="1600" dirty="0"/>
          </a:p>
        </p:txBody>
      </p:sp>
      <p:sp>
        <p:nvSpPr>
          <p:cNvPr id="17" name="Text 15"/>
          <p:cNvSpPr txBox="1"/>
          <p:nvPr/>
        </p:nvSpPr>
        <p:spPr>
          <a:xfrm>
            <a:off x="8321040" y="2240280"/>
            <a:ext cx="2971800" cy="1143000"/>
          </a:xfrm>
          <a:prstGeom prst="rect">
            <a:avLst/>
          </a:prstGeom>
          <a:noFill/>
          <a:ln/>
        </p:spPr>
        <p:txBody>
          <a:bodyPr wrap="square" lIns="0" tIns="0" rIns="0" bIns="0" rtlCol="0" anchor="t"/>
          <a:lstStyle/>
          <a:p>
            <a:pPr indent="0" marL="0">
              <a:buNone/>
            </a:pPr>
            <a:r>
              <a:rPr lang="en-US" sz="1400" dirty="0">
                <a:solidFill>
                  <a:schemeClr val="tx1"/>
                </a:solidFill>
              </a:rPr>
              <a:t>Multan 2025-26: removing all fires raised one forecast by 5 µg/m³. Fix: monotone constraints.</a:t>
            </a:r>
            <a:endParaRPr lang="en-US" sz="1400" dirty="0"/>
          </a:p>
        </p:txBody>
      </p:sp>
      <p:sp>
        <p:nvSpPr>
          <p:cNvPr id="18" name="limitation 4"/>
          <p:cNvSpPr/>
          <p:nvPr/>
        </p:nvSpPr>
        <p:spPr>
          <a:xfrm>
            <a:off x="548640" y="3703320"/>
            <a:ext cx="3474720" cy="2148840"/>
          </a:xfrm>
          <a:prstGeom prst="roundRect">
            <a:avLst>
              <a:gd name="adj" fmla="val 3404"/>
            </a:avLst>
          </a:prstGeom>
          <a:solidFill>
            <a:schemeClr val="bg2"/>
          </a:solidFill>
          <a:ln/>
        </p:spPr>
      </p:sp>
      <p:sp>
        <p:nvSpPr>
          <p:cNvPr id="19" name="circle 4"/>
          <p:cNvSpPr/>
          <p:nvPr/>
        </p:nvSpPr>
        <p:spPr>
          <a:xfrm>
            <a:off x="822960" y="3977640"/>
            <a:ext cx="411480" cy="411480"/>
          </a:xfrm>
          <a:prstGeom prst="ellipse">
            <a:avLst/>
          </a:prstGeom>
          <a:solidFill>
            <a:schemeClr val="accent6"/>
          </a:solidFill>
          <a:ln/>
        </p:spPr>
      </p:sp>
      <p:sp>
        <p:nvSpPr>
          <p:cNvPr id="20" name="Text 18"/>
          <p:cNvSpPr txBox="1"/>
          <p:nvPr/>
        </p:nvSpPr>
        <p:spPr>
          <a:xfrm>
            <a:off x="822960" y="39776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1371600" y="393192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Thin data in two cities</a:t>
            </a:r>
            <a:endParaRPr lang="en-US" sz="1600" dirty="0"/>
          </a:p>
        </p:txBody>
      </p:sp>
      <p:sp>
        <p:nvSpPr>
          <p:cNvPr id="22" name="Text 20"/>
          <p:cNvSpPr txBox="1"/>
          <p:nvPr/>
        </p:nvSpPr>
        <p:spPr>
          <a:xfrm>
            <a:off x="822960" y="4617720"/>
            <a:ext cx="2971800" cy="1143000"/>
          </a:xfrm>
          <a:prstGeom prst="rect">
            <a:avLst/>
          </a:prstGeom>
          <a:noFill/>
          <a:ln/>
        </p:spPr>
        <p:txBody>
          <a:bodyPr wrap="square" lIns="0" tIns="0" rIns="0" bIns="0" rtlCol="0" anchor="t"/>
          <a:lstStyle/>
          <a:p>
            <a:pPr indent="0" marL="0">
              <a:buNone/>
            </a:pPr>
            <a:r>
              <a:rPr lang="en-US" sz="1400" dirty="0">
                <a:solidFill>
                  <a:schemeClr val="tx1"/>
                </a:solidFill>
              </a:rPr>
              <a:t>Faisalabad and Multan: one season, low-cost sensors only, no reference.</a:t>
            </a:r>
            <a:endParaRPr lang="en-US" sz="1400" dirty="0"/>
          </a:p>
        </p:txBody>
      </p:sp>
      <p:sp>
        <p:nvSpPr>
          <p:cNvPr id="23" name="limitation 5"/>
          <p:cNvSpPr/>
          <p:nvPr/>
        </p:nvSpPr>
        <p:spPr>
          <a:xfrm>
            <a:off x="4297680" y="3703320"/>
            <a:ext cx="3474720" cy="2148840"/>
          </a:xfrm>
          <a:prstGeom prst="roundRect">
            <a:avLst>
              <a:gd name="adj" fmla="val 3404"/>
            </a:avLst>
          </a:prstGeom>
          <a:solidFill>
            <a:schemeClr val="bg2"/>
          </a:solidFill>
          <a:ln/>
        </p:spPr>
      </p:sp>
      <p:sp>
        <p:nvSpPr>
          <p:cNvPr id="24" name="circle 5"/>
          <p:cNvSpPr/>
          <p:nvPr/>
        </p:nvSpPr>
        <p:spPr>
          <a:xfrm>
            <a:off x="4572000" y="3977640"/>
            <a:ext cx="411480" cy="411480"/>
          </a:xfrm>
          <a:prstGeom prst="ellipse">
            <a:avLst/>
          </a:prstGeom>
          <a:solidFill>
            <a:schemeClr val="accent6"/>
          </a:solidFill>
          <a:ln/>
        </p:spPr>
      </p:sp>
      <p:sp>
        <p:nvSpPr>
          <p:cNvPr id="25" name="Text 23"/>
          <p:cNvSpPr txBox="1"/>
          <p:nvPr/>
        </p:nvSpPr>
        <p:spPr>
          <a:xfrm>
            <a:off x="4572000" y="39776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5120640" y="393192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Coarse weather, no forecast inputs</a:t>
            </a:r>
            <a:endParaRPr lang="en-US" sz="1600" dirty="0"/>
          </a:p>
        </p:txBody>
      </p:sp>
      <p:sp>
        <p:nvSpPr>
          <p:cNvPr id="27" name="Text 25"/>
          <p:cNvSpPr txBox="1"/>
          <p:nvPr/>
        </p:nvSpPr>
        <p:spPr>
          <a:xfrm>
            <a:off x="4572000" y="4617720"/>
            <a:ext cx="2971800" cy="1143000"/>
          </a:xfrm>
          <a:prstGeom prst="rect">
            <a:avLst/>
          </a:prstGeom>
          <a:noFill/>
          <a:ln/>
        </p:spPr>
        <p:txBody>
          <a:bodyPr wrap="square" lIns="0" tIns="0" rIns="0" bIns="0" rtlCol="0" anchor="t"/>
          <a:lstStyle/>
          <a:p>
            <a:pPr indent="0" marL="0">
              <a:buNone/>
            </a:pPr>
            <a:r>
              <a:rPr lang="en-US" sz="1400" dirty="0">
                <a:solidFill>
                  <a:schemeClr val="tx1"/>
                </a:solidFill>
              </a:rPr>
              <a:t>ERA5 is a 25 km grid; BLH for Jan-Jun 2024 is imputed; no NWP inputs.</a:t>
            </a:r>
            <a:endParaRPr lang="en-US" sz="1400" dirty="0"/>
          </a:p>
        </p:txBody>
      </p:sp>
      <p:sp>
        <p:nvSpPr>
          <p:cNvPr id="28" name="limitation 6"/>
          <p:cNvSpPr/>
          <p:nvPr/>
        </p:nvSpPr>
        <p:spPr>
          <a:xfrm>
            <a:off x="8046720" y="3703320"/>
            <a:ext cx="3474720" cy="2148840"/>
          </a:xfrm>
          <a:prstGeom prst="roundRect">
            <a:avLst>
              <a:gd name="adj" fmla="val 3404"/>
            </a:avLst>
          </a:prstGeom>
          <a:solidFill>
            <a:schemeClr val="bg2"/>
          </a:solidFill>
          <a:ln/>
        </p:spPr>
      </p:sp>
      <p:sp>
        <p:nvSpPr>
          <p:cNvPr id="29" name="circle 6"/>
          <p:cNvSpPr/>
          <p:nvPr/>
        </p:nvSpPr>
        <p:spPr>
          <a:xfrm>
            <a:off x="8321040" y="3977640"/>
            <a:ext cx="411480" cy="411480"/>
          </a:xfrm>
          <a:prstGeom prst="ellipse">
            <a:avLst/>
          </a:prstGeom>
          <a:solidFill>
            <a:schemeClr val="accent6"/>
          </a:solidFill>
          <a:ln/>
        </p:spPr>
      </p:sp>
      <p:sp>
        <p:nvSpPr>
          <p:cNvPr id="30" name="Text 28"/>
          <p:cNvSpPr txBox="1"/>
          <p:nvPr/>
        </p:nvSpPr>
        <p:spPr>
          <a:xfrm>
            <a:off x="8321040" y="39776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8869680" y="3931920"/>
            <a:ext cx="2468880" cy="548640"/>
          </a:xfrm>
          <a:prstGeom prst="rect">
            <a:avLst/>
          </a:prstGeom>
          <a:noFill/>
          <a:ln/>
        </p:spPr>
        <p:txBody>
          <a:bodyPr wrap="square" lIns="0" tIns="0" rIns="0" bIns="0" rtlCol="0" anchor="ctr"/>
          <a:lstStyle/>
          <a:p>
            <a:pPr indent="0" marL="0">
              <a:buNone/>
            </a:pPr>
            <a:r>
              <a:rPr lang="en-US" sz="1600" b="1" dirty="0">
                <a:solidFill>
                  <a:schemeClr val="tx1"/>
                </a:solidFill>
              </a:rPr>
              <a:t>Noisy event calendar</a:t>
            </a:r>
            <a:endParaRPr lang="en-US" sz="1600" dirty="0"/>
          </a:p>
        </p:txBody>
      </p:sp>
      <p:sp>
        <p:nvSpPr>
          <p:cNvPr id="32" name="Text 30"/>
          <p:cNvSpPr txBox="1"/>
          <p:nvPr/>
        </p:nvSpPr>
        <p:spPr>
          <a:xfrm>
            <a:off x="8321040" y="4617720"/>
            <a:ext cx="2971800" cy="1143000"/>
          </a:xfrm>
          <a:prstGeom prst="rect">
            <a:avLst/>
          </a:prstGeom>
          <a:noFill/>
          <a:ln/>
        </p:spPr>
        <p:txBody>
          <a:bodyPr wrap="square" lIns="0" tIns="0" rIns="0" bIns="0" rtlCol="0" anchor="t"/>
          <a:lstStyle/>
          <a:p>
            <a:pPr indent="0" marL="0">
              <a:buNone/>
            </a:pPr>
            <a:r>
              <a:rPr lang="en-US" sz="1400" dirty="0">
                <a:solidFill>
                  <a:schemeClr val="tx1"/>
                </a:solidFill>
              </a:rPr>
              <a:t>65% strict accuracy; misses on headlines that lift or end a measure.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914400"/>
          </a:xfrm>
          <a:prstGeom prst="rect">
            <a:avLst/>
          </a:prstGeom>
          <a:noFill/>
          <a:ln/>
        </p:spPr>
        <p:txBody>
          <a:bodyPr wrap="square" lIns="0" tIns="0" rIns="0" bIns="0" rtlCol="0" anchor="ctr"/>
          <a:lstStyle/>
          <a:p>
            <a:pPr indent="0" marL="0">
              <a:buNone/>
            </a:pPr>
            <a:r>
              <a:rPr lang="en-US" sz="4000" b="1" dirty="0">
                <a:solidFill>
                  <a:schemeClr val="bg1"/>
                </a:solidFill>
              </a:rPr>
              <a:t>Conclusion and next steps</a:t>
            </a:r>
            <a:endParaRPr lang="en-US" sz="4000" dirty="0"/>
          </a:p>
        </p:txBody>
      </p:sp>
      <p:sp>
        <p:nvSpPr>
          <p:cNvPr id="3" name="Text 1"/>
          <p:cNvSpPr txBox="1"/>
          <p:nvPr/>
        </p:nvSpPr>
        <p:spPr>
          <a:xfrm>
            <a:off x="640080" y="1737360"/>
            <a:ext cx="5577840" cy="329184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bg1"/>
                </a:solidFill>
              </a:rPr>
              <a:t>Free data can forecast city smog a day ahead: 14% better than persistence in the record season.</a:t>
            </a:r>
            <a:endParaRPr lang="en-US" sz="1800" dirty="0"/>
          </a:p>
          <a:p>
            <a:pPr marL="342900" indent="-342900">
              <a:spcAft>
                <a:spcPts val="1400"/>
              </a:spcAft>
              <a:buSzPct val="100000"/>
              <a:buChar char="•"/>
            </a:pPr>
            <a:r>
              <a:rPr lang="en-US" sz="1800" dirty="0">
                <a:solidFill>
                  <a:schemeClr val="bg1"/>
                </a:solidFill>
              </a:rPr>
              <a:t>Warnings catch 92% of hazardous periods, and the model transfers to two unseen cities.</a:t>
            </a:r>
            <a:endParaRPr lang="en-US" sz="1800" dirty="0"/>
          </a:p>
          <a:p>
            <a:pPr marL="342900" indent="-342900">
              <a:spcAft>
                <a:spcPts val="1400"/>
              </a:spcAft>
              <a:buSzPct val="100000"/>
              <a:buChar char="•"/>
            </a:pPr>
            <a:r>
              <a:rPr lang="en-US" sz="1800" dirty="0">
                <a:solidFill>
                  <a:schemeClr val="bg1"/>
                </a:solidFill>
              </a:rPr>
              <a:t>Careful cleaning changed the results: four silent errors caught, logged and fixed.</a:t>
            </a:r>
            <a:endParaRPr lang="en-US" sz="1800" dirty="0"/>
          </a:p>
        </p:txBody>
      </p:sp>
      <p:sp>
        <p:nvSpPr>
          <p:cNvPr id="4" name="Text 2"/>
          <p:cNvSpPr txBox="1"/>
          <p:nvPr/>
        </p:nvSpPr>
        <p:spPr>
          <a:xfrm>
            <a:off x="6766560" y="1737360"/>
            <a:ext cx="4754880" cy="4572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Next</a:t>
            </a:r>
            <a:endParaRPr lang="en-US" sz="2200" dirty="0"/>
          </a:p>
        </p:txBody>
      </p:sp>
      <p:sp>
        <p:nvSpPr>
          <p:cNvPr id="5" name="Text 3"/>
          <p:cNvSpPr txBox="1"/>
          <p:nvPr/>
        </p:nvSpPr>
        <p:spPr>
          <a:xfrm>
            <a:off x="6766560" y="2286000"/>
            <a:ext cx="475488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2"/>
                </a:solidFill>
              </a:rPr>
              <a:t>Calibrate low-cost networks, Lahore first</a:t>
            </a:r>
            <a:endParaRPr lang="en-US" sz="1600" dirty="0"/>
          </a:p>
          <a:p>
            <a:pPr marL="342900" indent="-342900">
              <a:spcAft>
                <a:spcPts val="800"/>
              </a:spcAft>
              <a:buSzPct val="100000"/>
              <a:buChar char="•"/>
            </a:pPr>
            <a:r>
              <a:rPr lang="en-US" sz="1600" dirty="0">
                <a:solidFill>
                  <a:schemeClr val="bg2"/>
                </a:solidFill>
              </a:rPr>
              <a:t>Feed weather forecasts into the models</a:t>
            </a:r>
            <a:endParaRPr lang="en-US" sz="1600" dirty="0"/>
          </a:p>
          <a:p>
            <a:pPr marL="342900" indent="-342900">
              <a:spcAft>
                <a:spcPts val="800"/>
              </a:spcAft>
              <a:buSzPct val="100000"/>
              <a:buChar char="•"/>
            </a:pPr>
            <a:r>
              <a:rPr lang="en-US" sz="1600" dirty="0">
                <a:solidFill>
                  <a:schemeClr val="bg2"/>
                </a:solidFill>
              </a:rPr>
              <a:t>Monotone constraints on the fire features</a:t>
            </a:r>
            <a:endParaRPr lang="en-US" sz="1600" dirty="0"/>
          </a:p>
          <a:p>
            <a:pPr marL="342900" indent="-342900">
              <a:spcAft>
                <a:spcPts val="800"/>
              </a:spcAft>
              <a:buSzPct val="100000"/>
              <a:buChar char="•"/>
            </a:pPr>
            <a:r>
              <a:rPr lang="en-US" sz="1600" dirty="0">
                <a:solidFill>
                  <a:schemeClr val="bg2"/>
                </a:solidFill>
              </a:rPr>
              <a:t>Run live for the 2026-27 season</a:t>
            </a:r>
            <a:endParaRPr lang="en-US" sz="1600" dirty="0"/>
          </a:p>
          <a:p>
            <a:pPr marL="342900" indent="-342900">
              <a:spcAft>
                <a:spcPts val="800"/>
              </a:spcAft>
              <a:buSzPct val="100000"/>
              <a:buChar char="•"/>
            </a:pPr>
            <a:r>
              <a:rPr lang="en-US" sz="1600" dirty="0">
                <a:solidFill>
                  <a:schemeClr val="bg2"/>
                </a:solidFill>
              </a:rPr>
              <a:t>SMS alerts, Sentinel-5P, neighbourhood grid</a:t>
            </a:r>
            <a:endParaRPr lang="en-US" sz="1600" dirty="0"/>
          </a:p>
        </p:txBody>
      </p:sp>
      <p:sp>
        <p:nvSpPr>
          <p:cNvPr id="6" name="Text 4"/>
          <p:cNvSpPr txBox="1"/>
          <p:nvPr/>
        </p:nvSpPr>
        <p:spPr>
          <a:xfrm>
            <a:off x="640080" y="5760720"/>
            <a:ext cx="10881360" cy="457200"/>
          </a:xfrm>
          <a:prstGeom prst="rect">
            <a:avLst/>
          </a:prstGeom>
          <a:noFill/>
          <a:ln/>
        </p:spPr>
        <p:txBody>
          <a:bodyPr wrap="square" lIns="0" tIns="0" rIns="0" bIns="0" rtlCol="0" anchor="ctr"/>
          <a:lstStyle/>
          <a:p>
            <a:pPr indent="0" marL="0">
              <a:buNone/>
            </a:pPr>
            <a:r>
              <a:rPr lang="en-US" sz="1600" dirty="0">
                <a:solidFill>
                  <a:schemeClr val="bg2"/>
                </a:solidFill>
              </a:rPr>
              <a:t>github.com/FarhanRajputFelix/saans  ·  Thank you</a:t>
            </a:r>
            <a:endParaRPr lang="en-US" sz="1600" dirty="0"/>
          </a:p>
        </p:txBody>
      </p:sp>
    </p:spTree>
  </p:cSld>
  <p:clrMapOvr>
    <a:masterClrMapping/>
  </p:clrMapOvr>
</p:sld>
</file>

<file path=ppt/theme/theme1.xml><?xml version="1.0" encoding="utf-8"?>
<a:theme xmlns:a="http://schemas.openxmlformats.org/drawingml/2006/main" name="SAANS">
  <a:themeElements>
    <a:clrScheme name="SAANS">
      <a:dk1>
        <a:srgbClr val="0B0B0B"/>
      </a:dk1>
      <a:lt1>
        <a:srgbClr val="FCFCFB"/>
      </a:lt1>
      <a:dk2>
        <a:srgbClr val="16324F"/>
      </a:dk2>
      <a:lt2>
        <a:srgbClr val="EEF2F7"/>
      </a:lt2>
      <a:accent1>
        <a:srgbClr val="2A78D6"/>
      </a:accent1>
      <a:accent2>
        <a:srgbClr val="EB6834"/>
      </a:accent2>
      <a:accent3>
        <a:srgbClr val="1BAF7A"/>
      </a:accent3>
      <a:accent4>
        <a:srgbClr val="EDA100"/>
      </a:accent4>
      <a:accent5>
        <a:srgbClr val="D03B3B"/>
      </a:accent5>
      <a:accent6>
        <a:srgbClr val="52514E"/>
      </a:accent6>
      <a:hlink>
        <a:srgbClr val="2A78D6"/>
      </a:hlink>
      <a:folHlink>
        <a:srgbClr val="6250D6"/>
      </a:folHlink>
    </a:clrScheme>
    <a:fontScheme name="SAA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SAANS: AI Smog Forecasting and Source Attribution</dc:title>
  <dc:subject>PptxGenJS Presentation</dc:subject>
  <dc:creator>Farhan Bashir</dc:creator>
  <cp:lastModifiedBy>Farhan Bashir</cp:lastModifiedBy>
  <cp:revision>1</cp:revision>
  <dcterms:created xsi:type="dcterms:W3CDTF">2026-10-24T10:33:16Z</dcterms:created>
  <dcterms:modified xsi:type="dcterms:W3CDTF">2026-10-24T10:33:16Z</dcterms:modified>
</cp:coreProperties>
</file>