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18e853-34ac-62bd-234b-ac8c3f182d92}">
          <p14:sldIdLst>
            <p14:sldId id="256"/>
            <p14:sldId id="257"/>
            <p14:sldId id="258"/>
          </p14:sldIdLst>
        </p14:section>
        <p14:section name="Data" id="{a2f18e4f-5b69-3e81-21c3-44a2709d7e91}">
          <p14:sldIdLst>
            <p14:sldId id="259"/>
            <p14:sldId id="260"/>
            <p14:sldId id="261"/>
            <p14:sldId id="262"/>
          </p14:sldIdLst>
        </p14:section>
        <p14:section name="Method" id="{370ea3d0-cb0f-1d5c-9fab-1a73fef4f5b5}">
          <p14:sldIdLst>
            <p14:sldId id="263"/>
            <p14:sldId id="264"/>
            <p14:sldId id="265"/>
          </p14:sldIdLst>
        </p14:section>
        <p14:section name="Results" id="{196109c6-cc60-1f54-8613-c84150768ca3}">
          <p14:sldIdLst>
            <p14:sldId id="266"/>
            <p14:sldId id="267"/>
            <p14:sldId id="268"/>
          </p14:sldIdLst>
        </p14:section>
        <p14:section name="Product" id="{80255bb1-c965-ee0c-2c30-081a9645095a}">
          <p14:sldIdLst>
            <p14:sldId id="269"/>
            <p14:sldId id="270"/>
          </p14:sldIdLst>
        </p14:section>
        <p14:section name="Closing" id="{ead1e1d4-81e4-4c06-98bf-049f09a46c72}">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Events extracted, by type</a:t>
            </a:r>
          </a:p>
        </c:rich>
      </c:tx>
      <c:layout/>
      <c:overlay val="0"/>
    </c:title>
    <c:autoTitleDeleted val="0"/>
    <c:plotArea>
      <c:layout/>
      <c:barChart>
        <c:barDir val="bar"/>
        <c:grouping val="clustered"/>
        <c:varyColors val="0"/>
        <c:ser>
          <c:idx val="0"/>
          <c:order val="0"/>
          <c:tx>
            <c:strRef>
              <c:f>Sheet1!$B$1</c:f>
              <c:strCache>
                <c:ptCount val="1"/>
                <c:pt idx="0">
                  <c:v>Events</c:v>
                </c:pt>
              </c:strCache>
            </c:strRef>
          </c:tx>
          <c:spPr>
            <a:solidFill>
              <a:srgbClr val="2A78D6"/>
            </a:solidFill>
            <a:effectLst/>
          </c:spPr>
          <c:invertIfNegative val="0"/>
          <c:dLbls>
            <c:numFmt formatCode="#,##0" sourceLinked="0"/>
            <c:txPr>
              <a:bodyPr/>
              <a:lstStyle/>
              <a:p>
                <a:pPr>
                  <a:defRPr b="0" i="0" strike="noStrike" sz="1100" u="none">
                    <a:solidFill>
                      <a:srgbClr val="52514E"/>
                    </a:solidFill>
                    <a:latin typeface="+mn-lt"/>
                  </a:defRPr>
                </a:pPr>
              </a:p>
            </c:txPr>
            <c:showLegendKey val="0"/>
            <c:showVal val="1"/>
            <c:showCatName val="0"/>
            <c:showSerName val="0"/>
            <c:showPercent val="0"/>
            <c:showBubbleSize val="0"/>
            <c:showLeaderLines val="0"/>
          </c:dLbls>
          <c:cat>
            <c:multiLvlStrRef>
              <c:f>Sheet1!$A$2:$A$9</c:f>
              <c:multiLvlStrCache>
                <c:ptCount val="8"/>
                <c:lvl>
                  <c:pt idx="0">
                    <c:v>Crop-burning ban</c:v>
                  </c:pt>
                  <c:pt idx="1">
                    <c:v>Fireworks night</c:v>
                  </c:pt>
                  <c:pt idx="2">
                    <c:v>Smog emergency</c:v>
                  </c:pt>
                  <c:pt idx="3">
                    <c:v>Construction / industry ban</c:v>
                  </c:pt>
                  <c:pt idx="4">
                    <c:v>Lockdown / office closure</c:v>
                  </c:pt>
                  <c:pt idx="5">
                    <c:v>Traffic restriction</c:v>
                  </c:pt>
                  <c:pt idx="6">
                    <c:v>Other measure</c:v>
                  </c:pt>
                  <c:pt idx="7">
                    <c:v>School closure</c:v>
                  </c:pt>
                </c:lvl>
              </c:multiLvlStrCache>
            </c:multiLvlStrRef>
          </c:cat>
          <c:val>
            <c:numRef>
              <c:f>Sheet1!$B$2:$B$9</c:f>
              <c:numCache>
                <c:formatCode>General</c:formatCode>
                <c:ptCount val="8"/>
                <c:pt idx="0">
                  <c:v>5</c:v>
                </c:pt>
                <c:pt idx="1">
                  <c:v>7</c:v>
                </c:pt>
                <c:pt idx="2">
                  <c:v>19</c:v>
                </c:pt>
                <c:pt idx="3">
                  <c:v>43</c:v>
                </c:pt>
                <c:pt idx="4">
                  <c:v>55</c:v>
                </c:pt>
                <c:pt idx="5">
                  <c:v>65</c:v>
                </c:pt>
                <c:pt idx="6">
                  <c:v>95</c:v>
                </c:pt>
                <c:pt idx="7">
                  <c:v>136</c:v>
                </c:pt>
              </c:numCache>
            </c:numRef>
          </c:val>
        </c:ser>
        <c:dLbls>
          <c:numFmt formatCode="#,##0" sourceLinked="0"/>
          <c:txPr>
            <a:bodyPr/>
            <a:lstStyle/>
            <a:p>
              <a:pPr>
                <a:defRPr b="0" i="0" strike="noStrike" sz="1100" u="none">
                  <a:solidFill>
                    <a:srgbClr val="52514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Mean absolute error, µg/m³ (lower is better)</a:t>
            </a:r>
          </a:p>
        </c:rich>
      </c:tx>
      <c:layout/>
      <c:overlay val="0"/>
    </c:title>
    <c:autoTitleDeleted val="0"/>
    <c:plotArea>
      <c:layout/>
      <c:barChart>
        <c:barDir val="col"/>
        <c:grouping val="clustered"/>
        <c:varyColors val="0"/>
        <c:ser>
          <c:idx val="0"/>
          <c:order val="0"/>
          <c:tx>
            <c:strRef>
              <c:f>Sheet1!$B$1</c:f>
              <c:strCache>
                <c:ptCount val="1"/>
                <c:pt idx="0">
                  <c:v>SAANS</c:v>
                </c:pt>
              </c:strCache>
            </c:strRef>
          </c:tx>
          <c:spPr>
            <a:solidFill>
              <a:srgbClr val="2A78D6"/>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2024-25 · next 24 h</c:v>
                  </c:pt>
                  <c:pt idx="1">
                    <c:v>2024-25 · 24-48 h</c:v>
                  </c:pt>
                  <c:pt idx="2">
                    <c:v>2025-26 · next 24 h</c:v>
                  </c:pt>
                  <c:pt idx="3">
                    <c:v>2025-26 · 24-48 h</c:v>
                  </c:pt>
                </c:lvl>
              </c:multiLvlStrCache>
            </c:multiLvlStrRef>
          </c:cat>
          <c:val>
            <c:numRef>
              <c:f>Sheet1!$B$2:$B$5</c:f>
              <c:numCache>
                <c:formatCode>General</c:formatCode>
                <c:ptCount val="4"/>
                <c:pt idx="0">
                  <c:v>28.4</c:v>
                </c:pt>
                <c:pt idx="1">
                  <c:v>37.9</c:v>
                </c:pt>
                <c:pt idx="2">
                  <c:v>25.4</c:v>
                </c:pt>
                <c:pt idx="3">
                  <c:v>36</c:v>
                </c:pt>
              </c:numCache>
            </c:numRef>
          </c:val>
        </c:ser>
        <c:ser>
          <c:idx val="1"/>
          <c:order val="1"/>
          <c:tx>
            <c:strRef>
              <c:f>Sheet1!$C$1</c:f>
              <c:strCache>
                <c:ptCount val="1"/>
                <c:pt idx="0">
                  <c:v>Persistence</c:v>
                </c:pt>
              </c:strCache>
            </c:strRef>
          </c:tx>
          <c:spPr>
            <a:solidFill>
              <a:srgbClr val="EB6834"/>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2024-25 · next 24 h</c:v>
                  </c:pt>
                  <c:pt idx="1">
                    <c:v>2024-25 · 24-48 h</c:v>
                  </c:pt>
                  <c:pt idx="2">
                    <c:v>2025-26 · next 24 h</c:v>
                  </c:pt>
                  <c:pt idx="3">
                    <c:v>2025-26 · 24-48 h</c:v>
                  </c:pt>
                </c:lvl>
              </c:multiLvlStrCache>
            </c:multiLvlStrRef>
          </c:cat>
          <c:val>
            <c:numRef>
              <c:f>Sheet1!$C$2:$C$5</c:f>
              <c:numCache>
                <c:formatCode>General</c:formatCode>
                <c:ptCount val="4"/>
                <c:pt idx="0">
                  <c:v>32.8</c:v>
                </c:pt>
                <c:pt idx="1">
                  <c:v>44.2</c:v>
                </c:pt>
                <c:pt idx="2">
                  <c:v>26.1</c:v>
                </c:pt>
                <c:pt idx="3">
                  <c:v>36.5</c:v>
                </c:pt>
              </c:numCache>
            </c:numRef>
          </c:val>
        </c:ser>
        <c:ser>
          <c:idx val="2"/>
          <c:order val="2"/>
          <c:tx>
            <c:strRef>
              <c:f>Sheet1!$D$1</c:f>
              <c:strCache>
                <c:ptCount val="1"/>
                <c:pt idx="0">
                  <c:v>Seasonal average</c:v>
                </c:pt>
              </c:strCache>
            </c:strRef>
          </c:tx>
          <c:spPr>
            <a:solidFill>
              <a:srgbClr val="B5B3AC"/>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2024-25 · next 24 h</c:v>
                  </c:pt>
                  <c:pt idx="1">
                    <c:v>2024-25 · 24-48 h</c:v>
                  </c:pt>
                  <c:pt idx="2">
                    <c:v>2025-26 · next 24 h</c:v>
                  </c:pt>
                  <c:pt idx="3">
                    <c:v>2025-26 · 24-48 h</c:v>
                  </c:pt>
                </c:lvl>
              </c:multiLvlStrCache>
            </c:multiLvlStrRef>
          </c:cat>
          <c:val>
            <c:numRef>
              <c:f>Sheet1!$D$2:$D$5</c:f>
              <c:numCache>
                <c:formatCode>General</c:formatCode>
                <c:ptCount val="4"/>
                <c:pt idx="0">
                  <c:v>48.3</c:v>
                </c:pt>
                <c:pt idx="1">
                  <c:v>48.1</c:v>
                </c:pt>
                <c:pt idx="2">
                  <c:v>68.4</c:v>
                </c:pt>
                <c:pt idx="3">
                  <c:v>69.5</c:v>
                </c:pt>
              </c:numCache>
            </c:numRef>
          </c:val>
        </c:ser>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0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98781"/>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SAANS forecasts smog one to two days ahead for Lahore, Faisalabad, Multan, Islamabad and Karachi, and explains what is driving it. The map shows one month of crop fires in autumn 2024; most burn east of Lahore. Everything I show is computed from free data, and the code and notebooks are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November 2024 Lahore's AQI was reported at 1,165 and schools closed across 18 districts. Every measure came after the air was already hazardous, because public tools only show the current hour. SAANS targets three gaps: no forecast, no explanation of the causes, and no clear advice in Urdu and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SAANS does three things. It forecasts the mean PM2.5 for the next 24 and 48 hours and warns when the air will cross AQI 300, both on two past test seasons and live for today. It explains each forecast with SHAP and turns the numbers into a short English and Urdu advisory. The pipeline runs from four free data streams to a public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free sources give just over two million raw records from 2020 to January 2026. The coverage chart was my first risk check: long reference records exist only at the US posts in three cities, and that feed stopped in March 2025, so Faisalabad and Multan became an unseen-city test. The map shows a data-equity problem: sensors cluster in a few neighbourhoods, and the NO2 the proposal planned does not exist in OpenAQ near these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every record was obtained. Weather came in 35 yearly requests per city; OpenAQ sensors were found within 25 km of each city and then downloaded one month at a time, because whole-year requests timed out; NASA FIRMS only gives five days per call, so I fetched 146 monthly files with two workers per satellite and handled its quota message; GDELT news needed slow, spaced requests. Every response is saved untouched, which is why the cleaning can always be re-run from the raw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cleaning pipeline with the real counts from the Data Quality Report. Every row was logged by one function, so these numbers are computed, not typed. Of 200 PM2.5 sensors, 190 were kept, and 94.7 percent of sensor-hours survived; nothing was ever filled in inside the test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is the core of the project, and every step logs before and after counts. Four findings changed the rules: empty readings mislabelled as negatives, a metadata field that would have deleted Lahore's best monitor, sensor dropouts that showed Lahore at zero in heavy smog on the live dashboard, and a humidity correction that would have doubled the error of already-corrected sensors. The cleaned table is published as Parquet and as one CSV per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Upwind Fire Exposure Index sums every fire seen one to three days earlier, weighted by its power, its distance and whether the wind was blowing from the fire to the city. Tuned on training data only, the wind term lifts the correlation with next-day PM2.5 from 0.29 to 0.38. That is the proposal's central physical claim, now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works inside the data pipeline: Gemini reads 2,255 real headlines and returns structured events, and its output is validated like any raw data. I checked 20 random events strictly and 13 were fully correct, so I report 65%. The misses are instructive, for example reading 'lift lockdown' as a new lockdown, so the event calendar is treated as a noisy, minor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by time, never at random, because overlapping 24-hour windows would leak tomorrow's air into training. The model trains up to September 2024 and is tested on the record 2024-25 season and on 2025-26, including two cities it never saw. One design change mattered most: predicting the change from the last 24 hours instead of the level, which lifted the record-day forecast from 283 to 383.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record 2024-25 season SAANS cuts the 24-hour error of persistence by 13 percent, and by 14 percent at 48 hours. In 2025-26 the margin is small, 1 to 3 percent, and the next slide explains why. The hazard classifier catches about 93 percent of hazardous periods against 76 percent for persistence; it wrongly warns 10 percent of safe hours against 5, but 96 percent of those false alarms in the daily forecasts were still Very Unhealthy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result is generalisation: Faisalabad and Multan were never in training, yet SAANS beats persistence there by 13 and 11 percent. The honest weak spot is Lahore in 2025-26: when the US monitor stopped, the data switched to low-cost networks that read differently, and the model over-forecasts by about 25. Losing one reference monitor visibly degrades forecasts.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splits each forecast into parts that add up exactly. On 6 November 2024 most of the 383 came from pollution already in the air, plus smaller pushes from fires, calendar and weather. Removing all upwind fires lowers this forecast to 325. An early version could move the wrong way, so the fire features now carry monotone constraints. This is the model's reasoning, not a chemical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on past seasons proves the method; the live mode proves it runs today. It fetches the last four days of sensors, weather and fires, cleans them with the same rules and uses the same feature code and models, and a parity check shows zero difference from the training features. On the deployed dashboard at 18:00 on 24 October 2026, with 2,237 fresh fire detections, every city was Yellow except Islamabad. An earlier run on my own machine had no fire data because NASA had stopped answering it, and the dashboard said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live on Streamlit Community Cloud. It has seven tabs: today's forecast, a replay of the two test seasons, how the data was made, the cleaned data with a CSV download, the Data Quality Report, model performance and an about page. Every forecast view shows the risk map, the 48-hour chart with its range, the reasons and the English and Urdu advisory.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limits I would state to a policymaker. Attribution is statistical; the Lahore network change shows how fragile public monitoring is; and live mode depends on forecast weather and on three APIs answering. The data are thin in two cities and the event calendar is noisy. One earlier limit is fixed: the what-if could move the wrong way, and monotone constraints now prevent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free, open data is enough to forecast smog a day ahead in Pakistan's cities, to warn of most hazardous periods, to say why, and to do it live today. The next steps are to calibrate the low-cost networks, add weather forecasts, make the news calendar live and publish the dataset.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SAANS  |  Data Science  |  SZABIST Karachi</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280160"/>
            <a:ext cx="6583680" cy="109728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640080" y="2514600"/>
            <a:ext cx="6583680" cy="118872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280160"/>
            <a:ext cx="6583680" cy="1097280"/>
          </a:xfrm>
          <a:prstGeom prst="rect">
            <a:avLst/>
          </a:prstGeom>
          <a:noFill/>
          <a:ln/>
        </p:spPr>
        <p:txBody>
          <a:bodyPr wrap="square" lIns="0" tIns="0" rIns="0" bIns="0" rtlCol="0" anchor="b"/>
          <a:lstStyle/>
          <a:p>
            <a:pPr indent="0" marL="0">
              <a:buNone/>
            </a:pPr>
            <a:r>
              <a:rPr lang="en-US" sz="5400" b="1" dirty="0">
                <a:solidFill>
                  <a:schemeClr val="bg1"/>
                </a:solidFill>
              </a:rPr>
              <a:t>SAANS</a:t>
            </a:r>
            <a:endParaRPr lang="en-US" sz="5400" dirty="0"/>
          </a:p>
        </p:txBody>
      </p:sp>
      <p:sp>
        <p:nvSpPr>
          <p:cNvPr id="3" name="Text 0"/>
          <p:cNvSpPr/>
          <p:nvPr>
            <p:ph idx="101" type="body" hasCustomPrompt="1"/>
          </p:nvPr>
        </p:nvSpPr>
        <p:spPr>
          <a:xfrm>
            <a:off x="640080" y="2514600"/>
            <a:ext cx="6583680" cy="1188720"/>
          </a:xfrm>
          <a:prstGeom prst="rect">
            <a:avLst/>
          </a:prstGeom>
          <a:noFill/>
          <a:ln/>
        </p:spPr>
        <p:txBody>
          <a:bodyPr wrap="square" lIns="0" tIns="0" rIns="0" bIns="0" rtlCol="0" anchor="t"/>
          <a:lstStyle/>
          <a:p>
            <a:pPr indent="0" marL="0">
              <a:buNone/>
            </a:pPr>
            <a:r>
              <a:rPr lang="en-US" sz="2200" dirty="0">
                <a:solidFill>
                  <a:schemeClr val="bg2"/>
                </a:solidFill>
              </a:rPr>
              <a:t>AI smog forecasting and source attribution for five Pakistani cities</a:t>
            </a:r>
            <a:endParaRPr lang="en-US" sz="2200" dirty="0"/>
          </a:p>
        </p:txBody>
      </p:sp>
      <p:sp>
        <p:nvSpPr>
          <p:cNvPr id="4" name="Text 2"/>
          <p:cNvSpPr txBox="1"/>
          <p:nvPr/>
        </p:nvSpPr>
        <p:spPr>
          <a:xfrm>
            <a:off x="640080" y="4114800"/>
            <a:ext cx="6583680" cy="1463040"/>
          </a:xfrm>
          <a:prstGeom prst="rect">
            <a:avLst/>
          </a:prstGeom>
          <a:noFill/>
          <a:ln/>
        </p:spPr>
        <p:txBody>
          <a:bodyPr wrap="square" lIns="0" tIns="0" rIns="0" bIns="0" rtlCol="0" anchor="t"/>
          <a:lstStyle/>
          <a:p>
            <a:pPr indent="0" marL="0">
              <a:buNone/>
            </a:pPr>
            <a:r>
              <a:rPr lang="en-US" sz="1600" i="1" dirty="0">
                <a:solidFill>
                  <a:schemeClr val="bg2"/>
                </a:solidFill>
              </a:rPr>
              <a:t>Saans means breath in Urdu</a:t>
            </a:r>
            <a:endParaRPr lang="en-US" sz="1600" dirty="0"/>
          </a:p>
          <a:p>
            <a:pPr indent="0" marL="0">
              <a:buNone/>
            </a:pPr>
            <a:r>
              <a:rPr lang="en-US" sz="1600" dirty="0">
                <a:solidFill>
                  <a:schemeClr val="bg2"/>
                </a:solidFill>
              </a:rPr>
              <a:t> </a:t>
            </a:r>
            <a:endParaRPr lang="en-US" sz="1600" dirty="0"/>
          </a:p>
          <a:p>
            <a:pPr indent="0" marL="0">
              <a:buNone/>
            </a:pPr>
            <a:r>
              <a:rPr lang="en-US" sz="1600" dirty="0">
                <a:solidFill>
                  <a:schemeClr val="bg2"/>
                </a:solidFill>
              </a:rPr>
              <a:t>Farhan Bashir (2312407)  ·  Data Science</a:t>
            </a:r>
            <a:endParaRPr lang="en-US" sz="1600" dirty="0"/>
          </a:p>
          <a:p>
            <a:pPr indent="0" marL="0">
              <a:buNone/>
            </a:pPr>
            <a:r>
              <a:rPr lang="en-US" sz="1600" dirty="0">
                <a:solidFill>
                  <a:schemeClr val="bg2"/>
                </a:solidFill>
              </a:rPr>
              <a:t>Submitted to Sir Ahsan Nisar  ·  SZABIST University Karachi  ·  October 2026</a:t>
            </a:r>
            <a:endParaRPr lang="en-US" sz="1600" dirty="0"/>
          </a:p>
        </p:txBody>
      </p:sp>
      <p:pic>
        <p:nvPicPr>
          <p:cNvPr id="5" name="Map of crop fires, 15 Oct to 14 Nov 2024" descr="Map of crop fires, 15 Oct to 14 Nov 2024">    </p:cNvPr>
          <p:cNvPicPr>
            <a:picLocks noChangeAspect="1"/>
          </p:cNvPicPr>
          <p:nvPr/>
        </p:nvPicPr>
        <p:blipFill>
          <a:blip r:embed="rId1"/>
          <a:stretch>
            <a:fillRect/>
          </a:stretch>
        </p:blipFill>
        <p:spPr>
          <a:xfrm>
            <a:off x="7726680" y="1143000"/>
            <a:ext cx="3931920" cy="3420270"/>
          </a:xfrm>
          <a:prstGeom prst="rect">
            <a:avLst/>
          </a:prstGeom>
        </p:spPr>
      </p:pic>
      <p:sp>
        <p:nvSpPr>
          <p:cNvPr id="6" name="Text 3"/>
          <p:cNvSpPr txBox="1"/>
          <p:nvPr/>
        </p:nvSpPr>
        <p:spPr>
          <a:xfrm>
            <a:off x="7726680" y="4617720"/>
            <a:ext cx="3931920" cy="320040"/>
          </a:xfrm>
          <a:prstGeom prst="rect">
            <a:avLst/>
          </a:prstGeom>
          <a:noFill/>
          <a:ln/>
        </p:spPr>
        <p:txBody>
          <a:bodyPr wrap="square" lIns="0" tIns="0" rIns="0" bIns="0" rtlCol="0" anchor="ctr"/>
          <a:lstStyle/>
          <a:p>
            <a:pPr algn="ctr" indent="0" marL="0">
              <a:buNone/>
            </a:pPr>
            <a:r>
              <a:rPr lang="en-US" sz="1100" dirty="0">
                <a:solidFill>
                  <a:schemeClr val="bg2"/>
                </a:solidFill>
              </a:rPr>
              <a:t>Satellite fire detections, 15 Oct to 14 Nov 2024</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Smog policy reacts after the air is already hazardous</a:t>
            </a:r>
            <a:endParaRPr lang="en-US" sz="3000" dirty="0"/>
          </a:p>
        </p:txBody>
      </p:sp>
      <p:sp>
        <p:nvSpPr>
          <p:cNvPr id="3" name="stat card 1"/>
          <p:cNvSpPr/>
          <p:nvPr/>
        </p:nvSpPr>
        <p:spPr>
          <a:xfrm>
            <a:off x="548640" y="1325880"/>
            <a:ext cx="3474720" cy="1828800"/>
          </a:xfrm>
          <a:prstGeom prst="roundRect">
            <a:avLst>
              <a:gd name="adj" fmla="val 4000"/>
            </a:avLst>
          </a:prstGeom>
          <a:solidFill>
            <a:schemeClr val="bg2"/>
          </a:solidFill>
          <a:ln/>
        </p:spPr>
      </p:sp>
      <p:sp>
        <p:nvSpPr>
          <p:cNvPr id="4" name="Text 2"/>
          <p:cNvSpPr txBox="1"/>
          <p:nvPr/>
        </p:nvSpPr>
        <p:spPr>
          <a:xfrm>
            <a:off x="777240" y="1417320"/>
            <a:ext cx="3017520" cy="731520"/>
          </a:xfrm>
          <a:prstGeom prst="rect">
            <a:avLst/>
          </a:prstGeom>
          <a:noFill/>
          <a:ln/>
        </p:spPr>
        <p:txBody>
          <a:bodyPr wrap="square" lIns="0" tIns="0" rIns="0" bIns="0" rtlCol="0" anchor="b"/>
          <a:lstStyle/>
          <a:p>
            <a:pPr indent="0" marL="0">
              <a:buNone/>
            </a:pPr>
            <a:r>
              <a:rPr lang="en-US" sz="4400" b="1" dirty="0">
                <a:solidFill>
                  <a:schemeClr val="accent5"/>
                </a:solidFill>
                <a:latin typeface="Cambria" pitchFamily="34" charset="0"/>
                <a:ea typeface="Cambria" pitchFamily="34" charset="-122"/>
                <a:cs typeface="Cambria" pitchFamily="34" charset="-120"/>
              </a:rPr>
              <a:t>1,165</a:t>
            </a:r>
            <a:endParaRPr lang="en-US" sz="4400" dirty="0"/>
          </a:p>
        </p:txBody>
      </p:sp>
      <p:sp>
        <p:nvSpPr>
          <p:cNvPr id="5" name="Text 3"/>
          <p:cNvSpPr txBox="1"/>
          <p:nvPr/>
        </p:nvSpPr>
        <p:spPr>
          <a:xfrm>
            <a:off x="777240" y="2194560"/>
            <a:ext cx="3017520" cy="685800"/>
          </a:xfrm>
          <a:prstGeom prst="rect">
            <a:avLst/>
          </a:prstGeom>
          <a:noFill/>
          <a:ln/>
        </p:spPr>
        <p:txBody>
          <a:bodyPr wrap="square" lIns="0" tIns="0" rIns="0" bIns="0" rtlCol="0" anchor="t"/>
          <a:lstStyle/>
          <a:p>
            <a:pPr indent="0" marL="0">
              <a:buNone/>
            </a:pPr>
            <a:r>
              <a:rPr lang="en-US" sz="1400" dirty="0">
                <a:solidFill>
                  <a:schemeClr val="tx1"/>
                </a:solidFill>
              </a:rPr>
              <a:t>AQI reported in Lahore, November 2024</a:t>
            </a:r>
            <a:endParaRPr lang="en-US" sz="1400" dirty="0"/>
          </a:p>
        </p:txBody>
      </p:sp>
      <p:sp>
        <p:nvSpPr>
          <p:cNvPr id="6" name="stat card 2"/>
          <p:cNvSpPr/>
          <p:nvPr/>
        </p:nvSpPr>
        <p:spPr>
          <a:xfrm>
            <a:off x="4297680" y="1325880"/>
            <a:ext cx="3474720" cy="1828800"/>
          </a:xfrm>
          <a:prstGeom prst="roundRect">
            <a:avLst>
              <a:gd name="adj" fmla="val 4000"/>
            </a:avLst>
          </a:prstGeom>
          <a:solidFill>
            <a:schemeClr val="bg2"/>
          </a:solidFill>
          <a:ln/>
        </p:spPr>
      </p:sp>
      <p:sp>
        <p:nvSpPr>
          <p:cNvPr id="7" name="Text 5"/>
          <p:cNvSpPr txBox="1"/>
          <p:nvPr/>
        </p:nvSpPr>
        <p:spPr>
          <a:xfrm>
            <a:off x="4526280" y="1417320"/>
            <a:ext cx="3017520" cy="73152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18</a:t>
            </a:r>
            <a:endParaRPr lang="en-US" sz="4400" dirty="0"/>
          </a:p>
        </p:txBody>
      </p:sp>
      <p:sp>
        <p:nvSpPr>
          <p:cNvPr id="8" name="Text 6"/>
          <p:cNvSpPr txBox="1"/>
          <p:nvPr/>
        </p:nvSpPr>
        <p:spPr>
          <a:xfrm>
            <a:off x="4526280" y="2194560"/>
            <a:ext cx="3017520" cy="685800"/>
          </a:xfrm>
          <a:prstGeom prst="rect">
            <a:avLst/>
          </a:prstGeom>
          <a:noFill/>
          <a:ln/>
        </p:spPr>
        <p:txBody>
          <a:bodyPr wrap="square" lIns="0" tIns="0" rIns="0" bIns="0" rtlCol="0" anchor="t"/>
          <a:lstStyle/>
          <a:p>
            <a:pPr indent="0" marL="0">
              <a:buNone/>
            </a:pPr>
            <a:r>
              <a:rPr lang="en-US" sz="1400" dirty="0">
                <a:solidFill>
                  <a:schemeClr val="tx1"/>
                </a:solidFill>
              </a:rPr>
              <a:t>districts closed schools and colleges</a:t>
            </a:r>
            <a:endParaRPr lang="en-US" sz="1400" dirty="0"/>
          </a:p>
        </p:txBody>
      </p:sp>
      <p:sp>
        <p:nvSpPr>
          <p:cNvPr id="9" name="stat card 3"/>
          <p:cNvSpPr/>
          <p:nvPr/>
        </p:nvSpPr>
        <p:spPr>
          <a:xfrm>
            <a:off x="8046720" y="1325880"/>
            <a:ext cx="3474720" cy="1828800"/>
          </a:xfrm>
          <a:prstGeom prst="roundRect">
            <a:avLst>
              <a:gd name="adj" fmla="val 4000"/>
            </a:avLst>
          </a:prstGeom>
          <a:solidFill>
            <a:schemeClr val="bg2"/>
          </a:solidFill>
          <a:ln/>
        </p:spPr>
      </p:sp>
      <p:sp>
        <p:nvSpPr>
          <p:cNvPr id="10" name="Text 8"/>
          <p:cNvSpPr txBox="1"/>
          <p:nvPr/>
        </p:nvSpPr>
        <p:spPr>
          <a:xfrm>
            <a:off x="8275320" y="1417320"/>
            <a:ext cx="301752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Now only</a:t>
            </a:r>
            <a:endParaRPr lang="en-US" sz="4400" dirty="0"/>
          </a:p>
        </p:txBody>
      </p:sp>
      <p:sp>
        <p:nvSpPr>
          <p:cNvPr id="11" name="Text 9"/>
          <p:cNvSpPr txBox="1"/>
          <p:nvPr/>
        </p:nvSpPr>
        <p:spPr>
          <a:xfrm>
            <a:off x="8275320" y="2194560"/>
            <a:ext cx="3017520" cy="685800"/>
          </a:xfrm>
          <a:prstGeom prst="rect">
            <a:avLst/>
          </a:prstGeom>
          <a:noFill/>
          <a:ln/>
        </p:spPr>
        <p:txBody>
          <a:bodyPr wrap="square" lIns="0" tIns="0" rIns="0" bIns="0" rtlCol="0" anchor="t"/>
          <a:lstStyle/>
          <a:p>
            <a:pPr indent="0" marL="0">
              <a:buNone/>
            </a:pPr>
            <a:r>
              <a:rPr lang="en-US" sz="1400" dirty="0">
                <a:solidFill>
                  <a:schemeClr val="tx1"/>
                </a:solidFill>
              </a:rPr>
              <a:t>public AQI tools report the current hour, not tomorrow</a:t>
            </a:r>
            <a:endParaRPr lang="en-US" sz="1400" dirty="0"/>
          </a:p>
        </p:txBody>
      </p:sp>
      <p:sp>
        <p:nvSpPr>
          <p:cNvPr id="12" name="circle 1"/>
          <p:cNvSpPr/>
          <p:nvPr/>
        </p:nvSpPr>
        <p:spPr>
          <a:xfrm>
            <a:off x="548640" y="3611880"/>
            <a:ext cx="457200" cy="457200"/>
          </a:xfrm>
          <a:prstGeom prst="ellipse">
            <a:avLst/>
          </a:prstGeom>
          <a:solidFill>
            <a:schemeClr val="accent1"/>
          </a:solidFill>
          <a:ln/>
        </p:spPr>
      </p:sp>
      <p:sp>
        <p:nvSpPr>
          <p:cNvPr id="13"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4" name="Text 12"/>
          <p:cNvSpPr txBox="1"/>
          <p:nvPr/>
        </p:nvSpPr>
        <p:spPr>
          <a:xfrm>
            <a:off x="1143000" y="3611880"/>
            <a:ext cx="2880360" cy="457200"/>
          </a:xfrm>
          <a:prstGeom prst="rect">
            <a:avLst/>
          </a:prstGeom>
          <a:noFill/>
          <a:ln/>
        </p:spPr>
        <p:txBody>
          <a:bodyPr wrap="square" lIns="0" tIns="0" rIns="0" bIns="0" rtlCol="0" anchor="ctr"/>
          <a:lstStyle/>
          <a:p>
            <a:pPr indent="0" marL="0">
              <a:buNone/>
            </a:pPr>
            <a:r>
              <a:rPr lang="en-US" sz="1800" b="1" dirty="0">
                <a:solidFill>
                  <a:schemeClr val="tx1"/>
                </a:solidFill>
              </a:rPr>
              <a:t>No forecast</a:t>
            </a:r>
            <a:endParaRPr lang="en-US" sz="1800" dirty="0"/>
          </a:p>
        </p:txBody>
      </p:sp>
      <p:sp>
        <p:nvSpPr>
          <p:cNvPr id="15" name="Text 13"/>
          <p:cNvSpPr txBox="1"/>
          <p:nvPr/>
        </p:nvSpPr>
        <p:spPr>
          <a:xfrm>
            <a:off x="1143000" y="4114800"/>
            <a:ext cx="2880360" cy="1188720"/>
          </a:xfrm>
          <a:prstGeom prst="rect">
            <a:avLst/>
          </a:prstGeom>
          <a:noFill/>
          <a:ln/>
        </p:spPr>
        <p:txBody>
          <a:bodyPr wrap="square" lIns="0" tIns="0" rIns="0" bIns="0" rtlCol="0" anchor="t"/>
          <a:lstStyle/>
          <a:p>
            <a:pPr indent="0" marL="0">
              <a:buNone/>
            </a:pPr>
            <a:r>
              <a:rPr lang="en-US" sz="1600" dirty="0">
                <a:solidFill>
                  <a:schemeClr val="tx1"/>
                </a:solidFill>
              </a:rPr>
              <a:t>Nobody sees what tomorrow will bring, so schools close after the air turns bad.</a:t>
            </a:r>
            <a:endParaRPr lang="en-US" sz="1600" dirty="0"/>
          </a:p>
        </p:txBody>
      </p:sp>
      <p:sp>
        <p:nvSpPr>
          <p:cNvPr id="16" name="circle 2"/>
          <p:cNvSpPr/>
          <p:nvPr/>
        </p:nvSpPr>
        <p:spPr>
          <a:xfrm>
            <a:off x="4297680" y="3611880"/>
            <a:ext cx="457200" cy="457200"/>
          </a:xfrm>
          <a:prstGeom prst="ellipse">
            <a:avLst/>
          </a:prstGeom>
          <a:solidFill>
            <a:schemeClr val="accent1"/>
          </a:solidFill>
          <a:ln/>
        </p:spPr>
      </p:sp>
      <p:sp>
        <p:nvSpPr>
          <p:cNvPr id="17" name="Text 15"/>
          <p:cNvSpPr txBox="1"/>
          <p:nvPr/>
        </p:nvSpPr>
        <p:spPr>
          <a:xfrm>
            <a:off x="4297680"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Text 16"/>
          <p:cNvSpPr txBox="1"/>
          <p:nvPr/>
        </p:nvSpPr>
        <p:spPr>
          <a:xfrm>
            <a:off x="4892040" y="3611880"/>
            <a:ext cx="2880360" cy="457200"/>
          </a:xfrm>
          <a:prstGeom prst="rect">
            <a:avLst/>
          </a:prstGeom>
          <a:noFill/>
          <a:ln/>
        </p:spPr>
        <p:txBody>
          <a:bodyPr wrap="square" lIns="0" tIns="0" rIns="0" bIns="0" rtlCol="0" anchor="ctr"/>
          <a:lstStyle/>
          <a:p>
            <a:pPr indent="0" marL="0">
              <a:buNone/>
            </a:pPr>
            <a:r>
              <a:rPr lang="en-US" sz="1800" b="1" dirty="0">
                <a:solidFill>
                  <a:schemeClr val="tx1"/>
                </a:solidFill>
              </a:rPr>
              <a:t>No explanation</a:t>
            </a:r>
            <a:endParaRPr lang="en-US" sz="1800" dirty="0"/>
          </a:p>
        </p:txBody>
      </p:sp>
      <p:sp>
        <p:nvSpPr>
          <p:cNvPr id="19" name="Text 17"/>
          <p:cNvSpPr txBox="1"/>
          <p:nvPr/>
        </p:nvSpPr>
        <p:spPr>
          <a:xfrm>
            <a:off x="4892040" y="4114800"/>
            <a:ext cx="2880360" cy="1188720"/>
          </a:xfrm>
          <a:prstGeom prst="rect">
            <a:avLst/>
          </a:prstGeom>
          <a:noFill/>
          <a:ln/>
        </p:spPr>
        <p:txBody>
          <a:bodyPr wrap="square" lIns="0" tIns="0" rIns="0" bIns="0" rtlCol="0" anchor="t"/>
          <a:lstStyle/>
          <a:p>
            <a:pPr indent="0" marL="0">
              <a:buNone/>
            </a:pPr>
            <a:r>
              <a:rPr lang="en-US" sz="1600" dirty="0">
                <a:solidFill>
                  <a:schemeClr val="tx1"/>
                </a:solidFill>
              </a:rPr>
              <a:t>Is it crop burning upwind, stagnant weather or local traffic? Nobody quantifies it.</a:t>
            </a:r>
            <a:endParaRPr lang="en-US" sz="1600" dirty="0"/>
          </a:p>
        </p:txBody>
      </p:sp>
      <p:sp>
        <p:nvSpPr>
          <p:cNvPr id="20" name="circle 3"/>
          <p:cNvSpPr/>
          <p:nvPr/>
        </p:nvSpPr>
        <p:spPr>
          <a:xfrm>
            <a:off x="8046720" y="3611880"/>
            <a:ext cx="457200" cy="457200"/>
          </a:xfrm>
          <a:prstGeom prst="ellipse">
            <a:avLst/>
          </a:prstGeom>
          <a:solidFill>
            <a:schemeClr val="accent1"/>
          </a:solidFill>
          <a:ln/>
        </p:spPr>
      </p:sp>
      <p:sp>
        <p:nvSpPr>
          <p:cNvPr id="21" name="Text 19"/>
          <p:cNvSpPr txBox="1"/>
          <p:nvPr/>
        </p:nvSpPr>
        <p:spPr>
          <a:xfrm>
            <a:off x="8046720"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8641080" y="3611880"/>
            <a:ext cx="2880360" cy="457200"/>
          </a:xfrm>
          <a:prstGeom prst="rect">
            <a:avLst/>
          </a:prstGeom>
          <a:noFill/>
          <a:ln/>
        </p:spPr>
        <p:txBody>
          <a:bodyPr wrap="square" lIns="0" tIns="0" rIns="0" bIns="0" rtlCol="0" anchor="ctr"/>
          <a:lstStyle/>
          <a:p>
            <a:pPr indent="0" marL="0">
              <a:buNone/>
            </a:pPr>
            <a:r>
              <a:rPr lang="en-US" sz="1800" b="1" dirty="0">
                <a:solidFill>
                  <a:schemeClr val="tx1"/>
                </a:solidFill>
              </a:rPr>
              <a:t>No accessible advice</a:t>
            </a:r>
            <a:endParaRPr lang="en-US" sz="1800" dirty="0"/>
          </a:p>
        </p:txBody>
      </p:sp>
      <p:sp>
        <p:nvSpPr>
          <p:cNvPr id="23" name="Text 21"/>
          <p:cNvSpPr txBox="1"/>
          <p:nvPr/>
        </p:nvSpPr>
        <p:spPr>
          <a:xfrm>
            <a:off x="8641080" y="4114800"/>
            <a:ext cx="2880360" cy="1188720"/>
          </a:xfrm>
          <a:prstGeom prst="rect">
            <a:avLst/>
          </a:prstGeom>
          <a:noFill/>
          <a:ln/>
        </p:spPr>
        <p:txBody>
          <a:bodyPr wrap="square" lIns="0" tIns="0" rIns="0" bIns="0" rtlCol="0" anchor="t"/>
          <a:lstStyle/>
          <a:p>
            <a:pPr indent="0" marL="0">
              <a:buNone/>
            </a:pPr>
            <a:r>
              <a:rPr lang="en-US" sz="1600" dirty="0">
                <a:solidFill>
                  <a:schemeClr val="tx1"/>
                </a:solidFill>
              </a:rPr>
              <a:t>Numbers on an app, not clear guidance in Urdu and English.</a:t>
            </a:r>
            <a:endParaRPr lang="en-US" sz="1600" dirty="0"/>
          </a:p>
        </p:txBody>
      </p:sp>
      <p:sp>
        <p:nvSpPr>
          <p:cNvPr id="24" name="Text 22"/>
          <p:cNvSpPr txBox="1"/>
          <p:nvPr/>
        </p:nvSpPr>
        <p:spPr>
          <a:xfrm>
            <a:off x="548640" y="5852160"/>
            <a:ext cx="10972800" cy="274320"/>
          </a:xfrm>
          <a:prstGeom prst="rect">
            <a:avLst/>
          </a:prstGeom>
          <a:noFill/>
          <a:ln/>
        </p:spPr>
        <p:txBody>
          <a:bodyPr wrap="square" lIns="0" tIns="0" rIns="0" bIns="0" rtlCol="0" anchor="ctr"/>
          <a:lstStyle/>
          <a:p>
            <a:pPr indent="0" marL="0">
              <a:buNone/>
            </a:pPr>
            <a:r>
              <a:rPr lang="en-US" sz="1100" dirty="0">
                <a:solidFill>
                  <a:schemeClr val="accent6"/>
                </a:solidFill>
              </a:rPr>
              <a:t>Source: Dawn, 7 November 2024 (schools closed across 18 districts as smog reigned in Punjab).</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SAANS forecasts tomorrow's smog, explains it, and advises</a:t>
            </a:r>
            <a:endParaRPr lang="en-US" sz="3000" dirty="0"/>
          </a:p>
        </p:txBody>
      </p:sp>
      <p:sp>
        <p:nvSpPr>
          <p:cNvPr id="3" name="Forecast card"/>
          <p:cNvSpPr/>
          <p:nvPr/>
        </p:nvSpPr>
        <p:spPr>
          <a:xfrm>
            <a:off x="548640" y="1325880"/>
            <a:ext cx="3474720" cy="3246120"/>
          </a:xfrm>
          <a:prstGeom prst="roundRect">
            <a:avLst>
              <a:gd name="adj" fmla="val 2254"/>
            </a:avLst>
          </a:prstGeom>
          <a:solidFill>
            <a:schemeClr val="bg2"/>
          </a:solidFill>
          <a:ln/>
        </p:spPr>
      </p:sp>
      <p:sp>
        <p:nvSpPr>
          <p:cNvPr id="4" name="circle 1"/>
          <p:cNvSpPr/>
          <p:nvPr/>
        </p:nvSpPr>
        <p:spPr>
          <a:xfrm>
            <a:off x="822960" y="1554480"/>
            <a:ext cx="502920" cy="502920"/>
          </a:xfrm>
          <a:prstGeom prst="ellipse">
            <a:avLst/>
          </a:prstGeom>
          <a:solidFill>
            <a:schemeClr val="accent1"/>
          </a:solidFill>
          <a:ln/>
        </p:spPr>
      </p:sp>
      <p:sp>
        <p:nvSpPr>
          <p:cNvPr id="5" name="Text 3"/>
          <p:cNvSpPr txBox="1"/>
          <p:nvPr/>
        </p:nvSpPr>
        <p:spPr>
          <a:xfrm>
            <a:off x="82296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463040" y="1554480"/>
            <a:ext cx="2377440"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Forecast</a:t>
            </a:r>
            <a:endParaRPr lang="en-US" sz="2200" dirty="0"/>
          </a:p>
        </p:txBody>
      </p:sp>
      <p:sp>
        <p:nvSpPr>
          <p:cNvPr id="7" name="Text 5"/>
          <p:cNvSpPr txBox="1"/>
          <p:nvPr/>
        </p:nvSpPr>
        <p:spPr>
          <a:xfrm>
            <a:off x="822960" y="2286000"/>
            <a:ext cx="297180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Mean PM2.5 for the next 24 hours and the 24 hours after, with an 80% range</a:t>
            </a:r>
            <a:endParaRPr lang="en-US" sz="1500" dirty="0"/>
          </a:p>
          <a:p>
            <a:pPr marL="342900" indent="-342900">
              <a:spcAft>
                <a:spcPts val="800"/>
              </a:spcAft>
              <a:buSzPct val="100000"/>
              <a:buChar char="•"/>
            </a:pPr>
            <a:r>
              <a:rPr lang="en-US" sz="1500" dirty="0">
                <a:solidFill>
                  <a:schemeClr val="tx1"/>
                </a:solidFill>
              </a:rPr>
              <a:t>A warning when the next 24 hours will exceed AQI 300</a:t>
            </a:r>
            <a:endParaRPr lang="en-US" sz="1500" dirty="0"/>
          </a:p>
          <a:p>
            <a:pPr marL="342900" indent="-342900">
              <a:spcAft>
                <a:spcPts val="800"/>
              </a:spcAft>
              <a:buSzPct val="100000"/>
              <a:buChar char="•"/>
            </a:pPr>
            <a:r>
              <a:rPr lang="en-US" sz="1500" dirty="0">
                <a:solidFill>
                  <a:schemeClr val="tx1"/>
                </a:solidFill>
              </a:rPr>
              <a:t>Tested on two past seasons, and live today</a:t>
            </a:r>
            <a:endParaRPr lang="en-US" sz="1500" dirty="0"/>
          </a:p>
        </p:txBody>
      </p:sp>
      <p:sp>
        <p:nvSpPr>
          <p:cNvPr id="8" name="Explain card"/>
          <p:cNvSpPr/>
          <p:nvPr/>
        </p:nvSpPr>
        <p:spPr>
          <a:xfrm>
            <a:off x="4297680" y="1325880"/>
            <a:ext cx="3474720" cy="3246120"/>
          </a:xfrm>
          <a:prstGeom prst="roundRect">
            <a:avLst>
              <a:gd name="adj" fmla="val 2254"/>
            </a:avLst>
          </a:prstGeom>
          <a:solidFill>
            <a:schemeClr val="bg2"/>
          </a:solidFill>
          <a:ln/>
        </p:spPr>
      </p:sp>
      <p:sp>
        <p:nvSpPr>
          <p:cNvPr id="9" name="circle 2"/>
          <p:cNvSpPr/>
          <p:nvPr/>
        </p:nvSpPr>
        <p:spPr>
          <a:xfrm>
            <a:off x="4572000" y="1554480"/>
            <a:ext cx="502920" cy="502920"/>
          </a:xfrm>
          <a:prstGeom prst="ellipse">
            <a:avLst/>
          </a:prstGeom>
          <a:solidFill>
            <a:schemeClr val="accent3"/>
          </a:solidFill>
          <a:ln/>
        </p:spPr>
      </p:sp>
      <p:sp>
        <p:nvSpPr>
          <p:cNvPr id="10" name="Text 8"/>
          <p:cNvSpPr txBox="1"/>
          <p:nvPr/>
        </p:nvSpPr>
        <p:spPr>
          <a:xfrm>
            <a:off x="457200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212080" y="1554480"/>
            <a:ext cx="2377440"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Explain</a:t>
            </a:r>
            <a:endParaRPr lang="en-US" sz="2200" dirty="0"/>
          </a:p>
        </p:txBody>
      </p:sp>
      <p:sp>
        <p:nvSpPr>
          <p:cNvPr id="12" name="Text 10"/>
          <p:cNvSpPr txBox="1"/>
          <p:nvPr/>
        </p:nvSpPr>
        <p:spPr>
          <a:xfrm>
            <a:off x="4572000" y="2286000"/>
            <a:ext cx="297180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SHAP splits every forecast into four drivers: recent pollution, weather, upwind crop fires, calendar</a:t>
            </a:r>
            <a:endParaRPr lang="en-US" sz="1500" dirty="0"/>
          </a:p>
          <a:p>
            <a:pPr marL="342900" indent="-342900">
              <a:spcAft>
                <a:spcPts val="800"/>
              </a:spcAft>
              <a:buSzPct val="100000"/>
              <a:buChar char="•"/>
            </a:pPr>
            <a:r>
              <a:rPr lang="en-US" sz="1500" dirty="0">
                <a:solidFill>
                  <a:schemeClr val="tx1"/>
                </a:solidFill>
              </a:rPr>
              <a:t>What-if: fewer crop fires</a:t>
            </a:r>
            <a:endParaRPr lang="en-US" sz="1500" dirty="0"/>
          </a:p>
        </p:txBody>
      </p:sp>
      <p:sp>
        <p:nvSpPr>
          <p:cNvPr id="13" name="Advise card"/>
          <p:cNvSpPr/>
          <p:nvPr/>
        </p:nvSpPr>
        <p:spPr>
          <a:xfrm>
            <a:off x="8046720" y="1325880"/>
            <a:ext cx="3474720" cy="3246120"/>
          </a:xfrm>
          <a:prstGeom prst="roundRect">
            <a:avLst>
              <a:gd name="adj" fmla="val 2254"/>
            </a:avLst>
          </a:prstGeom>
          <a:solidFill>
            <a:schemeClr val="bg2"/>
          </a:solidFill>
          <a:ln/>
        </p:spPr>
      </p:sp>
      <p:sp>
        <p:nvSpPr>
          <p:cNvPr id="14" name="circle 3"/>
          <p:cNvSpPr/>
          <p:nvPr/>
        </p:nvSpPr>
        <p:spPr>
          <a:xfrm>
            <a:off x="8321040" y="1554480"/>
            <a:ext cx="502920" cy="502920"/>
          </a:xfrm>
          <a:prstGeom prst="ellipse">
            <a:avLst/>
          </a:prstGeom>
          <a:solidFill>
            <a:schemeClr val="accent2"/>
          </a:solidFill>
          <a:ln/>
        </p:spPr>
      </p:sp>
      <p:sp>
        <p:nvSpPr>
          <p:cNvPr id="15" name="Text 13"/>
          <p:cNvSpPr txBox="1"/>
          <p:nvPr/>
        </p:nvSpPr>
        <p:spPr>
          <a:xfrm>
            <a:off x="832104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961120" y="1554480"/>
            <a:ext cx="2377440"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Advise</a:t>
            </a:r>
            <a:endParaRPr lang="en-US" sz="2200" dirty="0"/>
          </a:p>
        </p:txBody>
      </p:sp>
      <p:sp>
        <p:nvSpPr>
          <p:cNvPr id="17" name="Text 15"/>
          <p:cNvSpPr txBox="1"/>
          <p:nvPr/>
        </p:nvSpPr>
        <p:spPr>
          <a:xfrm>
            <a:off x="8321040" y="2286000"/>
            <a:ext cx="297180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A three-line advisory in English and Urdu</a:t>
            </a:r>
            <a:endParaRPr lang="en-US" sz="1500" dirty="0"/>
          </a:p>
          <a:p>
            <a:pPr marL="342900" indent="-342900">
              <a:spcAft>
                <a:spcPts val="800"/>
              </a:spcAft>
              <a:buSzPct val="100000"/>
              <a:buChar char="•"/>
            </a:pPr>
            <a:r>
              <a:rPr lang="en-US" sz="1500" dirty="0">
                <a:solidFill>
                  <a:schemeClr val="tx1"/>
                </a:solidFill>
              </a:rPr>
              <a:t>Gemini for the key days, a template for the rest; every number checked</a:t>
            </a:r>
            <a:endParaRPr lang="en-US" sz="1500" dirty="0"/>
          </a:p>
        </p:txBody>
      </p:sp>
      <p:sp>
        <p:nvSpPr>
          <p:cNvPr id="18" name="pipeline 1"/>
          <p:cNvSpPr/>
          <p:nvPr/>
        </p:nvSpPr>
        <p:spPr>
          <a:xfrm>
            <a:off x="548640" y="4983480"/>
            <a:ext cx="1645920" cy="640080"/>
          </a:xfrm>
          <a:prstGeom prst="roundRect">
            <a:avLst>
              <a:gd name="adj" fmla="val 11429"/>
            </a:avLst>
          </a:prstGeom>
          <a:solidFill>
            <a:schemeClr val="tx2"/>
          </a:solidFill>
          <a:ln/>
        </p:spPr>
      </p:sp>
      <p:sp>
        <p:nvSpPr>
          <p:cNvPr id="19" name="Text 17"/>
          <p:cNvSpPr txBox="1"/>
          <p:nvPr/>
        </p:nvSpPr>
        <p:spPr>
          <a:xfrm>
            <a:off x="548640" y="4983480"/>
            <a:ext cx="1645920" cy="640080"/>
          </a:xfrm>
          <a:prstGeom prst="rect">
            <a:avLst/>
          </a:prstGeom>
          <a:noFill/>
          <a:ln/>
        </p:spPr>
        <p:txBody>
          <a:bodyPr wrap="square" lIns="0" tIns="0" rIns="0" bIns="0" rtlCol="0" anchor="ctr"/>
          <a:lstStyle/>
          <a:p>
            <a:pPr algn="ctr" indent="0" marL="0">
              <a:buNone/>
            </a:pPr>
            <a:r>
              <a:rPr lang="en-US" sz="1400" b="1" dirty="0">
                <a:solidFill>
                  <a:schemeClr val="bg1"/>
                </a:solidFill>
              </a:rPr>
              <a:t>4 free data streams</a:t>
            </a:r>
            <a:endParaRPr lang="en-US" sz="1400" dirty="0"/>
          </a:p>
        </p:txBody>
      </p:sp>
      <p:sp>
        <p:nvSpPr>
          <p:cNvPr id="20" name="Text 18"/>
          <p:cNvSpPr txBox="1"/>
          <p:nvPr/>
        </p:nvSpPr>
        <p:spPr>
          <a:xfrm>
            <a:off x="2194560" y="4983480"/>
            <a:ext cx="246888" cy="6400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21" name="pipeline 2"/>
          <p:cNvSpPr/>
          <p:nvPr/>
        </p:nvSpPr>
        <p:spPr>
          <a:xfrm>
            <a:off x="2441448" y="4983480"/>
            <a:ext cx="1645920" cy="640080"/>
          </a:xfrm>
          <a:prstGeom prst="roundRect">
            <a:avLst>
              <a:gd name="adj" fmla="val 11429"/>
            </a:avLst>
          </a:prstGeom>
          <a:solidFill>
            <a:schemeClr val="bg2"/>
          </a:solidFill>
          <a:ln/>
        </p:spPr>
      </p:sp>
      <p:sp>
        <p:nvSpPr>
          <p:cNvPr id="22" name="Text 20"/>
          <p:cNvSpPr txBox="1"/>
          <p:nvPr/>
        </p:nvSpPr>
        <p:spPr>
          <a:xfrm>
            <a:off x="2441448" y="4983480"/>
            <a:ext cx="1645920" cy="640080"/>
          </a:xfrm>
          <a:prstGeom prst="rect">
            <a:avLst/>
          </a:prstGeom>
          <a:noFill/>
          <a:ln/>
        </p:spPr>
        <p:txBody>
          <a:bodyPr wrap="square" lIns="0" tIns="0" rIns="0" bIns="0" rtlCol="0" anchor="ctr"/>
          <a:lstStyle/>
          <a:p>
            <a:pPr algn="ctr" indent="0" marL="0">
              <a:buNone/>
            </a:pPr>
            <a:r>
              <a:rPr lang="en-US" sz="1400" b="1" dirty="0">
                <a:solidFill>
                  <a:schemeClr val="tx1"/>
                </a:solidFill>
              </a:rPr>
              <a:t>9-step cleaning</a:t>
            </a:r>
            <a:endParaRPr lang="en-US" sz="1400" dirty="0"/>
          </a:p>
        </p:txBody>
      </p:sp>
      <p:sp>
        <p:nvSpPr>
          <p:cNvPr id="23" name="Text 21"/>
          <p:cNvSpPr txBox="1"/>
          <p:nvPr/>
        </p:nvSpPr>
        <p:spPr>
          <a:xfrm>
            <a:off x="4087368" y="4983480"/>
            <a:ext cx="246888" cy="6400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24" name="pipeline 3"/>
          <p:cNvSpPr/>
          <p:nvPr/>
        </p:nvSpPr>
        <p:spPr>
          <a:xfrm>
            <a:off x="4334256" y="4983480"/>
            <a:ext cx="1645920" cy="640080"/>
          </a:xfrm>
          <a:prstGeom prst="roundRect">
            <a:avLst>
              <a:gd name="adj" fmla="val 11429"/>
            </a:avLst>
          </a:prstGeom>
          <a:solidFill>
            <a:schemeClr val="tx2"/>
          </a:solidFill>
          <a:ln/>
        </p:spPr>
      </p:sp>
      <p:sp>
        <p:nvSpPr>
          <p:cNvPr id="25" name="Text 23"/>
          <p:cNvSpPr txBox="1"/>
          <p:nvPr/>
        </p:nvSpPr>
        <p:spPr>
          <a:xfrm>
            <a:off x="4334256" y="4983480"/>
            <a:ext cx="1645920" cy="640080"/>
          </a:xfrm>
          <a:prstGeom prst="rect">
            <a:avLst/>
          </a:prstGeom>
          <a:noFill/>
          <a:ln/>
        </p:spPr>
        <p:txBody>
          <a:bodyPr wrap="square" lIns="0" tIns="0" rIns="0" bIns="0" rtlCol="0" anchor="ctr"/>
          <a:lstStyle/>
          <a:p>
            <a:pPr algn="ctr" indent="0" marL="0">
              <a:buNone/>
            </a:pPr>
            <a:r>
              <a:rPr lang="en-US" sz="1400" b="1" dirty="0">
                <a:solidFill>
                  <a:schemeClr val="bg1"/>
                </a:solidFill>
              </a:rPr>
              <a:t>Features</a:t>
            </a:r>
            <a:endParaRPr lang="en-US" sz="1400" dirty="0"/>
          </a:p>
        </p:txBody>
      </p:sp>
      <p:sp>
        <p:nvSpPr>
          <p:cNvPr id="26" name="Text 24"/>
          <p:cNvSpPr txBox="1"/>
          <p:nvPr/>
        </p:nvSpPr>
        <p:spPr>
          <a:xfrm>
            <a:off x="5980176" y="4983480"/>
            <a:ext cx="246888" cy="6400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27" name="pipeline 4"/>
          <p:cNvSpPr/>
          <p:nvPr/>
        </p:nvSpPr>
        <p:spPr>
          <a:xfrm>
            <a:off x="6227064" y="4983480"/>
            <a:ext cx="1645920" cy="640080"/>
          </a:xfrm>
          <a:prstGeom prst="roundRect">
            <a:avLst>
              <a:gd name="adj" fmla="val 11429"/>
            </a:avLst>
          </a:prstGeom>
          <a:solidFill>
            <a:schemeClr val="bg2"/>
          </a:solidFill>
          <a:ln/>
        </p:spPr>
      </p:sp>
      <p:sp>
        <p:nvSpPr>
          <p:cNvPr id="28" name="Text 26"/>
          <p:cNvSpPr txBox="1"/>
          <p:nvPr/>
        </p:nvSpPr>
        <p:spPr>
          <a:xfrm>
            <a:off x="6227064" y="4983480"/>
            <a:ext cx="1645920" cy="640080"/>
          </a:xfrm>
          <a:prstGeom prst="rect">
            <a:avLst/>
          </a:prstGeom>
          <a:noFill/>
          <a:ln/>
        </p:spPr>
        <p:txBody>
          <a:bodyPr wrap="square" lIns="0" tIns="0" rIns="0" bIns="0" rtlCol="0" anchor="ctr"/>
          <a:lstStyle/>
          <a:p>
            <a:pPr algn="ctr" indent="0" marL="0">
              <a:buNone/>
            </a:pPr>
            <a:r>
              <a:rPr lang="en-US" sz="1400" b="1" dirty="0">
                <a:solidFill>
                  <a:schemeClr val="tx1"/>
                </a:solidFill>
              </a:rPr>
              <a:t>LightGBM + SHAP</a:t>
            </a:r>
            <a:endParaRPr lang="en-US" sz="1400" dirty="0"/>
          </a:p>
        </p:txBody>
      </p:sp>
      <p:sp>
        <p:nvSpPr>
          <p:cNvPr id="29" name="Text 27"/>
          <p:cNvSpPr txBox="1"/>
          <p:nvPr/>
        </p:nvSpPr>
        <p:spPr>
          <a:xfrm>
            <a:off x="7872984" y="4983480"/>
            <a:ext cx="246888" cy="6400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30" name="pipeline 5"/>
          <p:cNvSpPr/>
          <p:nvPr/>
        </p:nvSpPr>
        <p:spPr>
          <a:xfrm>
            <a:off x="8119872" y="4983480"/>
            <a:ext cx="1645920" cy="640080"/>
          </a:xfrm>
          <a:prstGeom prst="roundRect">
            <a:avLst>
              <a:gd name="adj" fmla="val 11429"/>
            </a:avLst>
          </a:prstGeom>
          <a:solidFill>
            <a:schemeClr val="tx2"/>
          </a:solidFill>
          <a:ln/>
        </p:spPr>
      </p:sp>
      <p:sp>
        <p:nvSpPr>
          <p:cNvPr id="31" name="Text 29"/>
          <p:cNvSpPr txBox="1"/>
          <p:nvPr/>
        </p:nvSpPr>
        <p:spPr>
          <a:xfrm>
            <a:off x="8119872" y="4983480"/>
            <a:ext cx="1645920" cy="640080"/>
          </a:xfrm>
          <a:prstGeom prst="rect">
            <a:avLst/>
          </a:prstGeom>
          <a:noFill/>
          <a:ln/>
        </p:spPr>
        <p:txBody>
          <a:bodyPr wrap="square" lIns="0" tIns="0" rIns="0" bIns="0" rtlCol="0" anchor="ctr"/>
          <a:lstStyle/>
          <a:p>
            <a:pPr algn="ctr" indent="0" marL="0">
              <a:buNone/>
            </a:pPr>
            <a:r>
              <a:rPr lang="en-US" sz="1400" b="1" dirty="0">
                <a:solidFill>
                  <a:schemeClr val="bg1"/>
                </a:solidFill>
              </a:rPr>
              <a:t>LLM advisories</a:t>
            </a:r>
            <a:endParaRPr lang="en-US" sz="1400" dirty="0"/>
          </a:p>
        </p:txBody>
      </p:sp>
      <p:sp>
        <p:nvSpPr>
          <p:cNvPr id="32" name="Text 30"/>
          <p:cNvSpPr txBox="1"/>
          <p:nvPr/>
        </p:nvSpPr>
        <p:spPr>
          <a:xfrm>
            <a:off x="9765792" y="4983480"/>
            <a:ext cx="246888" cy="6400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33" name="pipeline 6"/>
          <p:cNvSpPr/>
          <p:nvPr/>
        </p:nvSpPr>
        <p:spPr>
          <a:xfrm>
            <a:off x="10012680" y="4983480"/>
            <a:ext cx="1645920" cy="640080"/>
          </a:xfrm>
          <a:prstGeom prst="roundRect">
            <a:avLst>
              <a:gd name="adj" fmla="val 11429"/>
            </a:avLst>
          </a:prstGeom>
          <a:solidFill>
            <a:schemeClr val="bg2"/>
          </a:solidFill>
          <a:ln/>
        </p:spPr>
      </p:sp>
      <p:sp>
        <p:nvSpPr>
          <p:cNvPr id="34" name="Text 32"/>
          <p:cNvSpPr txBox="1"/>
          <p:nvPr/>
        </p:nvSpPr>
        <p:spPr>
          <a:xfrm>
            <a:off x="10012680" y="4983480"/>
            <a:ext cx="1645920" cy="640080"/>
          </a:xfrm>
          <a:prstGeom prst="rect">
            <a:avLst/>
          </a:prstGeom>
          <a:noFill/>
          <a:ln/>
        </p:spPr>
        <p:txBody>
          <a:bodyPr wrap="square" lIns="0" tIns="0" rIns="0" bIns="0" rtlCol="0" anchor="ctr"/>
          <a:lstStyle/>
          <a:p>
            <a:pPr algn="ctr" indent="0" marL="0">
              <a:buNone/>
            </a:pPr>
            <a:r>
              <a:rPr lang="en-US" sz="1400" b="1" dirty="0">
                <a:solidFill>
                  <a:schemeClr val="tx1"/>
                </a:solidFill>
              </a:rPr>
              <a:t>Live dashboard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Two million raw records from four free sources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206240" cy="914400"/>
        </p:xfrm>
        <a:graphic>
          <a:graphicData uri="http://schemas.openxmlformats.org/drawingml/2006/table">
            <a:tbl>
              <a:tblPr/>
              <a:tblGrid>
                <a:gridCol w="2834640"/>
                <a:gridCol w="1371600"/>
              </a:tblGrid>
              <a:tr h="365760">
                <a:tc>
                  <a:txBody>
                    <a:bodyPr/>
                    <a:lstStyle/>
                    <a:p>
                      <a:pPr indent="0" marL="0">
                        <a:buNone/>
                      </a:pPr>
                      <a:r>
                        <a:rPr lang="en-US" sz="1400" b="1" dirty="0">
                          <a:solidFill>
                            <a:schemeClr val="tx1"/>
                          </a:solidFill>
                        </a:rPr>
                        <a:t>Source</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Records</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Open-Meteo ERA5 weather</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266,760</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365760">
                <a:tc>
                  <a:txBody>
                    <a:bodyPr/>
                    <a:lstStyle/>
                    <a:p>
                      <a:pPr indent="0" marL="0">
                        <a:buNone/>
                      </a:pPr>
                      <a:r>
                        <a:rPr lang="en-US" sz="1400" dirty="0">
                          <a:solidFill>
                            <a:schemeClr val="tx1"/>
                          </a:solidFill>
                        </a:rPr>
                        <a:t>OpenAQ PM2.5, 200 sensors</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587,969</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365760">
                <a:tc>
                  <a:txBody>
                    <a:bodyPr/>
                    <a:lstStyle/>
                    <a:p>
                      <a:pPr indent="0" marL="0">
                        <a:buNone/>
                      </a:pPr>
                      <a:r>
                        <a:rPr lang="en-US" sz="1400" dirty="0">
                          <a:solidFill>
                            <a:schemeClr val="tx1"/>
                          </a:solidFill>
                        </a:rPr>
                        <a:t>OpenAQ PM10, 5 sensors</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5,904</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365760">
                <a:tc>
                  <a:txBody>
                    <a:bodyPr/>
                    <a:lstStyle/>
                    <a:p>
                      <a:pPr indent="0" marL="0">
                        <a:buNone/>
                      </a:pPr>
                      <a:r>
                        <a:rPr lang="en-US" sz="1400" dirty="0">
                          <a:solidFill>
                            <a:schemeClr val="tx1"/>
                          </a:solidFill>
                        </a:rPr>
                        <a:t>NASA FIRMS fires</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1,185,836</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365760">
                <a:tc>
                  <a:txBody>
                    <a:bodyPr/>
                    <a:lstStyle/>
                    <a:p>
                      <a:pPr indent="0" marL="0">
                        <a:buNone/>
                      </a:pPr>
                      <a:r>
                        <a:rPr lang="en-US" sz="1400" dirty="0">
                          <a:solidFill>
                            <a:schemeClr val="tx1"/>
                          </a:solidFill>
                        </a:rPr>
                        <a:t>GDELT news headlines</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2,255</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365760">
                <a:tc>
                  <a:txBody>
                    <a:bodyPr/>
                    <a:lstStyle/>
                    <a:p>
                      <a:pPr indent="0" marL="0">
                        <a:buNone/>
                      </a:pPr>
                      <a:r>
                        <a:rPr lang="en-US" sz="1400" b="1" dirty="0">
                          <a:solidFill>
                            <a:schemeClr val="tx1"/>
                          </a:solidFill>
                        </a:rPr>
                        <a:t>Total, 2020 to Jan 2026</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b="1" dirty="0">
                          <a:solidFill>
                            <a:schemeClr val="tx1"/>
                          </a:solidFill>
                        </a:rPr>
                        <a:t>2,048,724</a:t>
                      </a:r>
                      <a:endParaRPr lang="en-US" sz="1400" dirty="0"/>
                    </a:p>
                  </a:txBody>
                  <a:tcPr marL="64008" marR="64008" marT="64008" marB="64008">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bl>
          </a:graphicData>
        </a:graphic>
      </p:graphicFrame>
      <p:pic>
        <p:nvPicPr>
          <p:cNvPr id="4" name="PM2.5 sensor coverage per city over time" descr="PM2.5 sensor coverage per city over time">    </p:cNvPr>
          <p:cNvPicPr>
            <a:picLocks noChangeAspect="1"/>
          </p:cNvPicPr>
          <p:nvPr/>
        </p:nvPicPr>
        <p:blipFill>
          <a:blip r:embed="rId1"/>
          <a:stretch>
            <a:fillRect/>
          </a:stretch>
        </p:blipFill>
        <p:spPr>
          <a:xfrm>
            <a:off x="5120640" y="1280160"/>
            <a:ext cx="6492240" cy="2877166"/>
          </a:xfrm>
          <a:prstGeom prst="rect">
            <a:avLst/>
          </a:prstGeom>
        </p:spPr>
      </p:pic>
      <p:pic>
        <p:nvPicPr>
          <p:cNvPr id="5" name="Map of PM2.5 sensors within 25 km of each city" descr="Map of PM2.5 sensors within 25 km of each city">    </p:cNvPr>
          <p:cNvPicPr>
            <a:picLocks noChangeAspect="1"/>
          </p:cNvPicPr>
          <p:nvPr/>
        </p:nvPicPr>
        <p:blipFill>
          <a:blip r:embed="rId2"/>
          <a:stretch>
            <a:fillRect/>
          </a:stretch>
        </p:blipFill>
        <p:spPr>
          <a:xfrm>
            <a:off x="548640" y="4297680"/>
            <a:ext cx="7315200" cy="1996966"/>
          </a:xfrm>
          <a:prstGeom prst="rect">
            <a:avLst/>
          </a:prstGeom>
        </p:spPr>
      </p:pic>
      <p:sp>
        <p:nvSpPr>
          <p:cNvPr id="6" name="coverage takeaway"/>
          <p:cNvSpPr/>
          <p:nvPr/>
        </p:nvSpPr>
        <p:spPr>
          <a:xfrm>
            <a:off x="8092440" y="4297680"/>
            <a:ext cx="3520440" cy="1965960"/>
          </a:xfrm>
          <a:prstGeom prst="roundRect">
            <a:avLst>
              <a:gd name="adj" fmla="val 3721"/>
            </a:avLst>
          </a:prstGeom>
          <a:solidFill>
            <a:schemeClr val="bg2"/>
          </a:solidFill>
          <a:ln/>
        </p:spPr>
      </p:sp>
      <p:sp>
        <p:nvSpPr>
          <p:cNvPr id="7" name="Text 2"/>
          <p:cNvSpPr txBox="1"/>
          <p:nvPr/>
        </p:nvSpPr>
        <p:spPr>
          <a:xfrm>
            <a:off x="8275320" y="4434840"/>
            <a:ext cx="3200400" cy="1737360"/>
          </a:xfrm>
          <a:prstGeom prst="rect">
            <a:avLst/>
          </a:prstGeom>
          <a:noFill/>
          <a:ln/>
        </p:spPr>
        <p:txBody>
          <a:bodyPr wrap="square" lIns="0" tIns="0" rIns="0" bIns="0" rtlCol="0" anchor="t"/>
          <a:lstStyle/>
          <a:p>
            <a:pPr indent="0" marL="0">
              <a:buNone/>
            </a:pPr>
            <a:r>
              <a:rPr lang="en-US" sz="1400" dirty="0">
                <a:solidFill>
                  <a:schemeClr val="tx1"/>
                </a:solidFill>
              </a:rPr>
              <a:t>US reference monitors ended on 4 March 2025. </a:t>
            </a:r>
            <a:pPr indent="0" marL="0">
              <a:buNone/>
            </a:pPr>
            <a:r>
              <a:rPr lang="en-US" sz="1400" b="1" dirty="0">
                <a:solidFill>
                  <a:schemeClr val="tx1"/>
                </a:solidFill>
              </a:rPr>
              <a:t>Faisalabad and Multan start in June 2025: an unseen-city test. </a:t>
            </a:r>
            <a:pPr indent="0" marL="0">
              <a:buNone/>
            </a:pPr>
            <a:r>
              <a:rPr lang="en-US" sz="1400" dirty="0">
                <a:solidFill>
                  <a:schemeClr val="tx1"/>
                </a:solidFill>
              </a:rPr>
              <a:t>Sensors cluster in a few neighbourhoods; no NO2 sensor exists near any city.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How the data was fetched</a:t>
            </a:r>
            <a:endParaRPr lang="en-US" sz="3000" dirty="0"/>
          </a:p>
        </p:txBody>
      </p:sp>
      <p:sp>
        <p:nvSpPr>
          <p:cNvPr id="3" name="fetch card 1"/>
          <p:cNvSpPr/>
          <p:nvPr/>
        </p:nvSpPr>
        <p:spPr>
          <a:xfrm>
            <a:off x="548640" y="1280160"/>
            <a:ext cx="2606040" cy="4526280"/>
          </a:xfrm>
          <a:prstGeom prst="roundRect">
            <a:avLst>
              <a:gd name="adj" fmla="val 2807"/>
            </a:avLst>
          </a:prstGeom>
          <a:solidFill>
            <a:schemeClr val="bg2"/>
          </a:solidFill>
          <a:ln/>
        </p:spPr>
      </p:sp>
      <p:sp>
        <p:nvSpPr>
          <p:cNvPr id="4" name="Text 2"/>
          <p:cNvSpPr txBox="1"/>
          <p:nvPr/>
        </p:nvSpPr>
        <p:spPr>
          <a:xfrm>
            <a:off x="731520" y="1417320"/>
            <a:ext cx="22402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Open-Meteo (ERA5)</a:t>
            </a:r>
            <a:endParaRPr lang="en-US" sz="1800" dirty="0"/>
          </a:p>
        </p:txBody>
      </p:sp>
      <p:sp>
        <p:nvSpPr>
          <p:cNvPr id="5" name="Text 3"/>
          <p:cNvSpPr txBox="1"/>
          <p:nvPr/>
        </p:nvSpPr>
        <p:spPr>
          <a:xfrm>
            <a:off x="731520" y="1847088"/>
            <a:ext cx="2240280" cy="411480"/>
          </a:xfrm>
          <a:prstGeom prst="rect">
            <a:avLst/>
          </a:prstGeom>
          <a:noFill/>
          <a:ln/>
        </p:spPr>
        <p:txBody>
          <a:bodyPr wrap="square" lIns="0" tIns="0" rIns="0" bIns="0" rtlCol="0" anchor="t"/>
          <a:lstStyle/>
          <a:p>
            <a:pPr indent="0" marL="0">
              <a:buNone/>
            </a:pPr>
            <a:r>
              <a:rPr lang="en-US" sz="1200" dirty="0">
                <a:solidFill>
                  <a:schemeClr val="accent6"/>
                </a:solidFill>
              </a:rPr>
              <a:t>archive-api.open-meteo.com · no key</a:t>
            </a:r>
            <a:endParaRPr lang="en-US" sz="1200" dirty="0"/>
          </a:p>
        </p:txBody>
      </p:sp>
      <p:sp>
        <p:nvSpPr>
          <p:cNvPr id="6" name="Text 4"/>
          <p:cNvSpPr txBox="1"/>
          <p:nvPr/>
        </p:nvSpPr>
        <p:spPr>
          <a:xfrm>
            <a:off x="731520" y="2286000"/>
            <a:ext cx="2240280" cy="1234440"/>
          </a:xfrm>
          <a:prstGeom prst="rect">
            <a:avLst/>
          </a:prstGeom>
          <a:noFill/>
          <a:ln/>
        </p:spPr>
        <p:txBody>
          <a:bodyPr wrap="square" lIns="0" tIns="0" rIns="0" bIns="0" rtlCol="0" anchor="t"/>
          <a:lstStyle/>
          <a:p>
            <a:pPr indent="0" marL="0">
              <a:buNone/>
            </a:pPr>
            <a:r>
              <a:rPr lang="en-US" sz="1400" dirty="0">
                <a:solidFill>
                  <a:schemeClr val="tx1"/>
                </a:solidFill>
              </a:rPr>
              <a:t>One request per city and year: 35 requests, 5 s apart</a:t>
            </a:r>
            <a:endParaRPr lang="en-US" sz="1400" dirty="0"/>
          </a:p>
        </p:txBody>
      </p:sp>
      <p:sp>
        <p:nvSpPr>
          <p:cNvPr id="7" name="Text 5"/>
          <p:cNvSpPr txBox="1"/>
          <p:nvPr/>
        </p:nvSpPr>
        <p:spPr>
          <a:xfrm>
            <a:off x="731520" y="3520440"/>
            <a:ext cx="2240280" cy="868680"/>
          </a:xfrm>
          <a:prstGeom prst="rect">
            <a:avLst/>
          </a:prstGeom>
          <a:noFill/>
          <a:ln/>
        </p:spPr>
        <p:txBody>
          <a:bodyPr wrap="square" lIns="0" tIns="0" rIns="0" bIns="0" rtlCol="0" anchor="t"/>
          <a:lstStyle/>
          <a:p>
            <a:pPr indent="0" marL="0">
              <a:buNone/>
            </a:pPr>
            <a:r>
              <a:rPr lang="en-US" sz="1300" i="1" dirty="0">
                <a:solidFill>
                  <a:schemeClr val="accent6"/>
                </a:solidFill>
              </a:rPr>
              <a:t>Boundary layer height missing Jan-Jun 2024: imputed later</a:t>
            </a:r>
            <a:endParaRPr lang="en-US" sz="1300" dirty="0"/>
          </a:p>
        </p:txBody>
      </p:sp>
      <p:sp>
        <p:nvSpPr>
          <p:cNvPr id="8" name="Text 6"/>
          <p:cNvSpPr txBox="1"/>
          <p:nvPr/>
        </p:nvSpPr>
        <p:spPr>
          <a:xfrm>
            <a:off x="731520" y="4389120"/>
            <a:ext cx="2240280" cy="54864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266,760</a:t>
            </a:r>
            <a:endParaRPr lang="en-US" sz="2800" dirty="0"/>
          </a:p>
        </p:txBody>
      </p:sp>
      <p:sp>
        <p:nvSpPr>
          <p:cNvPr id="9" name="Text 7"/>
          <p:cNvSpPr txBox="1"/>
          <p:nvPr/>
        </p:nvSpPr>
        <p:spPr>
          <a:xfrm>
            <a:off x="731520" y="4983480"/>
            <a:ext cx="2240280" cy="731520"/>
          </a:xfrm>
          <a:prstGeom prst="rect">
            <a:avLst/>
          </a:prstGeom>
          <a:noFill/>
          <a:ln/>
        </p:spPr>
        <p:txBody>
          <a:bodyPr wrap="square" lIns="0" tIns="0" rIns="0" bIns="0" rtlCol="0" anchor="t"/>
          <a:lstStyle/>
          <a:p>
            <a:pPr indent="0" marL="0">
              <a:buNone/>
            </a:pPr>
            <a:r>
              <a:rPr lang="en-US" sz="1300" dirty="0">
                <a:solidFill>
                  <a:schemeClr val="tx1"/>
                </a:solidFill>
              </a:rPr>
              <a:t>hourly weather rows</a:t>
            </a:r>
            <a:endParaRPr lang="en-US" sz="1300" dirty="0"/>
          </a:p>
        </p:txBody>
      </p:sp>
      <p:sp>
        <p:nvSpPr>
          <p:cNvPr id="10" name="fetch card 2"/>
          <p:cNvSpPr/>
          <p:nvPr/>
        </p:nvSpPr>
        <p:spPr>
          <a:xfrm>
            <a:off x="3364992" y="1280160"/>
            <a:ext cx="2606040" cy="4526280"/>
          </a:xfrm>
          <a:prstGeom prst="roundRect">
            <a:avLst>
              <a:gd name="adj" fmla="val 2807"/>
            </a:avLst>
          </a:prstGeom>
          <a:solidFill>
            <a:schemeClr val="bg2"/>
          </a:solidFill>
          <a:ln/>
        </p:spPr>
      </p:sp>
      <p:sp>
        <p:nvSpPr>
          <p:cNvPr id="11" name="Text 9"/>
          <p:cNvSpPr txBox="1"/>
          <p:nvPr/>
        </p:nvSpPr>
        <p:spPr>
          <a:xfrm>
            <a:off x="3547872" y="1417320"/>
            <a:ext cx="22402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OpenAQ v3</a:t>
            </a:r>
            <a:endParaRPr lang="en-US" sz="1800" dirty="0"/>
          </a:p>
        </p:txBody>
      </p:sp>
      <p:sp>
        <p:nvSpPr>
          <p:cNvPr id="12" name="Text 10"/>
          <p:cNvSpPr txBox="1"/>
          <p:nvPr/>
        </p:nvSpPr>
        <p:spPr>
          <a:xfrm>
            <a:off x="3547872" y="1847088"/>
            <a:ext cx="2240280" cy="411480"/>
          </a:xfrm>
          <a:prstGeom prst="rect">
            <a:avLst/>
          </a:prstGeom>
          <a:noFill/>
          <a:ln/>
        </p:spPr>
        <p:txBody>
          <a:bodyPr wrap="square" lIns="0" tIns="0" rIns="0" bIns="0" rtlCol="0" anchor="t"/>
          <a:lstStyle/>
          <a:p>
            <a:pPr indent="0" marL="0">
              <a:buNone/>
            </a:pPr>
            <a:r>
              <a:rPr lang="en-US" sz="1200" dirty="0">
                <a:solidFill>
                  <a:schemeClr val="accent6"/>
                </a:solidFill>
              </a:rPr>
              <a:t>api.openaq.org/v3 · free key</a:t>
            </a:r>
            <a:endParaRPr lang="en-US" sz="1200" dirty="0"/>
          </a:p>
        </p:txBody>
      </p:sp>
      <p:sp>
        <p:nvSpPr>
          <p:cNvPr id="13" name="Text 11"/>
          <p:cNvSpPr txBox="1"/>
          <p:nvPr/>
        </p:nvSpPr>
        <p:spPr>
          <a:xfrm>
            <a:off x="3547872" y="2286000"/>
            <a:ext cx="2240280" cy="1234440"/>
          </a:xfrm>
          <a:prstGeom prst="rect">
            <a:avLst/>
          </a:prstGeom>
          <a:noFill/>
          <a:ln/>
        </p:spPr>
        <p:txBody>
          <a:bodyPr wrap="square" lIns="0" tIns="0" rIns="0" bIns="0" rtlCol="0" anchor="t"/>
          <a:lstStyle/>
          <a:p>
            <a:pPr indent="0" marL="0">
              <a:buNone/>
            </a:pPr>
            <a:r>
              <a:rPr lang="en-US" sz="1400" dirty="0">
                <a:solidFill>
                  <a:schemeClr val="tx1"/>
                </a:solidFill>
              </a:rPr>
              <a:t>Sensors within 25 km, then one month per request: about 1,300 requests, 4 workers under 60 a minute</a:t>
            </a:r>
            <a:endParaRPr lang="en-US" sz="1400" dirty="0"/>
          </a:p>
        </p:txBody>
      </p:sp>
      <p:sp>
        <p:nvSpPr>
          <p:cNvPr id="14" name="Text 12"/>
          <p:cNvSpPr txBox="1"/>
          <p:nvPr/>
        </p:nvSpPr>
        <p:spPr>
          <a:xfrm>
            <a:off x="3547872" y="3520440"/>
            <a:ext cx="2240280" cy="868680"/>
          </a:xfrm>
          <a:prstGeom prst="rect">
            <a:avLst/>
          </a:prstGeom>
          <a:noFill/>
          <a:ln/>
        </p:spPr>
        <p:txBody>
          <a:bodyPr wrap="square" lIns="0" tIns="0" rIns="0" bIns="0" rtlCol="0" anchor="t"/>
          <a:lstStyle/>
          <a:p>
            <a:pPr indent="0" marL="0">
              <a:buNone/>
            </a:pPr>
            <a:r>
              <a:rPr lang="en-US" sz="1300" i="1" dirty="0">
                <a:solidFill>
                  <a:schemeClr val="accent6"/>
                </a:solidFill>
              </a:rPr>
              <a:t>Year-long paging timed out (HTTP 408): retried</a:t>
            </a:r>
            <a:endParaRPr lang="en-US" sz="1300" dirty="0"/>
          </a:p>
        </p:txBody>
      </p:sp>
      <p:sp>
        <p:nvSpPr>
          <p:cNvPr id="15" name="Text 13"/>
          <p:cNvSpPr txBox="1"/>
          <p:nvPr/>
        </p:nvSpPr>
        <p:spPr>
          <a:xfrm>
            <a:off x="3547872" y="4389120"/>
            <a:ext cx="2240280" cy="54864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587,969</a:t>
            </a:r>
            <a:endParaRPr lang="en-US" sz="2800" dirty="0"/>
          </a:p>
        </p:txBody>
      </p:sp>
      <p:sp>
        <p:nvSpPr>
          <p:cNvPr id="16" name="Text 14"/>
          <p:cNvSpPr txBox="1"/>
          <p:nvPr/>
        </p:nvSpPr>
        <p:spPr>
          <a:xfrm>
            <a:off x="3547872" y="4983480"/>
            <a:ext cx="2240280" cy="731520"/>
          </a:xfrm>
          <a:prstGeom prst="rect">
            <a:avLst/>
          </a:prstGeom>
          <a:noFill/>
          <a:ln/>
        </p:spPr>
        <p:txBody>
          <a:bodyPr wrap="square" lIns="0" tIns="0" rIns="0" bIns="0" rtlCol="0" anchor="t"/>
          <a:lstStyle/>
          <a:p>
            <a:pPr indent="0" marL="0">
              <a:buNone/>
            </a:pPr>
            <a:r>
              <a:rPr lang="en-US" sz="1300" dirty="0">
                <a:solidFill>
                  <a:schemeClr val="tx1"/>
                </a:solidFill>
              </a:rPr>
              <a:t>PM2.5 sensor-hours, plus 5,904 PM10</a:t>
            </a:r>
            <a:endParaRPr lang="en-US" sz="1300" dirty="0"/>
          </a:p>
        </p:txBody>
      </p:sp>
      <p:sp>
        <p:nvSpPr>
          <p:cNvPr id="17" name="fetch card 3"/>
          <p:cNvSpPr/>
          <p:nvPr/>
        </p:nvSpPr>
        <p:spPr>
          <a:xfrm>
            <a:off x="6181344" y="1280160"/>
            <a:ext cx="2606040" cy="4526280"/>
          </a:xfrm>
          <a:prstGeom prst="roundRect">
            <a:avLst>
              <a:gd name="adj" fmla="val 2807"/>
            </a:avLst>
          </a:prstGeom>
          <a:solidFill>
            <a:schemeClr val="bg2"/>
          </a:solidFill>
          <a:ln/>
        </p:spPr>
      </p:sp>
      <p:sp>
        <p:nvSpPr>
          <p:cNvPr id="18" name="Text 16"/>
          <p:cNvSpPr txBox="1"/>
          <p:nvPr/>
        </p:nvSpPr>
        <p:spPr>
          <a:xfrm>
            <a:off x="6364224" y="1417320"/>
            <a:ext cx="22402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NASA FIRMS</a:t>
            </a:r>
            <a:endParaRPr lang="en-US" sz="1800" dirty="0"/>
          </a:p>
        </p:txBody>
      </p:sp>
      <p:sp>
        <p:nvSpPr>
          <p:cNvPr id="19" name="Text 17"/>
          <p:cNvSpPr txBox="1"/>
          <p:nvPr/>
        </p:nvSpPr>
        <p:spPr>
          <a:xfrm>
            <a:off x="6364224" y="1847088"/>
            <a:ext cx="2240280" cy="411480"/>
          </a:xfrm>
          <a:prstGeom prst="rect">
            <a:avLst/>
          </a:prstGeom>
          <a:noFill/>
          <a:ln/>
        </p:spPr>
        <p:txBody>
          <a:bodyPr wrap="square" lIns="0" tIns="0" rIns="0" bIns="0" rtlCol="0" anchor="t"/>
          <a:lstStyle/>
          <a:p>
            <a:pPr indent="0" marL="0">
              <a:buNone/>
            </a:pPr>
            <a:r>
              <a:rPr lang="en-US" sz="1200" dirty="0">
                <a:solidFill>
                  <a:schemeClr val="accent6"/>
                </a:solidFill>
              </a:rPr>
              <a:t>area API · free MAP_KEY</a:t>
            </a:r>
            <a:endParaRPr lang="en-US" sz="1200" dirty="0"/>
          </a:p>
        </p:txBody>
      </p:sp>
      <p:sp>
        <p:nvSpPr>
          <p:cNvPr id="20" name="Text 18"/>
          <p:cNvSpPr txBox="1"/>
          <p:nvPr/>
        </p:nvSpPr>
        <p:spPr>
          <a:xfrm>
            <a:off x="6364224" y="2286000"/>
            <a:ext cx="2240280" cy="1234440"/>
          </a:xfrm>
          <a:prstGeom prst="rect">
            <a:avLst/>
          </a:prstGeom>
          <a:noFill/>
          <a:ln/>
        </p:spPr>
        <p:txBody>
          <a:bodyPr wrap="square" lIns="0" tIns="0" rIns="0" bIns="0" rtlCol="0" anchor="t"/>
          <a:lstStyle/>
          <a:p>
            <a:pPr indent="0" marL="0">
              <a:buNone/>
            </a:pPr>
            <a:r>
              <a:rPr lang="en-US" sz="1400" dirty="0">
                <a:solidFill>
                  <a:schemeClr val="tx1"/>
                </a:solidFill>
              </a:rPr>
              <a:t>5-day chunks into 146 monthly files; workers walk forward and backward</a:t>
            </a:r>
            <a:endParaRPr lang="en-US" sz="1400" dirty="0"/>
          </a:p>
        </p:txBody>
      </p:sp>
      <p:sp>
        <p:nvSpPr>
          <p:cNvPr id="21" name="Text 19"/>
          <p:cNvSpPr txBox="1"/>
          <p:nvPr/>
        </p:nvSpPr>
        <p:spPr>
          <a:xfrm>
            <a:off x="6364224" y="3520440"/>
            <a:ext cx="2240280" cy="868680"/>
          </a:xfrm>
          <a:prstGeom prst="rect">
            <a:avLst/>
          </a:prstGeom>
          <a:noFill/>
          <a:ln/>
        </p:spPr>
        <p:txBody>
          <a:bodyPr wrap="square" lIns="0" tIns="0" rIns="0" bIns="0" rtlCol="0" anchor="t"/>
          <a:lstStyle/>
          <a:p>
            <a:pPr indent="0" marL="0">
              <a:buNone/>
            </a:pPr>
            <a:r>
              <a:rPr lang="en-US" sz="1300" i="1" dirty="0">
                <a:solidFill>
                  <a:schemeClr val="accent6"/>
                </a:solidFill>
              </a:rPr>
              <a:t>Over quota it answers "Invalid MAP_KEY": wait and retry</a:t>
            </a:r>
            <a:endParaRPr lang="en-US" sz="1300" dirty="0"/>
          </a:p>
        </p:txBody>
      </p:sp>
      <p:sp>
        <p:nvSpPr>
          <p:cNvPr id="22" name="Text 20"/>
          <p:cNvSpPr txBox="1"/>
          <p:nvPr/>
        </p:nvSpPr>
        <p:spPr>
          <a:xfrm>
            <a:off x="6364224" y="4389120"/>
            <a:ext cx="2240280" cy="54864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1,185,836</a:t>
            </a:r>
            <a:endParaRPr lang="en-US" sz="2800" dirty="0"/>
          </a:p>
        </p:txBody>
      </p:sp>
      <p:sp>
        <p:nvSpPr>
          <p:cNvPr id="23" name="Text 21"/>
          <p:cNvSpPr txBox="1"/>
          <p:nvPr/>
        </p:nvSpPr>
        <p:spPr>
          <a:xfrm>
            <a:off x="6364224" y="4983480"/>
            <a:ext cx="2240280" cy="731520"/>
          </a:xfrm>
          <a:prstGeom prst="rect">
            <a:avLst/>
          </a:prstGeom>
          <a:noFill/>
          <a:ln/>
        </p:spPr>
        <p:txBody>
          <a:bodyPr wrap="square" lIns="0" tIns="0" rIns="0" bIns="0" rtlCol="0" anchor="t"/>
          <a:lstStyle/>
          <a:p>
            <a:pPr indent="0" marL="0">
              <a:buNone/>
            </a:pPr>
            <a:r>
              <a:rPr lang="en-US" sz="1300" dirty="0">
                <a:solidFill>
                  <a:schemeClr val="tx1"/>
                </a:solidFill>
              </a:rPr>
              <a:t>fire detections</a:t>
            </a:r>
            <a:endParaRPr lang="en-US" sz="1300" dirty="0"/>
          </a:p>
        </p:txBody>
      </p:sp>
      <p:sp>
        <p:nvSpPr>
          <p:cNvPr id="24" name="fetch card 4"/>
          <p:cNvSpPr/>
          <p:nvPr/>
        </p:nvSpPr>
        <p:spPr>
          <a:xfrm>
            <a:off x="8997696" y="1280160"/>
            <a:ext cx="2606040" cy="4526280"/>
          </a:xfrm>
          <a:prstGeom prst="roundRect">
            <a:avLst>
              <a:gd name="adj" fmla="val 2807"/>
            </a:avLst>
          </a:prstGeom>
          <a:solidFill>
            <a:schemeClr val="bg2"/>
          </a:solidFill>
          <a:ln/>
        </p:spPr>
      </p:sp>
      <p:sp>
        <p:nvSpPr>
          <p:cNvPr id="25" name="Text 23"/>
          <p:cNvSpPr txBox="1"/>
          <p:nvPr/>
        </p:nvSpPr>
        <p:spPr>
          <a:xfrm>
            <a:off x="9180576" y="1417320"/>
            <a:ext cx="22402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GDELT news</a:t>
            </a:r>
            <a:endParaRPr lang="en-US" sz="1800" dirty="0"/>
          </a:p>
        </p:txBody>
      </p:sp>
      <p:sp>
        <p:nvSpPr>
          <p:cNvPr id="26" name="Text 24"/>
          <p:cNvSpPr txBox="1"/>
          <p:nvPr/>
        </p:nvSpPr>
        <p:spPr>
          <a:xfrm>
            <a:off x="9180576" y="1847088"/>
            <a:ext cx="2240280" cy="411480"/>
          </a:xfrm>
          <a:prstGeom prst="rect">
            <a:avLst/>
          </a:prstGeom>
          <a:noFill/>
          <a:ln/>
        </p:spPr>
        <p:txBody>
          <a:bodyPr wrap="square" lIns="0" tIns="0" rIns="0" bIns="0" rtlCol="0" anchor="t"/>
          <a:lstStyle/>
          <a:p>
            <a:pPr indent="0" marL="0">
              <a:buNone/>
            </a:pPr>
            <a:r>
              <a:rPr lang="en-US" sz="1200" dirty="0">
                <a:solidFill>
                  <a:schemeClr val="accent6"/>
                </a:solidFill>
              </a:rPr>
              <a:t>DOC 2.0 API · no key</a:t>
            </a:r>
            <a:endParaRPr lang="en-US" sz="1200" dirty="0"/>
          </a:p>
        </p:txBody>
      </p:sp>
      <p:sp>
        <p:nvSpPr>
          <p:cNvPr id="27" name="Text 25"/>
          <p:cNvSpPr txBox="1"/>
          <p:nvPr/>
        </p:nvSpPr>
        <p:spPr>
          <a:xfrm>
            <a:off x="9180576" y="2286000"/>
            <a:ext cx="2240280" cy="1234440"/>
          </a:xfrm>
          <a:prstGeom prst="rect">
            <a:avLst/>
          </a:prstGeom>
          <a:noFill/>
          <a:ln/>
        </p:spPr>
        <p:txBody>
          <a:bodyPr wrap="square" lIns="0" tIns="0" rIns="0" bIns="0" rtlCol="0" anchor="t"/>
          <a:lstStyle/>
          <a:p>
            <a:pPr indent="0" marL="0">
              <a:buNone/>
            </a:pPr>
            <a:r>
              <a:rPr lang="en-US" sz="1400" dirty="0">
                <a:solidFill>
                  <a:schemeClr val="tx1"/>
                </a:solidFill>
              </a:rPr>
              <a:t>Two windows per smog season: 13 requests</a:t>
            </a:r>
            <a:endParaRPr lang="en-US" sz="1400" dirty="0"/>
          </a:p>
        </p:txBody>
      </p:sp>
      <p:sp>
        <p:nvSpPr>
          <p:cNvPr id="28" name="Text 26"/>
          <p:cNvSpPr txBox="1"/>
          <p:nvPr/>
        </p:nvSpPr>
        <p:spPr>
          <a:xfrm>
            <a:off x="9180576" y="3520440"/>
            <a:ext cx="2240280" cy="868680"/>
          </a:xfrm>
          <a:prstGeom prst="rect">
            <a:avLst/>
          </a:prstGeom>
          <a:noFill/>
          <a:ln/>
        </p:spPr>
        <p:txBody>
          <a:bodyPr wrap="square" lIns="0" tIns="0" rIns="0" bIns="0" rtlCol="0" anchor="t"/>
          <a:lstStyle/>
          <a:p>
            <a:pPr indent="0" marL="0">
              <a:buNone/>
            </a:pPr>
            <a:r>
              <a:rPr lang="en-US" sz="1300" i="1" dirty="0">
                <a:solidFill>
                  <a:schemeClr val="accent6"/>
                </a:solidFill>
              </a:rPr>
              <a:t>Throttled (HTTP 429): 10 s spacing, retries</a:t>
            </a:r>
            <a:endParaRPr lang="en-US" sz="1300" dirty="0"/>
          </a:p>
        </p:txBody>
      </p:sp>
      <p:sp>
        <p:nvSpPr>
          <p:cNvPr id="29" name="Text 27"/>
          <p:cNvSpPr txBox="1"/>
          <p:nvPr/>
        </p:nvSpPr>
        <p:spPr>
          <a:xfrm>
            <a:off x="9180576" y="4389120"/>
            <a:ext cx="2240280" cy="54864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2,255</a:t>
            </a:r>
            <a:endParaRPr lang="en-US" sz="2800" dirty="0"/>
          </a:p>
        </p:txBody>
      </p:sp>
      <p:sp>
        <p:nvSpPr>
          <p:cNvPr id="30" name="Text 28"/>
          <p:cNvSpPr txBox="1"/>
          <p:nvPr/>
        </p:nvSpPr>
        <p:spPr>
          <a:xfrm>
            <a:off x="9180576" y="4983480"/>
            <a:ext cx="2240280" cy="731520"/>
          </a:xfrm>
          <a:prstGeom prst="rect">
            <a:avLst/>
          </a:prstGeom>
          <a:noFill/>
          <a:ln/>
        </p:spPr>
        <p:txBody>
          <a:bodyPr wrap="square" lIns="0" tIns="0" rIns="0" bIns="0" rtlCol="0" anchor="t"/>
          <a:lstStyle/>
          <a:p>
            <a:pPr indent="0" marL="0">
              <a:buNone/>
            </a:pPr>
            <a:r>
              <a:rPr lang="en-US" sz="1300" dirty="0">
                <a:solidFill>
                  <a:schemeClr val="tx1"/>
                </a:solidFill>
              </a:rPr>
              <a:t>headlines, from 2,438 articles</a:t>
            </a:r>
            <a:endParaRPr lang="en-US" sz="1300" dirty="0"/>
          </a:p>
        </p:txBody>
      </p:sp>
      <p:sp>
        <p:nvSpPr>
          <p:cNvPr id="31" name="Text 29"/>
          <p:cNvSpPr txBox="1"/>
          <p:nvPr/>
        </p:nvSpPr>
        <p:spPr>
          <a:xfrm>
            <a:off x="548640" y="5897880"/>
            <a:ext cx="11064240" cy="457200"/>
          </a:xfrm>
          <a:prstGeom prst="rect">
            <a:avLst/>
          </a:prstGeom>
          <a:noFill/>
          <a:ln/>
        </p:spPr>
        <p:txBody>
          <a:bodyPr wrap="square" lIns="0" tIns="0" rIns="0" bIns="0" rtlCol="0" anchor="t"/>
          <a:lstStyle/>
          <a:p>
            <a:pPr indent="0" marL="0">
              <a:buNone/>
            </a:pPr>
            <a:r>
              <a:rPr lang="en-US" sz="1300" dirty="0">
                <a:solidFill>
                  <a:schemeClr val="accent6"/>
                </a:solidFill>
              </a:rPr>
              <a:t>Same pattern everywhere: small requests, every response saved untouched in data/raw/, downloads resume where they stop. Total 2,048,724 raw records, 1 Jan 2020 to 31 Jan 2026 (the 2025 smog season ends in January; later data feeds the live forecast).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Nine logged cleaning steps, with real counts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8001000" cy="914400"/>
        </p:xfrm>
        <a:graphic>
          <a:graphicData uri="http://schemas.openxmlformats.org/drawingml/2006/table">
            <a:tbl>
              <a:tblPr/>
              <a:tblGrid>
                <a:gridCol w="1417320"/>
                <a:gridCol w="3611880"/>
                <a:gridCol w="2971800"/>
              </a:tblGrid>
              <a:tr h="420624">
                <a:tc>
                  <a:txBody>
                    <a:bodyPr/>
                    <a:lstStyle/>
                    <a:p>
                      <a:pPr indent="0" marL="0">
                        <a:buNone/>
                      </a:pPr>
                      <a:r>
                        <a:rPr lang="en-US" sz="1400" b="1" dirty="0">
                          <a:solidFill>
                            <a:schemeClr val="tx1"/>
                          </a:solidFill>
                        </a:rPr>
                        <a:t>Step</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Rule</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Effect</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r>
              <a:tr h="420624">
                <a:tc>
                  <a:txBody>
                    <a:bodyPr/>
                    <a:lstStyle/>
                    <a:p>
                      <a:pPr indent="0" marL="0">
                        <a:buNone/>
                      </a:pPr>
                      <a:r>
                        <a:rPr lang="en-US" sz="1400" dirty="0">
                          <a:solidFill>
                            <a:schemeClr val="tx1"/>
                          </a:solidFill>
                        </a:rPr>
                        <a:t>1 Time</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UTC, on the hour</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0 off-hour stamps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20624">
                <a:tc>
                  <a:txBody>
                    <a:bodyPr/>
                    <a:lstStyle/>
                    <a:p>
                      <a:pPr indent="0" marL="0">
                        <a:buNone/>
                      </a:pPr>
                      <a:r>
                        <a:rPr lang="en-US" sz="1400" dirty="0">
                          <a:solidFill>
                            <a:schemeClr val="tx1"/>
                          </a:solidFill>
                        </a:rPr>
                        <a:t>2 Units, AQI</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µg/m³; AQI from 24 h means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243 sensors verified</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20624">
                <a:tc>
                  <a:txBody>
                    <a:bodyPr/>
                    <a:lstStyle/>
                    <a:p>
                      <a:pPr indent="0" marL="0">
                        <a:buNone/>
                      </a:pPr>
                      <a:r>
                        <a:rPr lang="en-US" sz="1400" dirty="0">
                          <a:solidFill>
                            <a:schemeClr val="tx1"/>
                          </a:solidFill>
                        </a:rPr>
                        <a:t>3 Invalid</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Nulls, negatives, below 1 or above 1,000, incomplete hours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25,555 nulls, 1,020 zeros, 1,534 incomplete</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20624">
                <a:tc>
                  <a:txBody>
                    <a:bodyPr/>
                    <a:lstStyle/>
                    <a:p>
                      <a:pPr indent="0" marL="0">
                        <a:buNone/>
                      </a:pPr>
                      <a:r>
                        <a:rPr lang="en-US" sz="1400" dirty="0">
                          <a:solidFill>
                            <a:schemeClr val="tx1"/>
                          </a:solidFill>
                        </a:rPr>
                        <a:t>4 Faults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Same value 6+ hours; stuck at maximum</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216 stuck hours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20624">
                <a:tc>
                  <a:txBody>
                    <a:bodyPr/>
                    <a:lstStyle/>
                    <a:p>
                      <a:pPr indent="0" marL="0">
                        <a:buNone/>
                      </a:pPr>
                      <a:r>
                        <a:rPr lang="en-US" sz="1400" dirty="0">
                          <a:solidFill>
                            <a:schemeClr val="tx1"/>
                          </a:solidFill>
                        </a:rPr>
                        <a:t>5 Glitches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Neighbour and isolated spikes; dropouts to near zero</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1,564 spikes; 1,114 + 6 dropouts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20624">
                <a:tc>
                  <a:txBody>
                    <a:bodyPr/>
                    <a:lstStyle/>
                    <a:p>
                      <a:pPr indent="0" marL="0">
                        <a:buNone/>
                      </a:pPr>
                      <a:r>
                        <a:rPr lang="en-US" sz="1400" dirty="0">
                          <a:solidFill>
                            <a:schemeClr val="tx1"/>
                          </a:solidFill>
                        </a:rPr>
                        <a:t>6 Humidity</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EPA correction only where it helps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66,224 hours corrected</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20624">
                <a:tc>
                  <a:txBody>
                    <a:bodyPr/>
                    <a:lstStyle/>
                    <a:p>
                      <a:pPr indent="0" marL="0">
                        <a:buNone/>
                      </a:pPr>
                      <a:r>
                        <a:rPr lang="en-US" sz="1400" dirty="0">
                          <a:solidFill>
                            <a:schemeClr val="tx1"/>
                          </a:solidFill>
                        </a:rPr>
                        <a:t>7 Fires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Low confidence, static sources, repeat passes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1,185,836 → 815,434 fires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20624">
                <a:tc>
                  <a:txBody>
                    <a:bodyPr/>
                    <a:lstStyle/>
                    <a:p>
                      <a:pPr indent="0" marL="0">
                        <a:buNone/>
                      </a:pPr>
                      <a:r>
                        <a:rPr lang="en-US" sz="1400" dirty="0">
                          <a:solidFill>
                            <a:schemeClr val="tx1"/>
                          </a:solidFill>
                        </a:rPr>
                        <a:t>8 Gaps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Short gaps filled outside test seasons; BLH imputed</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2,937 hours; 21,840 BLH values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20624">
                <a:tc>
                  <a:txBody>
                    <a:bodyPr/>
                    <a:lstStyle/>
                    <a:p>
                      <a:pPr indent="0" marL="0">
                        <a:buNone/>
                      </a:pPr>
                      <a:r>
                        <a:rPr lang="en-US" sz="1400" dirty="0">
                          <a:solidFill>
                            <a:schemeClr val="tx1"/>
                          </a:solidFill>
                        </a:rPr>
                        <a:t>9 Merge</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One row per city per hour</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indent="0" marL="0">
                        <a:buNone/>
                      </a:pPr>
                      <a:r>
                        <a:rPr lang="en-US" sz="1400" dirty="0">
                          <a:solidFill>
                            <a:schemeClr val="tx1"/>
                          </a:solidFill>
                        </a:rPr>
                        <a:t>266,760 rows × 29 columns</a:t>
                      </a:r>
                      <a:endParaRPr lang="en-US" sz="1400" dirty="0"/>
                    </a:p>
                  </a:txBody>
                  <a:tcPr marL="54864" marR="54864" marT="54864" marB="54864">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bl>
          </a:graphicData>
        </a:graphic>
      </p:graphicFrame>
      <p:sp>
        <p:nvSpPr>
          <p:cNvPr id="4" name="Text 1"/>
          <p:cNvSpPr txBox="1"/>
          <p:nvPr/>
        </p:nvSpPr>
        <p:spPr>
          <a:xfrm>
            <a:off x="8869680" y="1325880"/>
            <a:ext cx="274320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190 of 200</a:t>
            </a:r>
            <a:endParaRPr lang="en-US" sz="3400" dirty="0"/>
          </a:p>
        </p:txBody>
      </p:sp>
      <p:sp>
        <p:nvSpPr>
          <p:cNvPr id="5" name="Text 2"/>
          <p:cNvSpPr txBox="1"/>
          <p:nvPr/>
        </p:nvSpPr>
        <p:spPr>
          <a:xfrm>
            <a:off x="8869680" y="2103120"/>
            <a:ext cx="2743200" cy="685800"/>
          </a:xfrm>
          <a:prstGeom prst="rect">
            <a:avLst/>
          </a:prstGeom>
          <a:noFill/>
          <a:ln/>
        </p:spPr>
        <p:txBody>
          <a:bodyPr wrap="square" lIns="0" tIns="0" rIns="0" bIns="0" rtlCol="0" anchor="t"/>
          <a:lstStyle/>
          <a:p>
            <a:pPr indent="0" marL="0">
              <a:buNone/>
            </a:pPr>
            <a:r>
              <a:rPr lang="en-US" sz="1400" dirty="0">
                <a:solidFill>
                  <a:schemeClr val="tx1"/>
                </a:solidFill>
              </a:rPr>
              <a:t>sensors kept; 10 short-lived ones rejected</a:t>
            </a:r>
            <a:endParaRPr lang="en-US" sz="1400" dirty="0"/>
          </a:p>
        </p:txBody>
      </p:sp>
      <p:sp>
        <p:nvSpPr>
          <p:cNvPr id="6" name="Text 3"/>
          <p:cNvSpPr txBox="1"/>
          <p:nvPr/>
        </p:nvSpPr>
        <p:spPr>
          <a:xfrm>
            <a:off x="8869680" y="2880360"/>
            <a:ext cx="2743200" cy="731520"/>
          </a:xfrm>
          <a:prstGeom prst="rect">
            <a:avLst/>
          </a:prstGeom>
          <a:noFill/>
          <a:ln/>
        </p:spPr>
        <p:txBody>
          <a:bodyPr wrap="square" lIns="0" tIns="0" rIns="0" bIns="0" rtlCol="0" anchor="b"/>
          <a:lstStyle/>
          <a:p>
            <a:pPr indent="0" marL="0">
              <a:buNone/>
            </a:pPr>
            <a:r>
              <a:rPr lang="en-US" sz="3400" b="1" dirty="0">
                <a:solidFill>
                  <a:schemeClr val="accent3"/>
                </a:solidFill>
                <a:latin typeface="Cambria" pitchFamily="34" charset="0"/>
                <a:ea typeface="Cambria" pitchFamily="34" charset="-122"/>
                <a:cs typeface="Cambria" pitchFamily="34" charset="-120"/>
              </a:rPr>
              <a:t>94.7%</a:t>
            </a:r>
            <a:endParaRPr lang="en-US" sz="3400" dirty="0"/>
          </a:p>
        </p:txBody>
      </p:sp>
      <p:sp>
        <p:nvSpPr>
          <p:cNvPr id="7" name="Text 4"/>
          <p:cNvSpPr txBox="1"/>
          <p:nvPr/>
        </p:nvSpPr>
        <p:spPr>
          <a:xfrm>
            <a:off x="8869680" y="3657600"/>
            <a:ext cx="2743200" cy="685800"/>
          </a:xfrm>
          <a:prstGeom prst="rect">
            <a:avLst/>
          </a:prstGeom>
          <a:noFill/>
          <a:ln/>
        </p:spPr>
        <p:txBody>
          <a:bodyPr wrap="square" lIns="0" tIns="0" rIns="0" bIns="0" rtlCol="0" anchor="t"/>
          <a:lstStyle/>
          <a:p>
            <a:pPr indent="0" marL="0">
              <a:buNone/>
            </a:pPr>
            <a:r>
              <a:rPr lang="en-US" sz="1400" dirty="0">
                <a:solidFill>
                  <a:schemeClr val="tx1"/>
                </a:solidFill>
              </a:rPr>
              <a:t>of PM2.5 sensor-hours kept (556,966 of 587,969)</a:t>
            </a:r>
            <a:endParaRPr lang="en-US" sz="1400" dirty="0"/>
          </a:p>
        </p:txBody>
      </p:sp>
      <p:sp>
        <p:nvSpPr>
          <p:cNvPr id="8" name="Text 5"/>
          <p:cNvSpPr txBox="1"/>
          <p:nvPr/>
        </p:nvSpPr>
        <p:spPr>
          <a:xfrm>
            <a:off x="8869680" y="4434840"/>
            <a:ext cx="2743200" cy="731520"/>
          </a:xfrm>
          <a:prstGeom prst="rect">
            <a:avLst/>
          </a:prstGeom>
          <a:noFill/>
          <a:ln/>
        </p:spPr>
        <p:txBody>
          <a:bodyPr wrap="square" lIns="0" tIns="0" rIns="0" bIns="0" rtlCol="0" anchor="b"/>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6"/>
          <p:cNvSpPr txBox="1"/>
          <p:nvPr/>
        </p:nvSpPr>
        <p:spPr>
          <a:xfrm>
            <a:off x="8869680" y="5212080"/>
            <a:ext cx="2743200" cy="685800"/>
          </a:xfrm>
          <a:prstGeom prst="rect">
            <a:avLst/>
          </a:prstGeom>
          <a:noFill/>
          <a:ln/>
        </p:spPr>
        <p:txBody>
          <a:bodyPr wrap="square" lIns="0" tIns="0" rIns="0" bIns="0" rtlCol="0" anchor="t"/>
          <a:lstStyle/>
          <a:p>
            <a:pPr indent="0" marL="0">
              <a:buNone/>
            </a:pPr>
            <a:r>
              <a:rPr lang="en-US" sz="1400" dirty="0">
                <a:solidFill>
                  <a:schemeClr val="tx1"/>
                </a:solidFill>
              </a:rPr>
              <a:t>values filled in the test seasons: models are scored on real data only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Cleaning caught four errors that would have passed silently</a:t>
            </a:r>
            <a:endParaRPr lang="en-US" sz="3000" dirty="0"/>
          </a:p>
        </p:txBody>
      </p:sp>
      <p:sp>
        <p:nvSpPr>
          <p:cNvPr id="3" name="finding 1"/>
          <p:cNvSpPr/>
          <p:nvPr/>
        </p:nvSpPr>
        <p:spPr>
          <a:xfrm>
            <a:off x="548640" y="1325880"/>
            <a:ext cx="5440680" cy="1828800"/>
          </a:xfrm>
          <a:prstGeom prst="roundRect">
            <a:avLst>
              <a:gd name="adj" fmla="val 4000"/>
            </a:avLst>
          </a:prstGeom>
          <a:solidFill>
            <a:schemeClr val="bg2"/>
          </a:solidFill>
          <a:ln/>
        </p:spPr>
      </p:sp>
      <p:sp>
        <p:nvSpPr>
          <p:cNvPr id="4" name="Text 2"/>
          <p:cNvSpPr txBox="1"/>
          <p:nvPr/>
        </p:nvSpPr>
        <p:spPr>
          <a:xfrm>
            <a:off x="822960" y="1508760"/>
            <a:ext cx="2103120" cy="14630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25,555</a:t>
            </a:r>
            <a:endParaRPr lang="en-US" sz="3400" dirty="0"/>
          </a:p>
        </p:txBody>
      </p:sp>
      <p:sp>
        <p:nvSpPr>
          <p:cNvPr id="5" name="Text 3"/>
          <p:cNvSpPr txBox="1"/>
          <p:nvPr/>
        </p:nvSpPr>
        <p:spPr>
          <a:xfrm>
            <a:off x="2971800" y="1554480"/>
            <a:ext cx="2788920" cy="1417320"/>
          </a:xfrm>
          <a:prstGeom prst="rect">
            <a:avLst/>
          </a:prstGeom>
          <a:noFill/>
          <a:ln/>
        </p:spPr>
        <p:txBody>
          <a:bodyPr wrap="square" lIns="0" tIns="0" rIns="0" bIns="0" rtlCol="0" anchor="ctr"/>
          <a:lstStyle/>
          <a:p>
            <a:pPr indent="0" marL="0">
              <a:buNone/>
            </a:pPr>
            <a:r>
              <a:rPr lang="en-US" sz="1500" dirty="0">
                <a:solidFill>
                  <a:schemeClr val="tx1"/>
                </a:solidFill>
              </a:rPr>
              <a:t>"negative" values were really empty readings: the filter value &gt;= 0 also drops nulls</a:t>
            </a:r>
            <a:endParaRPr lang="en-US" sz="1500" dirty="0"/>
          </a:p>
        </p:txBody>
      </p:sp>
      <p:sp>
        <p:nvSpPr>
          <p:cNvPr id="6" name="finding 2"/>
          <p:cNvSpPr/>
          <p:nvPr/>
        </p:nvSpPr>
        <p:spPr>
          <a:xfrm>
            <a:off x="6172200" y="1325880"/>
            <a:ext cx="5440680" cy="1828800"/>
          </a:xfrm>
          <a:prstGeom prst="roundRect">
            <a:avLst>
              <a:gd name="adj" fmla="val 4000"/>
            </a:avLst>
          </a:prstGeom>
          <a:solidFill>
            <a:schemeClr val="bg2"/>
          </a:solidFill>
          <a:ln/>
        </p:spPr>
      </p:sp>
      <p:sp>
        <p:nvSpPr>
          <p:cNvPr id="7" name="Text 5"/>
          <p:cNvSpPr txBox="1"/>
          <p:nvPr/>
        </p:nvSpPr>
        <p:spPr>
          <a:xfrm>
            <a:off x="6446520" y="1508760"/>
            <a:ext cx="2103120" cy="1463040"/>
          </a:xfrm>
          <a:prstGeom prst="rect">
            <a:avLst/>
          </a:prstGeom>
          <a:noFill/>
          <a:ln/>
        </p:spPr>
        <p:txBody>
          <a:bodyPr wrap="square" lIns="0" tIns="0" rIns="0" bIns="0" rtlCol="0" anchor="ctr"/>
          <a:lstStyle/>
          <a:p>
            <a:pPr indent="0" marL="0">
              <a:buNone/>
            </a:pPr>
            <a:r>
              <a:rPr lang="en-US" sz="3400" b="1" dirty="0">
                <a:solidFill>
                  <a:schemeClr val="accent2"/>
                </a:solidFill>
                <a:latin typeface="Cambria" pitchFamily="34" charset="0"/>
                <a:ea typeface="Cambria" pitchFamily="34" charset="-122"/>
                <a:cs typeface="Cambria" pitchFamily="34" charset="-120"/>
              </a:rPr>
              <a:t>15,542</a:t>
            </a:r>
            <a:endParaRPr lang="en-US" sz="3400" dirty="0"/>
          </a:p>
        </p:txBody>
      </p:sp>
      <p:sp>
        <p:nvSpPr>
          <p:cNvPr id="8" name="Text 6"/>
          <p:cNvSpPr txBox="1"/>
          <p:nvPr/>
        </p:nvSpPr>
        <p:spPr>
          <a:xfrm>
            <a:off x="8595360" y="1554480"/>
            <a:ext cx="2788920" cy="1417320"/>
          </a:xfrm>
          <a:prstGeom prst="rect">
            <a:avLst/>
          </a:prstGeom>
          <a:noFill/>
          <a:ln/>
        </p:spPr>
        <p:txBody>
          <a:bodyPr wrap="square" lIns="0" tIns="0" rIns="0" bIns="0" rtlCol="0" anchor="ctr"/>
          <a:lstStyle/>
          <a:p>
            <a:pPr indent="0" marL="0">
              <a:buNone/>
            </a:pPr>
            <a:r>
              <a:rPr lang="en-US" sz="1500" dirty="0">
                <a:solidFill>
                  <a:schemeClr val="tx1"/>
                </a:solidFill>
              </a:rPr>
              <a:t>good Clarity hours in Lahore a wrong metadata field would have deleted (it assumes 12 readings an hour; Clarity sends 3 to 4)</a:t>
            </a:r>
            <a:endParaRPr lang="en-US" sz="1500" dirty="0"/>
          </a:p>
        </p:txBody>
      </p:sp>
      <p:sp>
        <p:nvSpPr>
          <p:cNvPr id="9" name="finding 3"/>
          <p:cNvSpPr/>
          <p:nvPr/>
        </p:nvSpPr>
        <p:spPr>
          <a:xfrm>
            <a:off x="548640" y="3383280"/>
            <a:ext cx="5440680" cy="1828800"/>
          </a:xfrm>
          <a:prstGeom prst="roundRect">
            <a:avLst>
              <a:gd name="adj" fmla="val 4000"/>
            </a:avLst>
          </a:prstGeom>
          <a:solidFill>
            <a:schemeClr val="bg2"/>
          </a:solidFill>
          <a:ln/>
        </p:spPr>
      </p:sp>
      <p:sp>
        <p:nvSpPr>
          <p:cNvPr id="10" name="Text 8"/>
          <p:cNvSpPr txBox="1"/>
          <p:nvPr/>
        </p:nvSpPr>
        <p:spPr>
          <a:xfrm>
            <a:off x="822960" y="3566160"/>
            <a:ext cx="2103120" cy="1463040"/>
          </a:xfrm>
          <a:prstGeom prst="rect">
            <a:avLst/>
          </a:prstGeom>
          <a:noFill/>
          <a:ln/>
        </p:spPr>
        <p:txBody>
          <a:bodyPr wrap="square" lIns="0" tIns="0" rIns="0" bIns="0" rtlCol="0" anchor="ctr"/>
          <a:lstStyle/>
          <a:p>
            <a:pPr indent="0" marL="0">
              <a:buNone/>
            </a:pPr>
            <a:r>
              <a:rPr lang="en-US" sz="3400" b="1" dirty="0">
                <a:solidFill>
                  <a:schemeClr val="accent5"/>
                </a:solidFill>
                <a:latin typeface="Cambria" pitchFamily="34" charset="0"/>
                <a:ea typeface="Cambria" pitchFamily="34" charset="-122"/>
                <a:cs typeface="Cambria" pitchFamily="34" charset="-120"/>
              </a:rPr>
              <a:t>0 µg/m³</a:t>
            </a:r>
            <a:endParaRPr lang="en-US" sz="3400" dirty="0"/>
          </a:p>
        </p:txBody>
      </p:sp>
      <p:sp>
        <p:nvSpPr>
          <p:cNvPr id="11" name="Text 9"/>
          <p:cNvSpPr txBox="1"/>
          <p:nvPr/>
        </p:nvSpPr>
        <p:spPr>
          <a:xfrm>
            <a:off x="2971800" y="3611880"/>
            <a:ext cx="2788920" cy="1417320"/>
          </a:xfrm>
          <a:prstGeom prst="rect">
            <a:avLst/>
          </a:prstGeom>
          <a:noFill/>
          <a:ln/>
        </p:spPr>
        <p:txBody>
          <a:bodyPr wrap="square" lIns="0" tIns="0" rIns="0" bIns="0" rtlCol="0" anchor="ctr"/>
          <a:lstStyle/>
          <a:p>
            <a:pPr indent="0" marL="0">
              <a:buNone/>
            </a:pPr>
            <a:r>
              <a:rPr lang="en-US" sz="1500" dirty="0">
                <a:solidFill>
                  <a:schemeClr val="tx1"/>
                </a:solidFill>
              </a:rPr>
              <a:t>Lahore in heavy smog on the deployed dashboard (3 Nov 2024): new rules drop 1,020 zero readings and 1,114 sensor dropouts</a:t>
            </a:r>
            <a:endParaRPr lang="en-US" sz="1500" dirty="0"/>
          </a:p>
        </p:txBody>
      </p:sp>
      <p:sp>
        <p:nvSpPr>
          <p:cNvPr id="12" name="finding 4"/>
          <p:cNvSpPr/>
          <p:nvPr/>
        </p:nvSpPr>
        <p:spPr>
          <a:xfrm>
            <a:off x="6172200" y="3383280"/>
            <a:ext cx="5440680" cy="1828800"/>
          </a:xfrm>
          <a:prstGeom prst="roundRect">
            <a:avLst>
              <a:gd name="adj" fmla="val 4000"/>
            </a:avLst>
          </a:prstGeom>
          <a:solidFill>
            <a:schemeClr val="bg2"/>
          </a:solidFill>
          <a:ln/>
        </p:spPr>
      </p:sp>
      <p:sp>
        <p:nvSpPr>
          <p:cNvPr id="13" name="Text 11"/>
          <p:cNvSpPr txBox="1"/>
          <p:nvPr/>
        </p:nvSpPr>
        <p:spPr>
          <a:xfrm>
            <a:off x="6446520" y="3566160"/>
            <a:ext cx="2103120" cy="1463040"/>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9.8 → 15.6</a:t>
            </a:r>
            <a:endParaRPr lang="en-US" sz="3400" dirty="0"/>
          </a:p>
        </p:txBody>
      </p:sp>
      <p:sp>
        <p:nvSpPr>
          <p:cNvPr id="14" name="Text 12"/>
          <p:cNvSpPr txBox="1"/>
          <p:nvPr/>
        </p:nvSpPr>
        <p:spPr>
          <a:xfrm>
            <a:off x="8595360" y="3611880"/>
            <a:ext cx="2788920" cy="1417320"/>
          </a:xfrm>
          <a:prstGeom prst="rect">
            <a:avLst/>
          </a:prstGeom>
          <a:noFill/>
          <a:ln/>
        </p:spPr>
        <p:txBody>
          <a:bodyPr wrap="square" lIns="0" tIns="0" rIns="0" bIns="0" rtlCol="0" anchor="ctr"/>
          <a:lstStyle/>
          <a:p>
            <a:pPr indent="0" marL="0">
              <a:buNone/>
            </a:pPr>
            <a:r>
              <a:rPr lang="en-US" sz="1500" dirty="0">
                <a:solidFill>
                  <a:schemeClr val="tx1"/>
                </a:solidFill>
              </a:rPr>
              <a:t>AirGradient error if the EPA humidity correction were applied: its data are already corrected</a:t>
            </a:r>
            <a:endParaRPr lang="en-US" sz="1500" dirty="0"/>
          </a:p>
        </p:txBody>
      </p:sp>
      <p:sp>
        <p:nvSpPr>
          <p:cNvPr id="15" name="Text 13"/>
          <p:cNvSpPr txBox="1"/>
          <p:nvPr/>
        </p:nvSpPr>
        <p:spPr>
          <a:xfrm>
            <a:off x="548640" y="5486400"/>
            <a:ext cx="11064240" cy="731520"/>
          </a:xfrm>
          <a:prstGeom prst="rect">
            <a:avLst/>
          </a:prstGeom>
          <a:noFill/>
          <a:ln/>
        </p:spPr>
        <p:txBody>
          <a:bodyPr wrap="square" lIns="0" tIns="0" rIns="0" bIns="0" rtlCol="0" anchor="t"/>
          <a:lstStyle/>
          <a:p>
            <a:pPr indent="0" marL="0">
              <a:buNone/>
            </a:pPr>
            <a:r>
              <a:rPr lang="en-US" sz="1400" dirty="0">
                <a:solidFill>
                  <a:schemeClr val="accent6"/>
                </a:solidFill>
              </a:rPr>
              <a:t>Nine logged steps feed an auto-generated Data Quality Report: 190 of 200 sensors and 94.7% of PM2.5 sensor-hours kept; 1.19 million fire detections cleaned to 815,434 fires; 21,840 missing boundary-layer values imputed (r = 0.91); every hour flagged for gaps, extreme events and fireworks nights. Output: Parquet plus one CSV per city.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Wind direction matters: upwind fires predict tomorrow's smog</a:t>
            </a:r>
            <a:endParaRPr lang="en-US" sz="3000" dirty="0"/>
          </a:p>
        </p:txBody>
      </p:sp>
      <p:sp>
        <p:nvSpPr>
          <p:cNvPr id="3" name="formula card"/>
          <p:cNvSpPr/>
          <p:nvPr/>
        </p:nvSpPr>
        <p:spPr>
          <a:xfrm>
            <a:off x="548640" y="1325880"/>
            <a:ext cx="5120640" cy="1143000"/>
          </a:xfrm>
          <a:prstGeom prst="roundRect">
            <a:avLst>
              <a:gd name="adj" fmla="val 6400"/>
            </a:avLst>
          </a:prstGeom>
          <a:solidFill>
            <a:schemeClr val="bg2"/>
          </a:solidFill>
          <a:ln/>
        </p:spPr>
      </p:sp>
      <p:sp>
        <p:nvSpPr>
          <p:cNvPr id="4" name="Text 2"/>
          <p:cNvSpPr txBox="1"/>
          <p:nvPr/>
        </p:nvSpPr>
        <p:spPr>
          <a:xfrm>
            <a:off x="640080" y="1417320"/>
            <a:ext cx="4937760" cy="502920"/>
          </a:xfrm>
          <a:prstGeom prst="rect">
            <a:avLst/>
          </a:prstGeom>
          <a:noFill/>
          <a:ln/>
        </p:spPr>
        <p:txBody>
          <a:bodyPr wrap="square" lIns="0" tIns="0" rIns="0" bIns="0" rtlCol="0" anchor="ctr"/>
          <a:lstStyle/>
          <a:p>
            <a:pPr algn="ctr" indent="0" marL="0">
              <a:buNone/>
            </a:pPr>
            <a:r>
              <a:rPr lang="en-US" sz="1700" dirty="0">
                <a:solidFill>
                  <a:schemeClr val="tx1"/>
                </a:solidFill>
                <a:latin typeface="Cambria" pitchFamily="34" charset="0"/>
                <a:ea typeface="Cambria" pitchFamily="34" charset="-122"/>
                <a:cs typeface="Cambria" pitchFamily="34" charset="-120"/>
              </a:rPr>
              <a:t>UFI(t) = Σ</a:t>
            </a:r>
            <a:pPr algn="ctr" indent="0" marL="0">
              <a:buNone/>
            </a:pPr>
            <a:r>
              <a:rPr lang="en-US" sz="1700" baseline="-40000" dirty="0">
                <a:solidFill>
                  <a:schemeClr val="tx1"/>
                </a:solidFill>
                <a:latin typeface="Cambria" pitchFamily="34" charset="0"/>
                <a:ea typeface="Cambria" pitchFamily="34" charset="-122"/>
                <a:cs typeface="Cambria" pitchFamily="34" charset="-120"/>
              </a:rPr>
              <a:t>i</a:t>
            </a:r>
            <a:pPr algn="ctr" indent="0" marL="0">
              <a:buNone/>
            </a:pPr>
            <a:r>
              <a:rPr lang="en-US" sz="1700" dirty="0">
                <a:solidFill>
                  <a:schemeClr val="tx1"/>
                </a:solidFill>
                <a:latin typeface="Cambria" pitchFamily="34" charset="0"/>
                <a:ea typeface="Cambria" pitchFamily="34" charset="-122"/>
                <a:cs typeface="Cambria" pitchFamily="34" charset="-120"/>
              </a:rPr>
              <a:t> FRP</a:t>
            </a:r>
            <a:pPr algn="ctr" indent="0" marL="0">
              <a:buNone/>
            </a:pPr>
            <a:r>
              <a:rPr lang="en-US" sz="1700" baseline="-40000" dirty="0">
                <a:solidFill>
                  <a:schemeClr val="tx1"/>
                </a:solidFill>
                <a:latin typeface="Cambria" pitchFamily="34" charset="0"/>
                <a:ea typeface="Cambria" pitchFamily="34" charset="-122"/>
                <a:cs typeface="Cambria" pitchFamily="34" charset="-120"/>
              </a:rPr>
              <a:t>i</a:t>
            </a:r>
            <a:pPr algn="ctr" indent="0" marL="0">
              <a:buNone/>
            </a:pPr>
            <a:r>
              <a:rPr lang="en-US" sz="1700" dirty="0">
                <a:solidFill>
                  <a:schemeClr val="tx1"/>
                </a:solidFill>
                <a:latin typeface="Cambria" pitchFamily="34" charset="0"/>
                <a:ea typeface="Cambria" pitchFamily="34" charset="-122"/>
                <a:cs typeface="Cambria" pitchFamily="34" charset="-120"/>
              </a:rPr>
              <a:t> · exp(−d</a:t>
            </a:r>
            <a:pPr algn="ctr" indent="0" marL="0">
              <a:buNone/>
            </a:pPr>
            <a:r>
              <a:rPr lang="en-US" sz="1700" baseline="-40000" dirty="0">
                <a:solidFill>
                  <a:schemeClr val="tx1"/>
                </a:solidFill>
                <a:latin typeface="Cambria" pitchFamily="34" charset="0"/>
                <a:ea typeface="Cambria" pitchFamily="34" charset="-122"/>
                <a:cs typeface="Cambria" pitchFamily="34" charset="-120"/>
              </a:rPr>
              <a:t>i</a:t>
            </a:r>
            <a:pPr algn="ctr" indent="0" marL="0">
              <a:buNone/>
            </a:pPr>
            <a:r>
              <a:rPr lang="en-US" sz="1700" dirty="0">
                <a:solidFill>
                  <a:schemeClr val="tx1"/>
                </a:solidFill>
                <a:latin typeface="Cambria" pitchFamily="34" charset="0"/>
                <a:ea typeface="Cambria" pitchFamily="34" charset="-122"/>
                <a:cs typeface="Cambria" pitchFamily="34" charset="-120"/>
              </a:rPr>
              <a:t> / L) · max(0, cos θ</a:t>
            </a:r>
            <a:pPr algn="ctr" indent="0" marL="0">
              <a:buNone/>
            </a:pPr>
            <a:r>
              <a:rPr lang="en-US" sz="1700" baseline="-40000" dirty="0">
                <a:solidFill>
                  <a:schemeClr val="tx1"/>
                </a:solidFill>
                <a:latin typeface="Cambria" pitchFamily="34" charset="0"/>
                <a:ea typeface="Cambria" pitchFamily="34" charset="-122"/>
                <a:cs typeface="Cambria" pitchFamily="34" charset="-120"/>
              </a:rPr>
              <a:t>i</a:t>
            </a:r>
            <a:pPr algn="ctr" indent="0" marL="0">
              <a:buNone/>
            </a:pPr>
            <a:r>
              <a:rPr lang="en-US" sz="1700" dirty="0">
                <a:solidFill>
                  <a:schemeClr val="tx1"/>
                </a:solidFill>
                <a:latin typeface="Cambria" pitchFamily="34" charset="0"/>
                <a:ea typeface="Cambria" pitchFamily="34" charset="-122"/>
                <a:cs typeface="Cambria" pitchFamily="34" charset="-120"/>
              </a:rPr>
              <a:t>)</a:t>
            </a:r>
            <a:endParaRPr lang="en-US" sz="1700" dirty="0"/>
          </a:p>
        </p:txBody>
      </p:sp>
      <p:sp>
        <p:nvSpPr>
          <p:cNvPr id="5" name="Text 3"/>
          <p:cNvSpPr txBox="1"/>
          <p:nvPr/>
        </p:nvSpPr>
        <p:spPr>
          <a:xfrm>
            <a:off x="731520" y="1920240"/>
            <a:ext cx="4754880" cy="502920"/>
          </a:xfrm>
          <a:prstGeom prst="rect">
            <a:avLst/>
          </a:prstGeom>
          <a:noFill/>
          <a:ln/>
        </p:spPr>
        <p:txBody>
          <a:bodyPr wrap="square" lIns="0" tIns="0" rIns="0" bIns="0" rtlCol="0" anchor="t"/>
          <a:lstStyle/>
          <a:p>
            <a:pPr algn="ctr" indent="0" marL="0">
              <a:buNone/>
            </a:pPr>
            <a:r>
              <a:rPr lang="en-US" sz="1300" dirty="0">
                <a:solidFill>
                  <a:schemeClr val="accent6"/>
                </a:solidFill>
              </a:rPr>
              <a:t>Fires seen 24 to 72 h earlier, weighted by power, distance and whether the wind blew from the fire to the city</a:t>
            </a:r>
            <a:endParaRPr lang="en-US" sz="1300" dirty="0"/>
          </a:p>
        </p:txBody>
      </p:sp>
      <p:sp>
        <p:nvSpPr>
          <p:cNvPr id="6" name="Text 4"/>
          <p:cNvSpPr txBox="1"/>
          <p:nvPr/>
        </p:nvSpPr>
        <p:spPr>
          <a:xfrm>
            <a:off x="548640" y="2697480"/>
            <a:ext cx="5120640"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0.29 → 0.38</a:t>
            </a:r>
            <a:endParaRPr lang="en-US" sz="4000" dirty="0"/>
          </a:p>
        </p:txBody>
      </p:sp>
      <p:sp>
        <p:nvSpPr>
          <p:cNvPr id="7" name="Text 5"/>
          <p:cNvSpPr txBox="1"/>
          <p:nvPr/>
        </p:nvSpPr>
        <p:spPr>
          <a:xfrm>
            <a:off x="548640" y="3474720"/>
            <a:ext cx="5120640" cy="685800"/>
          </a:xfrm>
          <a:prstGeom prst="rect">
            <a:avLst/>
          </a:prstGeom>
          <a:noFill/>
          <a:ln/>
        </p:spPr>
        <p:txBody>
          <a:bodyPr wrap="square" lIns="0" tIns="0" rIns="0" bIns="0" rtlCol="0" anchor="t"/>
          <a:lstStyle/>
          <a:p>
            <a:pPr indent="0" marL="0">
              <a:buNone/>
            </a:pPr>
            <a:r>
              <a:rPr lang="en-US" sz="1400" dirty="0">
                <a:solidFill>
                  <a:schemeClr val="tx1"/>
                </a:solidFill>
              </a:rPr>
              <a:t>Spearman correlation with next-day PM2.5 when only upwind fires count (best decay length L = 50 km)</a:t>
            </a:r>
            <a:endParaRPr lang="en-US" sz="1400" dirty="0"/>
          </a:p>
        </p:txBody>
      </p:sp>
      <p:sp>
        <p:nvSpPr>
          <p:cNvPr id="8" name="Text 6"/>
          <p:cNvSpPr txBox="1"/>
          <p:nvPr/>
        </p:nvSpPr>
        <p:spPr>
          <a:xfrm>
            <a:off x="548640" y="4434840"/>
            <a:ext cx="5120640" cy="146304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Stagnation Index: </a:t>
            </a:r>
            <a:pPr indent="0" marL="0">
              <a:spcAft>
                <a:spcPts val="800"/>
              </a:spcAft>
              <a:buNone/>
            </a:pPr>
            <a:r>
              <a:rPr lang="en-US" sz="1500" dirty="0">
                <a:solidFill>
                  <a:schemeClr val="tx1"/>
                </a:solidFill>
              </a:rPr>
              <a:t>low ventilation (lid height × wind) + high humidity + cold air, standardised on training data.</a:t>
            </a:r>
            <a:endParaRPr lang="en-US" sz="1500" dirty="0"/>
          </a:p>
          <a:p>
            <a:pPr indent="0" marL="0">
              <a:spcAft>
                <a:spcPts val="800"/>
              </a:spcAft>
              <a:buNone/>
            </a:pPr>
            <a:r>
              <a:rPr lang="en-US" sz="1500" b="1" dirty="0">
                <a:solidFill>
                  <a:schemeClr val="tx1"/>
                </a:solidFill>
              </a:rPr>
              <a:t>No peeking: </a:t>
            </a:r>
            <a:pPr indent="0" marL="0">
              <a:spcAft>
                <a:spcPts val="800"/>
              </a:spcAft>
              <a:buNone/>
            </a:pPr>
            <a:r>
              <a:rPr lang="en-US" sz="1500" dirty="0">
                <a:solidFill>
                  <a:schemeClr val="tx1"/>
                </a:solidFill>
              </a:rPr>
              <a:t>every feature uses only what is known at forecast time.</a:t>
            </a:r>
            <a:endParaRPr lang="en-US" sz="1500" dirty="0"/>
          </a:p>
        </p:txBody>
      </p:sp>
      <p:pic>
        <p:nvPicPr>
          <p:cNvPr id="9" name="Next-day PM2.5 by Upwind Fire Exposure Index decile, Lahore" descr="Next-day PM2.5 by Upwind Fire Exposure Index decile, Lahore">    </p:cNvPr>
          <p:cNvPicPr>
            <a:picLocks noChangeAspect="1"/>
          </p:cNvPicPr>
          <p:nvPr/>
        </p:nvPicPr>
        <p:blipFill>
          <a:blip r:embed="rId1"/>
          <a:stretch>
            <a:fillRect/>
          </a:stretch>
        </p:blipFill>
        <p:spPr>
          <a:xfrm>
            <a:off x="5989320" y="1325880"/>
            <a:ext cx="5623560" cy="2800666"/>
          </a:xfrm>
          <a:prstGeom prst="rect">
            <a:avLst/>
          </a:prstGeom>
        </p:spPr>
      </p:pic>
      <p:sp>
        <p:nvSpPr>
          <p:cNvPr id="10" name="Text 7"/>
          <p:cNvSpPr txBox="1"/>
          <p:nvPr/>
        </p:nvSpPr>
        <p:spPr>
          <a:xfrm>
            <a:off x="5989320" y="4206240"/>
            <a:ext cx="5623560" cy="365760"/>
          </a:xfrm>
          <a:prstGeom prst="rect">
            <a:avLst/>
          </a:prstGeom>
          <a:noFill/>
          <a:ln/>
        </p:spPr>
        <p:txBody>
          <a:bodyPr wrap="square" lIns="0" tIns="0" rIns="0" bIns="0" rtlCol="0" anchor="t"/>
          <a:lstStyle/>
          <a:p>
            <a:pPr indent="0" marL="0">
              <a:buNone/>
            </a:pPr>
            <a:r>
              <a:rPr lang="en-US" sz="1100" dirty="0">
                <a:solidFill>
                  <a:schemeClr val="accent6"/>
                </a:solidFill>
              </a:rPr>
              <a:t>Lahore, smog seasons 2020-23: median next-day PM2.5 by fire-index decile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Gemini read 2,255 headlines: 425 events, 65% fully correct</a:t>
            </a:r>
            <a:endParaRPr lang="en-US" sz="3000" dirty="0"/>
          </a:p>
        </p:txBody>
      </p:sp>
      <p:sp>
        <p:nvSpPr>
          <p:cNvPr id="3" name="circle 1"/>
          <p:cNvSpPr/>
          <p:nvPr/>
        </p:nvSpPr>
        <p:spPr>
          <a:xfrm>
            <a:off x="548640" y="1371600"/>
            <a:ext cx="457200" cy="457200"/>
          </a:xfrm>
          <a:prstGeom prst="ellipse">
            <a:avLst/>
          </a:prstGeom>
          <a:solidFill>
            <a:schemeClr val="accent1"/>
          </a:solidFill>
          <a:ln/>
        </p:spPr>
      </p:sp>
      <p:sp>
        <p:nvSpPr>
          <p:cNvPr id="4" name="Text 2"/>
          <p:cNvSpPr txBox="1"/>
          <p:nvPr/>
        </p:nvSpPr>
        <p:spPr>
          <a:xfrm>
            <a:off x="548640" y="1371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71600"/>
            <a:ext cx="4480560" cy="548640"/>
          </a:xfrm>
          <a:prstGeom prst="rect">
            <a:avLst/>
          </a:prstGeom>
          <a:noFill/>
          <a:ln/>
        </p:spPr>
        <p:txBody>
          <a:bodyPr wrap="square" lIns="0" tIns="0" rIns="0" bIns="0" rtlCol="0" anchor="ctr"/>
          <a:lstStyle/>
          <a:p>
            <a:pPr indent="0" marL="0">
              <a:buNone/>
            </a:pPr>
            <a:r>
              <a:rPr lang="en-US" sz="1500" dirty="0">
                <a:solidFill>
                  <a:schemeClr val="tx1"/>
                </a:solidFill>
              </a:rPr>
              <a:t>Dated headlines in batches of 60, temperature 0, strict JSON</a:t>
            </a:r>
            <a:endParaRPr lang="en-US" sz="1500" dirty="0"/>
          </a:p>
        </p:txBody>
      </p:sp>
      <p:sp>
        <p:nvSpPr>
          <p:cNvPr id="6" name="circle 2"/>
          <p:cNvSpPr/>
          <p:nvPr/>
        </p:nvSpPr>
        <p:spPr>
          <a:xfrm>
            <a:off x="548640" y="2148840"/>
            <a:ext cx="457200" cy="457200"/>
          </a:xfrm>
          <a:prstGeom prst="ellipse">
            <a:avLst/>
          </a:prstGeom>
          <a:solidFill>
            <a:schemeClr val="accent1"/>
          </a:solidFill>
          <a:ln/>
        </p:spPr>
      </p:sp>
      <p:sp>
        <p:nvSpPr>
          <p:cNvPr id="7" name="Text 5"/>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4480560" cy="548640"/>
          </a:xfrm>
          <a:prstGeom prst="rect">
            <a:avLst/>
          </a:prstGeom>
          <a:noFill/>
          <a:ln/>
        </p:spPr>
        <p:txBody>
          <a:bodyPr wrap="square" lIns="0" tIns="0" rIns="0" bIns="0" rtlCol="0" anchor="ctr"/>
          <a:lstStyle/>
          <a:p>
            <a:pPr indent="0" marL="0">
              <a:buNone/>
            </a:pPr>
            <a:r>
              <a:rPr lang="en-US" sz="1500" dirty="0">
                <a:solidFill>
                  <a:schemeClr val="tx1"/>
                </a:solidFill>
              </a:rPr>
              <a:t>Output validated like raw data: 428 events → 425</a:t>
            </a:r>
            <a:endParaRPr lang="en-US" sz="1500" dirty="0"/>
          </a:p>
        </p:txBody>
      </p:sp>
      <p:sp>
        <p:nvSpPr>
          <p:cNvPr id="9" name="circle 3"/>
          <p:cNvSpPr/>
          <p:nvPr/>
        </p:nvSpPr>
        <p:spPr>
          <a:xfrm>
            <a:off x="548640" y="2926080"/>
            <a:ext cx="457200" cy="457200"/>
          </a:xfrm>
          <a:prstGeom prst="ellipse">
            <a:avLst/>
          </a:prstGeom>
          <a:solidFill>
            <a:schemeClr val="accent1"/>
          </a:solidFill>
          <a:ln/>
        </p:spPr>
      </p:sp>
      <p:sp>
        <p:nvSpPr>
          <p:cNvPr id="10" name="Text 8"/>
          <p:cNvSpPr txBox="1"/>
          <p:nvPr/>
        </p:nvSpPr>
        <p:spPr>
          <a:xfrm>
            <a:off x="548640" y="2926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926080"/>
            <a:ext cx="4480560" cy="548640"/>
          </a:xfrm>
          <a:prstGeom prst="rect">
            <a:avLst/>
          </a:prstGeom>
          <a:noFill/>
          <a:ln/>
        </p:spPr>
        <p:txBody>
          <a:bodyPr wrap="square" lIns="0" tIns="0" rIns="0" bIns="0" rtlCol="0" anchor="ctr"/>
          <a:lstStyle/>
          <a:p>
            <a:pPr indent="0" marL="0">
              <a:buNone/>
            </a:pPr>
            <a:r>
              <a:rPr lang="en-US" sz="1500" dirty="0">
                <a:solidFill>
                  <a:schemeClr val="tx1"/>
                </a:solidFill>
              </a:rPr>
              <a:t>Hand-check of 20 random events: 13 fully correct</a:t>
            </a:r>
            <a:endParaRPr lang="en-US" sz="1500" dirty="0"/>
          </a:p>
        </p:txBody>
      </p:sp>
      <p:sp>
        <p:nvSpPr>
          <p:cNvPr id="12" name="error analysis card"/>
          <p:cNvSpPr/>
          <p:nvPr/>
        </p:nvSpPr>
        <p:spPr>
          <a:xfrm>
            <a:off x="548640" y="3840480"/>
            <a:ext cx="5120640" cy="2148840"/>
          </a:xfrm>
          <a:prstGeom prst="roundRect">
            <a:avLst>
              <a:gd name="adj" fmla="val 3404"/>
            </a:avLst>
          </a:prstGeom>
          <a:solidFill>
            <a:schemeClr val="bg2"/>
          </a:solidFill>
          <a:ln/>
        </p:spPr>
      </p:sp>
      <p:sp>
        <p:nvSpPr>
          <p:cNvPr id="13" name="Text 11"/>
          <p:cNvSpPr txBox="1"/>
          <p:nvPr/>
        </p:nvSpPr>
        <p:spPr>
          <a:xfrm>
            <a:off x="777240" y="3977640"/>
            <a:ext cx="4663440" cy="365760"/>
          </a:xfrm>
          <a:prstGeom prst="rect">
            <a:avLst/>
          </a:prstGeom>
          <a:noFill/>
          <a:ln/>
        </p:spPr>
        <p:txBody>
          <a:bodyPr wrap="square" lIns="0" tIns="0" rIns="0" bIns="0" rtlCol="0" anchor="ctr"/>
          <a:lstStyle/>
          <a:p>
            <a:pPr indent="0" marL="0">
              <a:buNone/>
            </a:pPr>
            <a:r>
              <a:rPr lang="en-US" sz="1600" b="1" dirty="0">
                <a:solidFill>
                  <a:schemeClr val="tx1"/>
                </a:solidFill>
              </a:rPr>
              <a:t>Why the 7 misses happened</a:t>
            </a:r>
            <a:endParaRPr lang="en-US" sz="1600" dirty="0"/>
          </a:p>
        </p:txBody>
      </p:sp>
      <p:sp>
        <p:nvSpPr>
          <p:cNvPr id="14" name="Text 12"/>
          <p:cNvSpPr txBox="1"/>
          <p:nvPr/>
        </p:nvSpPr>
        <p:spPr>
          <a:xfrm>
            <a:off x="777240" y="4389120"/>
            <a:ext cx="470916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Inverted meaning (2): "lift lockdown", "schools reopen"</a:t>
            </a:r>
            <a:endParaRPr lang="en-US" sz="1500" dirty="0"/>
          </a:p>
          <a:p>
            <a:pPr marL="342900" indent="-342900">
              <a:spcAft>
                <a:spcPts val="600"/>
              </a:spcAft>
              <a:buSzPct val="100000"/>
              <a:buChar char="•"/>
            </a:pPr>
            <a:r>
              <a:rPr lang="en-US" sz="1500" dirty="0">
                <a:solidFill>
                  <a:schemeClr val="tx1"/>
                </a:solidFill>
              </a:rPr>
              <a:t>Place inferred, not stated (2)</a:t>
            </a:r>
            <a:endParaRPr lang="en-US" sz="1500" dirty="0"/>
          </a:p>
          <a:p>
            <a:pPr marL="342900" indent="-342900">
              <a:spcAft>
                <a:spcPts val="600"/>
              </a:spcAft>
              <a:buSzPct val="100000"/>
              <a:buChar char="•"/>
            </a:pPr>
            <a:r>
              <a:rPr lang="en-US" sz="1500" dirty="0">
                <a:solidFill>
                  <a:schemeClr val="tx1"/>
                </a:solidFill>
              </a:rPr>
              <a:t>Not a smog event (3): toll tag, kiln upgrade, fuel lab</a:t>
            </a:r>
            <a:endParaRPr lang="en-US" sz="1500" dirty="0"/>
          </a:p>
        </p:txBody>
      </p:sp>
      <p:graphicFrame>
        <p:nvGraphicFramePr>
          <p:cNvPr id="15" name="Chart 0" descr=""/>
          <p:cNvGraphicFramePr/>
          <p:nvPr/>
        </p:nvGraphicFramePr>
        <p:xfrm>
          <a:off x="5989320" y="1280160"/>
          <a:ext cx="562356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Tested like a real forecast: split by time, against baselines</a:t>
            </a:r>
            <a:endParaRPr lang="en-US" sz="3000" dirty="0"/>
          </a:p>
        </p:txBody>
      </p:sp>
      <p:sp>
        <p:nvSpPr>
          <p:cNvPr id="3" name="timeline axis"/>
          <p:cNvSpPr/>
          <p:nvPr/>
        </p:nvSpPr>
        <p:spPr>
          <a:xfrm>
            <a:off x="822960" y="2697480"/>
            <a:ext cx="10515600" cy="0"/>
          </a:xfrm>
          <a:prstGeom prst="line">
            <a:avLst/>
          </a:prstGeom>
          <a:noFill/>
          <a:ln w="12700">
            <a:solidFill>
              <a:srgbClr val="C3C2B7"/>
            </a:solidFill>
            <a:prstDash val="solid"/>
          </a:ln>
        </p:spPr>
      </p:sp>
      <p:sp>
        <p:nvSpPr>
          <p:cNvPr id="4" name="Text 2"/>
          <p:cNvSpPr txBox="1"/>
          <p:nvPr/>
        </p:nvSpPr>
        <p:spPr>
          <a:xfrm>
            <a:off x="457200" y="2743200"/>
            <a:ext cx="731520" cy="274320"/>
          </a:xfrm>
          <a:prstGeom prst="rect">
            <a:avLst/>
          </a:prstGeom>
          <a:noFill/>
          <a:ln/>
        </p:spPr>
        <p:txBody>
          <a:bodyPr wrap="square" lIns="0" tIns="0" rIns="0" bIns="0" rtlCol="0" anchor="ctr"/>
          <a:lstStyle/>
          <a:p>
            <a:pPr algn="ctr" indent="0" marL="0">
              <a:buNone/>
            </a:pPr>
            <a:r>
              <a:rPr lang="en-US" sz="1200" dirty="0">
                <a:solidFill>
                  <a:schemeClr val="accent6"/>
                </a:solidFill>
              </a:rPr>
              <a:t>2020</a:t>
            </a:r>
            <a:endParaRPr lang="en-US" sz="1200" dirty="0"/>
          </a:p>
        </p:txBody>
      </p:sp>
      <p:sp>
        <p:nvSpPr>
          <p:cNvPr id="5" name="Text 3"/>
          <p:cNvSpPr txBox="1"/>
          <p:nvPr/>
        </p:nvSpPr>
        <p:spPr>
          <a:xfrm>
            <a:off x="2185792" y="2743200"/>
            <a:ext cx="731520" cy="274320"/>
          </a:xfrm>
          <a:prstGeom prst="rect">
            <a:avLst/>
          </a:prstGeom>
          <a:noFill/>
          <a:ln/>
        </p:spPr>
        <p:txBody>
          <a:bodyPr wrap="square" lIns="0" tIns="0" rIns="0" bIns="0" rtlCol="0" anchor="ctr"/>
          <a:lstStyle/>
          <a:p>
            <a:pPr algn="ctr" indent="0" marL="0">
              <a:buNone/>
            </a:pPr>
            <a:r>
              <a:rPr lang="en-US" sz="1200" dirty="0">
                <a:solidFill>
                  <a:schemeClr val="accent6"/>
                </a:solidFill>
              </a:rPr>
              <a:t>2021</a:t>
            </a:r>
            <a:endParaRPr lang="en-US" sz="1200" dirty="0"/>
          </a:p>
        </p:txBody>
      </p:sp>
      <p:sp>
        <p:nvSpPr>
          <p:cNvPr id="6" name="Text 4"/>
          <p:cNvSpPr txBox="1"/>
          <p:nvPr/>
        </p:nvSpPr>
        <p:spPr>
          <a:xfrm>
            <a:off x="3914384" y="2743200"/>
            <a:ext cx="731520" cy="274320"/>
          </a:xfrm>
          <a:prstGeom prst="rect">
            <a:avLst/>
          </a:prstGeom>
          <a:noFill/>
          <a:ln/>
        </p:spPr>
        <p:txBody>
          <a:bodyPr wrap="square" lIns="0" tIns="0" rIns="0" bIns="0" rtlCol="0" anchor="ctr"/>
          <a:lstStyle/>
          <a:p>
            <a:pPr algn="ctr" indent="0" marL="0">
              <a:buNone/>
            </a:pPr>
            <a:r>
              <a:rPr lang="en-US" sz="1200" dirty="0">
                <a:solidFill>
                  <a:schemeClr val="accent6"/>
                </a:solidFill>
              </a:rPr>
              <a:t>2022</a:t>
            </a:r>
            <a:endParaRPr lang="en-US" sz="1200" dirty="0"/>
          </a:p>
        </p:txBody>
      </p:sp>
      <p:sp>
        <p:nvSpPr>
          <p:cNvPr id="7" name="Text 5"/>
          <p:cNvSpPr txBox="1"/>
          <p:nvPr/>
        </p:nvSpPr>
        <p:spPr>
          <a:xfrm>
            <a:off x="5642975" y="2743200"/>
            <a:ext cx="731520" cy="274320"/>
          </a:xfrm>
          <a:prstGeom prst="rect">
            <a:avLst/>
          </a:prstGeom>
          <a:noFill/>
          <a:ln/>
        </p:spPr>
        <p:txBody>
          <a:bodyPr wrap="square" lIns="0" tIns="0" rIns="0" bIns="0" rtlCol="0" anchor="ctr"/>
          <a:lstStyle/>
          <a:p>
            <a:pPr algn="ctr" indent="0" marL="0">
              <a:buNone/>
            </a:pPr>
            <a:r>
              <a:rPr lang="en-US" sz="1200" dirty="0">
                <a:solidFill>
                  <a:schemeClr val="accent6"/>
                </a:solidFill>
              </a:rPr>
              <a:t>2023</a:t>
            </a:r>
            <a:endParaRPr lang="en-US" sz="1200" dirty="0"/>
          </a:p>
        </p:txBody>
      </p:sp>
      <p:sp>
        <p:nvSpPr>
          <p:cNvPr id="8" name="Text 6"/>
          <p:cNvSpPr txBox="1"/>
          <p:nvPr/>
        </p:nvSpPr>
        <p:spPr>
          <a:xfrm>
            <a:off x="7371567" y="2743200"/>
            <a:ext cx="731520" cy="274320"/>
          </a:xfrm>
          <a:prstGeom prst="rect">
            <a:avLst/>
          </a:prstGeom>
          <a:noFill/>
          <a:ln/>
        </p:spPr>
        <p:txBody>
          <a:bodyPr wrap="square" lIns="0" tIns="0" rIns="0" bIns="0" rtlCol="0" anchor="ctr"/>
          <a:lstStyle/>
          <a:p>
            <a:pPr algn="ctr" indent="0" marL="0">
              <a:buNone/>
            </a:pPr>
            <a:r>
              <a:rPr lang="en-US" sz="1200" dirty="0">
                <a:solidFill>
                  <a:schemeClr val="accent6"/>
                </a:solidFill>
              </a:rPr>
              <a:t>2024</a:t>
            </a:r>
            <a:endParaRPr lang="en-US" sz="1200" dirty="0"/>
          </a:p>
        </p:txBody>
      </p:sp>
      <p:sp>
        <p:nvSpPr>
          <p:cNvPr id="9" name="Text 7"/>
          <p:cNvSpPr txBox="1"/>
          <p:nvPr/>
        </p:nvSpPr>
        <p:spPr>
          <a:xfrm>
            <a:off x="9100159" y="2743200"/>
            <a:ext cx="731520" cy="274320"/>
          </a:xfrm>
          <a:prstGeom prst="rect">
            <a:avLst/>
          </a:prstGeom>
          <a:noFill/>
          <a:ln/>
        </p:spPr>
        <p:txBody>
          <a:bodyPr wrap="square" lIns="0" tIns="0" rIns="0" bIns="0" rtlCol="0" anchor="ctr"/>
          <a:lstStyle/>
          <a:p>
            <a:pPr algn="ctr" indent="0" marL="0">
              <a:buNone/>
            </a:pPr>
            <a:r>
              <a:rPr lang="en-US" sz="1200" dirty="0">
                <a:solidFill>
                  <a:schemeClr val="accent6"/>
                </a:solidFill>
              </a:rPr>
              <a:t>2025</a:t>
            </a:r>
            <a:endParaRPr lang="en-US" sz="1200" dirty="0"/>
          </a:p>
        </p:txBody>
      </p:sp>
      <p:sp>
        <p:nvSpPr>
          <p:cNvPr id="10" name="Text 8"/>
          <p:cNvSpPr txBox="1"/>
          <p:nvPr/>
        </p:nvSpPr>
        <p:spPr>
          <a:xfrm>
            <a:off x="10828751" y="2743200"/>
            <a:ext cx="731520" cy="274320"/>
          </a:xfrm>
          <a:prstGeom prst="rect">
            <a:avLst/>
          </a:prstGeom>
          <a:noFill/>
          <a:ln/>
        </p:spPr>
        <p:txBody>
          <a:bodyPr wrap="square" lIns="0" tIns="0" rIns="0" bIns="0" rtlCol="0" anchor="ctr"/>
          <a:lstStyle/>
          <a:p>
            <a:pPr algn="ctr" indent="0" marL="0">
              <a:buNone/>
            </a:pPr>
            <a:r>
              <a:rPr lang="en-US" sz="1200" dirty="0">
                <a:solidFill>
                  <a:schemeClr val="accent6"/>
                </a:solidFill>
              </a:rPr>
              <a:t>2026</a:t>
            </a:r>
            <a:endParaRPr lang="en-US" sz="1200" dirty="0"/>
          </a:p>
        </p:txBody>
      </p:sp>
      <p:sp>
        <p:nvSpPr>
          <p:cNvPr id="11" name="training period"/>
          <p:cNvSpPr/>
          <p:nvPr/>
        </p:nvSpPr>
        <p:spPr>
          <a:xfrm>
            <a:off x="822960" y="2103120"/>
            <a:ext cx="8210811" cy="502920"/>
          </a:xfrm>
          <a:prstGeom prst="rect">
            <a:avLst/>
          </a:prstGeom>
          <a:solidFill>
            <a:schemeClr val="accent1"/>
          </a:solidFill>
          <a:ln/>
        </p:spPr>
      </p:sp>
      <p:sp>
        <p:nvSpPr>
          <p:cNvPr id="12" name="validation season"/>
          <p:cNvSpPr/>
          <p:nvPr/>
        </p:nvSpPr>
        <p:spPr>
          <a:xfrm>
            <a:off x="7305179" y="2103120"/>
            <a:ext cx="576197" cy="502920"/>
          </a:xfrm>
          <a:prstGeom prst="rect">
            <a:avLst/>
          </a:prstGeom>
          <a:solidFill>
            <a:schemeClr val="tx2"/>
          </a:solidFill>
          <a:ln/>
        </p:spPr>
      </p:sp>
      <p:sp>
        <p:nvSpPr>
          <p:cNvPr id="13" name="Text 11"/>
          <p:cNvSpPr txBox="1"/>
          <p:nvPr/>
        </p:nvSpPr>
        <p:spPr>
          <a:xfrm>
            <a:off x="967009" y="2103120"/>
            <a:ext cx="6194121" cy="502920"/>
          </a:xfrm>
          <a:prstGeom prst="rect">
            <a:avLst/>
          </a:prstGeom>
          <a:noFill/>
          <a:ln/>
        </p:spPr>
        <p:txBody>
          <a:bodyPr wrap="square" lIns="0" tIns="0" rIns="0" bIns="0" rtlCol="0" anchor="ctr"/>
          <a:lstStyle/>
          <a:p>
            <a:pPr indent="0" marL="0">
              <a:buNone/>
            </a:pPr>
            <a:r>
              <a:rPr lang="en-US" sz="1400" b="1" dirty="0">
                <a:solidFill>
                  <a:schemeClr val="bg1"/>
                </a:solidFill>
              </a:rPr>
              <a:t>Training: Jan 2020 to Sep 2024 · Lahore, Islamabad, Karachi</a:t>
            </a:r>
            <a:endParaRPr lang="en-US" sz="1400" dirty="0"/>
          </a:p>
        </p:txBody>
      </p:sp>
      <p:sp>
        <p:nvSpPr>
          <p:cNvPr id="14" name="Text 12"/>
          <p:cNvSpPr txBox="1"/>
          <p:nvPr/>
        </p:nvSpPr>
        <p:spPr>
          <a:xfrm>
            <a:off x="6404558" y="3063240"/>
            <a:ext cx="2377440" cy="320040"/>
          </a:xfrm>
          <a:prstGeom prst="rect">
            <a:avLst/>
          </a:prstGeom>
          <a:noFill/>
          <a:ln/>
        </p:spPr>
        <p:txBody>
          <a:bodyPr wrap="square" lIns="0" tIns="0" rIns="0" bIns="0" rtlCol="0" anchor="t"/>
          <a:lstStyle/>
          <a:p>
            <a:pPr algn="ctr" indent="0" marL="0">
              <a:buNone/>
            </a:pPr>
            <a:r>
              <a:rPr lang="en-US" sz="1200" dirty="0">
                <a:solidFill>
                  <a:schemeClr val="tx2"/>
                </a:solidFill>
              </a:rPr>
              <a:t>Validation: 2023-24 season</a:t>
            </a:r>
            <a:endParaRPr lang="en-US" sz="1200" dirty="0"/>
          </a:p>
        </p:txBody>
      </p:sp>
      <p:sp>
        <p:nvSpPr>
          <p:cNvPr id="15" name="test season 1"/>
          <p:cNvSpPr/>
          <p:nvPr/>
        </p:nvSpPr>
        <p:spPr>
          <a:xfrm>
            <a:off x="9033771" y="2103120"/>
            <a:ext cx="576197" cy="502920"/>
          </a:xfrm>
          <a:prstGeom prst="rect">
            <a:avLst/>
          </a:prstGeom>
          <a:solidFill>
            <a:schemeClr val="accent2"/>
          </a:solidFill>
          <a:ln/>
        </p:spPr>
      </p:sp>
      <p:sp>
        <p:nvSpPr>
          <p:cNvPr id="16" name="test season 2"/>
          <p:cNvSpPr/>
          <p:nvPr/>
        </p:nvSpPr>
        <p:spPr>
          <a:xfrm>
            <a:off x="10762363" y="2103120"/>
            <a:ext cx="576197" cy="502920"/>
          </a:xfrm>
          <a:prstGeom prst="rect">
            <a:avLst/>
          </a:prstGeom>
          <a:solidFill>
            <a:schemeClr val="accent3"/>
          </a:solidFill>
          <a:ln/>
        </p:spPr>
      </p:sp>
      <p:sp>
        <p:nvSpPr>
          <p:cNvPr id="17" name="Text 15"/>
          <p:cNvSpPr txBox="1"/>
          <p:nvPr/>
        </p:nvSpPr>
        <p:spPr>
          <a:xfrm>
            <a:off x="7858830" y="1600200"/>
            <a:ext cx="2926080" cy="411480"/>
          </a:xfrm>
          <a:prstGeom prst="rect">
            <a:avLst/>
          </a:prstGeom>
          <a:noFill/>
          <a:ln/>
        </p:spPr>
        <p:txBody>
          <a:bodyPr wrap="square" lIns="0" tIns="0" rIns="0" bIns="0" rtlCol="0" anchor="b"/>
          <a:lstStyle/>
          <a:p>
            <a:pPr algn="ctr" indent="0" marL="0">
              <a:buNone/>
            </a:pPr>
            <a:r>
              <a:rPr lang="en-US" sz="1300" b="1" dirty="0">
                <a:solidFill>
                  <a:schemeClr val="accent2"/>
                </a:solidFill>
              </a:rPr>
              <a:t>Test 1: record 2024-25 season</a:t>
            </a:r>
            <a:endParaRPr lang="en-US" sz="1300" dirty="0"/>
          </a:p>
        </p:txBody>
      </p:sp>
      <p:sp>
        <p:nvSpPr>
          <p:cNvPr id="18" name="Text 16"/>
          <p:cNvSpPr txBox="1"/>
          <p:nvPr/>
        </p:nvSpPr>
        <p:spPr>
          <a:xfrm>
            <a:off x="8732520" y="3063240"/>
            <a:ext cx="2926080" cy="548640"/>
          </a:xfrm>
          <a:prstGeom prst="rect">
            <a:avLst/>
          </a:prstGeom>
          <a:noFill/>
          <a:ln/>
        </p:spPr>
        <p:txBody>
          <a:bodyPr wrap="square" lIns="0" tIns="0" rIns="0" bIns="0" rtlCol="0" anchor="t"/>
          <a:lstStyle/>
          <a:p>
            <a:pPr algn="r" indent="0" marL="0">
              <a:buNone/>
            </a:pPr>
            <a:r>
              <a:rPr lang="en-US" sz="1200" b="1" dirty="0">
                <a:solidFill>
                  <a:schemeClr val="accent3"/>
                </a:solidFill>
              </a:rPr>
              <a:t>Test 2: 2025-26 season, plus unseen Faisalabad and Multan</a:t>
            </a:r>
            <a:endParaRPr lang="en-US" sz="1200" dirty="0"/>
          </a:p>
        </p:txBody>
      </p:sp>
      <p:sp>
        <p:nvSpPr>
          <p:cNvPr id="19" name="design card 1"/>
          <p:cNvSpPr/>
          <p:nvPr/>
        </p:nvSpPr>
        <p:spPr>
          <a:xfrm>
            <a:off x="548640" y="3794760"/>
            <a:ext cx="3474720" cy="2240280"/>
          </a:xfrm>
          <a:prstGeom prst="roundRect">
            <a:avLst>
              <a:gd name="adj" fmla="val 3265"/>
            </a:avLst>
          </a:prstGeom>
          <a:solidFill>
            <a:schemeClr val="bg2"/>
          </a:solidFill>
          <a:ln/>
        </p:spPr>
      </p:sp>
      <p:sp>
        <p:nvSpPr>
          <p:cNvPr id="20" name="Text 18"/>
          <p:cNvSpPr txBox="1"/>
          <p:nvPr/>
        </p:nvSpPr>
        <p:spPr>
          <a:xfrm>
            <a:off x="822960" y="3931920"/>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Two baselines</a:t>
            </a:r>
            <a:endParaRPr lang="en-US" sz="1800" dirty="0"/>
          </a:p>
        </p:txBody>
      </p:sp>
      <p:sp>
        <p:nvSpPr>
          <p:cNvPr id="21" name="Text 19"/>
          <p:cNvSpPr txBox="1"/>
          <p:nvPr/>
        </p:nvSpPr>
        <p:spPr>
          <a:xfrm>
            <a:off x="822960" y="4434840"/>
            <a:ext cx="2926080" cy="1508760"/>
          </a:xfrm>
          <a:prstGeom prst="rect">
            <a:avLst/>
          </a:prstGeom>
          <a:noFill/>
          <a:ln/>
        </p:spPr>
        <p:txBody>
          <a:bodyPr wrap="square" lIns="0" tIns="0" rIns="0" bIns="0" rtlCol="0" anchor="t"/>
          <a:lstStyle/>
          <a:p>
            <a:pPr indent="0" marL="0">
              <a:buNone/>
            </a:pPr>
            <a:r>
              <a:rPr lang="en-US" sz="1500" dirty="0">
                <a:solidFill>
                  <a:schemeClr val="tx1"/>
                </a:solidFill>
              </a:rPr>
              <a:t>Persistence (next 24 h = last 24 h) and the seasonal average for that city, month and hour.</a:t>
            </a:r>
            <a:endParaRPr lang="en-US" sz="1500" dirty="0"/>
          </a:p>
        </p:txBody>
      </p:sp>
      <p:sp>
        <p:nvSpPr>
          <p:cNvPr id="22" name="design card 2"/>
          <p:cNvSpPr/>
          <p:nvPr/>
        </p:nvSpPr>
        <p:spPr>
          <a:xfrm>
            <a:off x="4297680" y="3794760"/>
            <a:ext cx="3474720" cy="2240280"/>
          </a:xfrm>
          <a:prstGeom prst="roundRect">
            <a:avLst>
              <a:gd name="adj" fmla="val 3265"/>
            </a:avLst>
          </a:prstGeom>
          <a:solidFill>
            <a:schemeClr val="bg2"/>
          </a:solidFill>
          <a:ln/>
        </p:spPr>
      </p:sp>
      <p:sp>
        <p:nvSpPr>
          <p:cNvPr id="23" name="Text 21"/>
          <p:cNvSpPr txBox="1"/>
          <p:nvPr/>
        </p:nvSpPr>
        <p:spPr>
          <a:xfrm>
            <a:off x="4572000" y="3931920"/>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peeking</a:t>
            </a:r>
            <a:endParaRPr lang="en-US" sz="1800" dirty="0"/>
          </a:p>
        </p:txBody>
      </p:sp>
      <p:sp>
        <p:nvSpPr>
          <p:cNvPr id="24" name="Text 22"/>
          <p:cNvSpPr txBox="1"/>
          <p:nvPr/>
        </p:nvSpPr>
        <p:spPr>
          <a:xfrm>
            <a:off x="4572000" y="4434840"/>
            <a:ext cx="2926080" cy="1508760"/>
          </a:xfrm>
          <a:prstGeom prst="rect">
            <a:avLst/>
          </a:prstGeom>
          <a:noFill/>
          <a:ln/>
        </p:spPr>
        <p:txBody>
          <a:bodyPr wrap="square" lIns="0" tIns="0" rIns="0" bIns="0" rtlCol="0" anchor="t"/>
          <a:lstStyle/>
          <a:p>
            <a:pPr indent="0" marL="0">
              <a:buNone/>
            </a:pPr>
            <a:r>
              <a:rPr lang="en-US" sz="1500" dirty="0">
                <a:solidFill>
                  <a:schemeClr val="tx1"/>
                </a:solidFill>
              </a:rPr>
              <a:t>Only data known at forecast time; test seasons are never interpolated; the warning threshold is set on validation data.</a:t>
            </a:r>
            <a:endParaRPr lang="en-US" sz="1500" dirty="0"/>
          </a:p>
        </p:txBody>
      </p:sp>
      <p:sp>
        <p:nvSpPr>
          <p:cNvPr id="25" name="design card 3"/>
          <p:cNvSpPr/>
          <p:nvPr/>
        </p:nvSpPr>
        <p:spPr>
          <a:xfrm>
            <a:off x="8046720" y="3794760"/>
            <a:ext cx="3474720" cy="2240280"/>
          </a:xfrm>
          <a:prstGeom prst="roundRect">
            <a:avLst>
              <a:gd name="adj" fmla="val 3265"/>
            </a:avLst>
          </a:prstGeom>
          <a:solidFill>
            <a:schemeClr val="bg2"/>
          </a:solidFill>
          <a:ln/>
        </p:spPr>
      </p:sp>
      <p:sp>
        <p:nvSpPr>
          <p:cNvPr id="26" name="Text 24"/>
          <p:cNvSpPr txBox="1"/>
          <p:nvPr/>
        </p:nvSpPr>
        <p:spPr>
          <a:xfrm>
            <a:off x="8321040" y="3931920"/>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Predict the change</a:t>
            </a:r>
            <a:endParaRPr lang="en-US" sz="1800" dirty="0"/>
          </a:p>
        </p:txBody>
      </p:sp>
      <p:sp>
        <p:nvSpPr>
          <p:cNvPr id="27" name="Text 25"/>
          <p:cNvSpPr txBox="1"/>
          <p:nvPr/>
        </p:nvSpPr>
        <p:spPr>
          <a:xfrm>
            <a:off x="8321040" y="4434840"/>
            <a:ext cx="2926080" cy="1508760"/>
          </a:xfrm>
          <a:prstGeom prst="rect">
            <a:avLst/>
          </a:prstGeom>
          <a:noFill/>
          <a:ln/>
        </p:spPr>
        <p:txBody>
          <a:bodyPr wrap="square" lIns="0" tIns="0" rIns="0" bIns="0" rtlCol="0" anchor="t"/>
          <a:lstStyle/>
          <a:p>
            <a:pPr indent="0" marL="0">
              <a:buNone/>
            </a:pPr>
            <a:r>
              <a:rPr lang="en-US" sz="1500" dirty="0">
                <a:solidFill>
                  <a:schemeClr val="tx1"/>
                </a:solidFill>
              </a:rPr>
              <a:t>6 Nov 2024, Lahore: a level model said 283, the change model 383; observed 510. Trees cannot extrapolate past record levels.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SAANS beats both baselines in both test seasons</a:t>
            </a:r>
            <a:endParaRPr lang="en-US" sz="3000" dirty="0"/>
          </a:p>
        </p:txBody>
      </p:sp>
      <p:graphicFrame>
        <p:nvGraphicFramePr>
          <p:cNvPr id="3" name="Chart 0" descr=""/>
          <p:cNvGraphicFramePr/>
          <p:nvPr/>
        </p:nvGraphicFramePr>
        <p:xfrm>
          <a:off x="548640" y="128016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01000" y="1325880"/>
            <a:ext cx="3611880" cy="73152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+13.4%</a:t>
            </a:r>
            <a:endParaRPr lang="en-US" sz="4400" dirty="0"/>
          </a:p>
        </p:txBody>
      </p:sp>
      <p:sp>
        <p:nvSpPr>
          <p:cNvPr id="5" name="Text 2"/>
          <p:cNvSpPr txBox="1"/>
          <p:nvPr/>
        </p:nvSpPr>
        <p:spPr>
          <a:xfrm>
            <a:off x="8001000" y="2103120"/>
            <a:ext cx="3611880" cy="685800"/>
          </a:xfrm>
          <a:prstGeom prst="rect">
            <a:avLst/>
          </a:prstGeom>
          <a:noFill/>
          <a:ln/>
        </p:spPr>
        <p:txBody>
          <a:bodyPr wrap="square" lIns="0" tIns="0" rIns="0" bIns="0" rtlCol="0" anchor="t"/>
          <a:lstStyle/>
          <a:p>
            <a:pPr indent="0" marL="0">
              <a:buNone/>
            </a:pPr>
            <a:r>
              <a:rPr lang="en-US" sz="1400" dirty="0">
                <a:solidFill>
                  <a:schemeClr val="tx1"/>
                </a:solidFill>
              </a:rPr>
              <a:t>lower 24-hour error than persistence in the record 2024-25 season (+14.3% at 48 h)</a:t>
            </a:r>
            <a:endParaRPr lang="en-US" sz="1400" dirty="0"/>
          </a:p>
        </p:txBody>
      </p:sp>
      <p:sp>
        <p:nvSpPr>
          <p:cNvPr id="6" name="Text 3"/>
          <p:cNvSpPr txBox="1"/>
          <p:nvPr/>
        </p:nvSpPr>
        <p:spPr>
          <a:xfrm>
            <a:off x="8001000" y="2880360"/>
            <a:ext cx="3611880" cy="731520"/>
          </a:xfrm>
          <a:prstGeom prst="rect">
            <a:avLst/>
          </a:prstGeom>
          <a:noFill/>
          <a:ln/>
        </p:spPr>
        <p:txBody>
          <a:bodyPr wrap="square" lIns="0" tIns="0" rIns="0" bIns="0" rtlCol="0" anchor="b"/>
          <a:lstStyle/>
          <a:p>
            <a:pPr indent="0" marL="0">
              <a:buNone/>
            </a:pPr>
            <a:r>
              <a:rPr lang="en-US" sz="4000" b="1" dirty="0">
                <a:solidFill>
                  <a:schemeClr val="accent3"/>
                </a:solidFill>
                <a:latin typeface="Cambria" pitchFamily="34" charset="0"/>
                <a:ea typeface="Cambria" pitchFamily="34" charset="-122"/>
                <a:cs typeface="Cambria" pitchFamily="34" charset="-120"/>
              </a:rPr>
              <a:t>93% vs 76%</a:t>
            </a:r>
            <a:endParaRPr lang="en-US" sz="4000" dirty="0"/>
          </a:p>
        </p:txBody>
      </p:sp>
      <p:sp>
        <p:nvSpPr>
          <p:cNvPr id="7" name="Text 4"/>
          <p:cNvSpPr txBox="1"/>
          <p:nvPr/>
        </p:nvSpPr>
        <p:spPr>
          <a:xfrm>
            <a:off x="8001000" y="3657600"/>
            <a:ext cx="3611880" cy="685800"/>
          </a:xfrm>
          <a:prstGeom prst="rect">
            <a:avLst/>
          </a:prstGeom>
          <a:noFill/>
          <a:ln/>
        </p:spPr>
        <p:txBody>
          <a:bodyPr wrap="square" lIns="0" tIns="0" rIns="0" bIns="0" rtlCol="0" anchor="t"/>
          <a:lstStyle/>
          <a:p>
            <a:pPr indent="0" marL="0">
              <a:buNone/>
            </a:pPr>
            <a:r>
              <a:rPr lang="en-US" sz="1400" dirty="0">
                <a:solidFill>
                  <a:schemeClr val="tx1"/>
                </a:solidFill>
              </a:rPr>
              <a:t>of hazardous periods (AQI &gt; 300) warned: SAANS vs persistence (92.6% vs 75.5% in 2024-25)</a:t>
            </a:r>
            <a:endParaRPr lang="en-US" sz="1400" dirty="0"/>
          </a:p>
        </p:txBody>
      </p:sp>
      <p:sp>
        <p:nvSpPr>
          <p:cNvPr id="8" name="Text 5"/>
          <p:cNvSpPr txBox="1"/>
          <p:nvPr/>
        </p:nvSpPr>
        <p:spPr>
          <a:xfrm>
            <a:off x="8001000" y="4434840"/>
            <a:ext cx="3611880" cy="73152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0.774</a:t>
            </a:r>
            <a:endParaRPr lang="en-US" sz="4000" dirty="0"/>
          </a:p>
        </p:txBody>
      </p:sp>
      <p:sp>
        <p:nvSpPr>
          <p:cNvPr id="9" name="Text 6"/>
          <p:cNvSpPr txBox="1"/>
          <p:nvPr/>
        </p:nvSpPr>
        <p:spPr>
          <a:xfrm>
            <a:off x="8001000" y="5212080"/>
            <a:ext cx="3611880" cy="685800"/>
          </a:xfrm>
          <a:prstGeom prst="rect">
            <a:avLst/>
          </a:prstGeom>
          <a:noFill/>
          <a:ln/>
        </p:spPr>
        <p:txBody>
          <a:bodyPr wrap="square" lIns="0" tIns="0" rIns="0" bIns="0" rtlCol="0" anchor="t"/>
          <a:lstStyle/>
          <a:p>
            <a:pPr indent="0" marL="0">
              <a:buNone/>
            </a:pPr>
            <a:r>
              <a:rPr lang="en-US" sz="1400" dirty="0">
                <a:solidFill>
                  <a:schemeClr val="tx1"/>
                </a:solidFill>
              </a:rPr>
              <a:t>F1 of the warning, 2024-25 (persistence 0.755); false alarm rate 10.1% vs 5.3%</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Works in unseen cities; fails where Lahore's sensors changed</a:t>
            </a:r>
            <a:endParaRPr lang="en-US" sz="3000" dirty="0"/>
          </a:p>
        </p:txBody>
      </p:sp>
      <p:sp>
        <p:nvSpPr>
          <p:cNvPr id="3" name="Faisalabad card"/>
          <p:cNvSpPr/>
          <p:nvPr/>
        </p:nvSpPr>
        <p:spPr>
          <a:xfrm>
            <a:off x="548640" y="1325880"/>
            <a:ext cx="2606040" cy="2331720"/>
          </a:xfrm>
          <a:prstGeom prst="roundRect">
            <a:avLst>
              <a:gd name="adj" fmla="val 3137"/>
            </a:avLst>
          </a:prstGeom>
          <a:solidFill>
            <a:schemeClr val="bg2"/>
          </a:solidFill>
          <a:ln/>
        </p:spPr>
      </p:sp>
      <p:sp>
        <p:nvSpPr>
          <p:cNvPr id="4" name="Text 2"/>
          <p:cNvSpPr txBox="1"/>
          <p:nvPr/>
        </p:nvSpPr>
        <p:spPr>
          <a:xfrm>
            <a:off x="777240" y="1463040"/>
            <a:ext cx="219456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+13%</a:t>
            </a:r>
            <a:endParaRPr lang="en-US" sz="4400" dirty="0"/>
          </a:p>
        </p:txBody>
      </p:sp>
      <p:sp>
        <p:nvSpPr>
          <p:cNvPr id="5" name="Text 3"/>
          <p:cNvSpPr txBox="1"/>
          <p:nvPr/>
        </p:nvSpPr>
        <p:spPr>
          <a:xfrm>
            <a:off x="777240" y="2240280"/>
            <a:ext cx="2194560" cy="685800"/>
          </a:xfrm>
          <a:prstGeom prst="rect">
            <a:avLst/>
          </a:prstGeom>
          <a:noFill/>
          <a:ln/>
        </p:spPr>
        <p:txBody>
          <a:bodyPr wrap="square" lIns="0" tIns="0" rIns="0" bIns="0" rtlCol="0" anchor="t"/>
          <a:lstStyle/>
          <a:p>
            <a:pPr indent="0" marL="0">
              <a:buNone/>
            </a:pPr>
            <a:r>
              <a:rPr lang="en-US" sz="1400" dirty="0">
                <a:solidFill>
                  <a:schemeClr val="tx1"/>
                </a:solidFill>
              </a:rPr>
              <a:t>Faisalabad: error 33.6 vs 38.7 for persistence</a:t>
            </a:r>
            <a:endParaRPr lang="en-US" sz="1400" dirty="0"/>
          </a:p>
        </p:txBody>
      </p:sp>
      <p:sp>
        <p:nvSpPr>
          <p:cNvPr id="6" name="Multan card"/>
          <p:cNvSpPr/>
          <p:nvPr/>
        </p:nvSpPr>
        <p:spPr>
          <a:xfrm>
            <a:off x="3337560" y="1325880"/>
            <a:ext cx="2606040" cy="2331720"/>
          </a:xfrm>
          <a:prstGeom prst="roundRect">
            <a:avLst>
              <a:gd name="adj" fmla="val 3137"/>
            </a:avLst>
          </a:prstGeom>
          <a:solidFill>
            <a:schemeClr val="bg2"/>
          </a:solidFill>
          <a:ln/>
        </p:spPr>
      </p:sp>
      <p:sp>
        <p:nvSpPr>
          <p:cNvPr id="7" name="Text 5"/>
          <p:cNvSpPr txBox="1"/>
          <p:nvPr/>
        </p:nvSpPr>
        <p:spPr>
          <a:xfrm>
            <a:off x="3566160" y="1463040"/>
            <a:ext cx="2194560" cy="73152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+11%</a:t>
            </a:r>
            <a:endParaRPr lang="en-US" sz="4400" dirty="0"/>
          </a:p>
        </p:txBody>
      </p:sp>
      <p:sp>
        <p:nvSpPr>
          <p:cNvPr id="8" name="Text 6"/>
          <p:cNvSpPr txBox="1"/>
          <p:nvPr/>
        </p:nvSpPr>
        <p:spPr>
          <a:xfrm>
            <a:off x="3566160" y="2240280"/>
            <a:ext cx="2194560" cy="685800"/>
          </a:xfrm>
          <a:prstGeom prst="rect">
            <a:avLst/>
          </a:prstGeom>
          <a:noFill/>
          <a:ln/>
        </p:spPr>
        <p:txBody>
          <a:bodyPr wrap="square" lIns="0" tIns="0" rIns="0" bIns="0" rtlCol="0" anchor="t"/>
          <a:lstStyle/>
          <a:p>
            <a:pPr indent="0" marL="0">
              <a:buNone/>
            </a:pPr>
            <a:r>
              <a:rPr lang="en-US" sz="1400" dirty="0">
                <a:solidFill>
                  <a:schemeClr val="tx1"/>
                </a:solidFill>
              </a:rPr>
              <a:t>Multan: error 33.7 vs 37.8 for persistence</a:t>
            </a:r>
            <a:endParaRPr lang="en-US" sz="1400" dirty="0"/>
          </a:p>
        </p:txBody>
      </p:sp>
      <p:sp>
        <p:nvSpPr>
          <p:cNvPr id="9" name="Text 7"/>
          <p:cNvSpPr txBox="1"/>
          <p:nvPr/>
        </p:nvSpPr>
        <p:spPr>
          <a:xfrm>
            <a:off x="548640" y="3931920"/>
            <a:ext cx="5394960" cy="1097280"/>
          </a:xfrm>
          <a:prstGeom prst="rect">
            <a:avLst/>
          </a:prstGeom>
          <a:noFill/>
          <a:ln/>
        </p:spPr>
        <p:txBody>
          <a:bodyPr wrap="square" lIns="0" tIns="0" rIns="0" bIns="0" rtlCol="0" anchor="t"/>
          <a:lstStyle/>
          <a:p>
            <a:pPr indent="0" marL="0">
              <a:buNone/>
            </a:pPr>
            <a:r>
              <a:rPr lang="en-US" sz="1500" dirty="0">
                <a:solidFill>
                  <a:schemeClr val="tx1"/>
                </a:solidFill>
              </a:rPr>
              <a:t>Neither city was in training: city identity is not a feature, so the model relies on weather, fires and recent pollution.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63640" y="1325880"/>
          <a:ext cx="5349240" cy="914400"/>
        </p:xfrm>
        <a:graphic>
          <a:graphicData uri="http://schemas.openxmlformats.org/drawingml/2006/table">
            <a:tbl>
              <a:tblPr/>
              <a:tblGrid>
                <a:gridCol w="2194560"/>
                <a:gridCol w="1005840"/>
                <a:gridCol w="1188720"/>
                <a:gridCol w="960120"/>
              </a:tblGrid>
              <a:tr h="411480">
                <a:tc>
                  <a:txBody>
                    <a:bodyPr/>
                    <a:lstStyle/>
                    <a:p>
                      <a:pPr indent="0" marL="0">
                        <a:buNone/>
                      </a:pPr>
                      <a:r>
                        <a:rPr lang="en-US" sz="1400" b="1" dirty="0">
                          <a:solidFill>
                            <a:schemeClr val="tx1"/>
                          </a:solidFill>
                        </a:rPr>
                        <a:t>2025-26, next 24 h</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SAANS</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Persistence</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Skill</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solidFill>
                      <a:schemeClr val="bg2"/>
                    </a:solidFill>
                  </a:tcPr>
                </a:tc>
              </a:tr>
              <a:tr h="411480">
                <a:tc>
                  <a:txBody>
                    <a:bodyPr/>
                    <a:lstStyle/>
                    <a:p>
                      <a:pPr indent="0" marL="0">
                        <a:buNone/>
                      </a:pPr>
                      <a:r>
                        <a:rPr lang="en-US" sz="1400" dirty="0">
                          <a:solidFill>
                            <a:schemeClr val="tx1"/>
                          </a:solidFill>
                        </a:rPr>
                        <a:t>Faisalabad (unseen)</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33.6</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38.7</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+13.2%</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11480">
                <a:tc>
                  <a:txBody>
                    <a:bodyPr/>
                    <a:lstStyle/>
                    <a:p>
                      <a:pPr indent="0" marL="0">
                        <a:buNone/>
                      </a:pPr>
                      <a:r>
                        <a:rPr lang="en-US" sz="1400" dirty="0">
                          <a:solidFill>
                            <a:schemeClr val="tx1"/>
                          </a:solidFill>
                        </a:rPr>
                        <a:t>Multan (unseen)</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33.7</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37.8</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+10.8%</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11480">
                <a:tc>
                  <a:txBody>
                    <a:bodyPr/>
                    <a:lstStyle/>
                    <a:p>
                      <a:pPr indent="0" marL="0">
                        <a:buNone/>
                      </a:pPr>
                      <a:r>
                        <a:rPr lang="en-US" sz="1400" dirty="0">
                          <a:solidFill>
                            <a:schemeClr val="tx1"/>
                          </a:solidFill>
                        </a:rPr>
                        <a:t>Islamabad</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12.9</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15.1</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+14.6%</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11480">
                <a:tc>
                  <a:txBody>
                    <a:bodyPr/>
                    <a:lstStyle/>
                    <a:p>
                      <a:pPr indent="0" marL="0">
                        <a:buNone/>
                      </a:pPr>
                      <a:r>
                        <a:rPr lang="en-US" sz="1400" dirty="0">
                          <a:solidFill>
                            <a:schemeClr val="tx1"/>
                          </a:solidFill>
                        </a:rPr>
                        <a:t>Karachi</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16.3</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16.0</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-1.9%</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r h="411480">
                <a:tc>
                  <a:txBody>
                    <a:bodyPr/>
                    <a:lstStyle/>
                    <a:p>
                      <a:pPr indent="0" marL="0">
                        <a:buNone/>
                      </a:pPr>
                      <a:r>
                        <a:rPr lang="en-US" sz="1400" b="1" dirty="0">
                          <a:solidFill>
                            <a:schemeClr val="tx1"/>
                          </a:solidFill>
                        </a:rPr>
                        <a:t>Lahore</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30.7</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dirty="0">
                          <a:solidFill>
                            <a:schemeClr val="tx1"/>
                          </a:solidFill>
                        </a:rPr>
                        <a:t>23.2</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c>
                  <a:txBody>
                    <a:bodyPr/>
                    <a:lstStyle/>
                    <a:p>
                      <a:pPr algn="r" indent="0" marL="0">
                        <a:buNone/>
                      </a:pPr>
                      <a:r>
                        <a:rPr lang="en-US" sz="1400" b="1" dirty="0">
                          <a:solidFill>
                            <a:schemeClr val="accent5"/>
                          </a:solidFill>
                        </a:rPr>
                        <a:t>-32.3%</a:t>
                      </a:r>
                      <a:endParaRPr lang="en-US" sz="1400" dirty="0"/>
                    </a:p>
                  </a:txBody>
                  <a:tcPr marL="73152" marR="73152" marT="73152" marB="73152">
                    <a:lnL w="9525" cap="flat" cmpd="sng" algn="ctr">
                      <a:solidFill>
                        <a:srgbClr val="D9D8D2"/>
                      </a:solidFill>
                      <a:prstDash val="solid"/>
                      <a:round/>
                      <a:headEnd type="none" w="med" len="med"/>
                      <a:tailEnd type="none" w="med" len="med"/>
                    </a:lnL>
                    <a:lnR w="9525" cap="flat" cmpd="sng" algn="ctr">
                      <a:solidFill>
                        <a:srgbClr val="D9D8D2"/>
                      </a:solidFill>
                      <a:prstDash val="solid"/>
                      <a:round/>
                      <a:headEnd type="none" w="med" len="med"/>
                      <a:tailEnd type="none" w="med" len="med"/>
                    </a:lnR>
                    <a:lnT w="9525" cap="flat" cmpd="sng" algn="ctr">
                      <a:solidFill>
                        <a:srgbClr val="D9D8D2"/>
                      </a:solidFill>
                      <a:prstDash val="solid"/>
                      <a:round/>
                      <a:headEnd type="none" w="med" len="med"/>
                      <a:tailEnd type="none" w="med" len="med"/>
                    </a:lnT>
                    <a:lnB w="9525" cap="flat" cmpd="sng" algn="ctr">
                      <a:solidFill>
                        <a:srgbClr val="D9D8D2"/>
                      </a:solidFill>
                      <a:prstDash val="solid"/>
                      <a:round/>
                      <a:headEnd type="none" w="med" len="med"/>
                      <a:tailEnd type="none" w="med" len="med"/>
                    </a:lnB>
                  </a:tcPr>
                </a:tc>
              </a:tr>
            </a:tbl>
          </a:graphicData>
        </a:graphic>
      </p:graphicFrame>
      <p:sp>
        <p:nvSpPr>
          <p:cNvPr id="11" name="Lahore explanation"/>
          <p:cNvSpPr/>
          <p:nvPr/>
        </p:nvSpPr>
        <p:spPr>
          <a:xfrm>
            <a:off x="6263640" y="4114800"/>
            <a:ext cx="5349240" cy="1737360"/>
          </a:xfrm>
          <a:prstGeom prst="roundRect">
            <a:avLst>
              <a:gd name="adj" fmla="val 4211"/>
            </a:avLst>
          </a:prstGeom>
          <a:solidFill>
            <a:schemeClr val="bg2"/>
          </a:solidFill>
          <a:ln/>
        </p:spPr>
      </p:sp>
      <p:sp>
        <p:nvSpPr>
          <p:cNvPr id="12" name="Text 9"/>
          <p:cNvSpPr txBox="1"/>
          <p:nvPr/>
        </p:nvSpPr>
        <p:spPr>
          <a:xfrm>
            <a:off x="6492240" y="4251960"/>
            <a:ext cx="4937760" cy="1508760"/>
          </a:xfrm>
          <a:prstGeom prst="rect">
            <a:avLst/>
          </a:prstGeom>
          <a:noFill/>
          <a:ln/>
        </p:spPr>
        <p:txBody>
          <a:bodyPr wrap="square" lIns="0" tIns="0" rIns="0" bIns="0" rtlCol="0" anchor="t"/>
          <a:lstStyle/>
          <a:p>
            <a:pPr indent="0" marL="0">
              <a:buNone/>
            </a:pPr>
            <a:r>
              <a:rPr lang="en-US" sz="1500" b="1" dirty="0">
                <a:solidFill>
                  <a:schemeClr val="tx1"/>
                </a:solidFill>
              </a:rPr>
              <a:t>Why Lahore fails in 2025-26: </a:t>
            </a:r>
            <a:pPr indent="0" marL="0">
              <a:buNone/>
            </a:pPr>
            <a:r>
              <a:rPr lang="en-US" sz="1500" dirty="0">
                <a:solidFill>
                  <a:schemeClr val="tx1"/>
                </a:solidFill>
              </a:rPr>
              <a:t>after the US monitor stopped, Lahore's data come from low-cost networks that read differently (Clarity about 32% low). The model, trained on the reference monitor, runs about 25 µg/m³ high.</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Every forecast comes with its reasons</a:t>
            </a:r>
            <a:endParaRPr lang="en-US" sz="3000" dirty="0"/>
          </a:p>
        </p:txBody>
      </p:sp>
      <p:pic>
        <p:nvPicPr>
          <p:cNvPr id="3" name="SHAP driver contributions, Lahore 6 Nov 2024" descr="SHAP driver contributions, Lahore 6 Nov 2024">    </p:cNvPr>
          <p:cNvPicPr>
            <a:picLocks noChangeAspect="1"/>
          </p:cNvPicPr>
          <p:nvPr/>
        </p:nvPicPr>
        <p:blipFill>
          <a:blip r:embed="rId1"/>
          <a:stretch>
            <a:fillRect/>
          </a:stretch>
        </p:blipFill>
        <p:spPr>
          <a:xfrm>
            <a:off x="548640" y="1325880"/>
            <a:ext cx="6949440" cy="2737912"/>
          </a:xfrm>
          <a:prstGeom prst="rect">
            <a:avLst/>
          </a:prstGeom>
        </p:spPr>
      </p:pic>
      <p:pic>
        <p:nvPicPr>
          <p:cNvPr id="4" name="Mean SHAP by driver group, 2024-25" descr="Mean SHAP by driver group, 2024-25">    </p:cNvPr>
          <p:cNvPicPr>
            <a:picLocks noChangeAspect="1"/>
          </p:cNvPicPr>
          <p:nvPr/>
        </p:nvPicPr>
        <p:blipFill>
          <a:blip r:embed="rId2"/>
          <a:stretch>
            <a:fillRect/>
          </a:stretch>
        </p:blipFill>
        <p:spPr>
          <a:xfrm>
            <a:off x="548640" y="4160520"/>
            <a:ext cx="5120640" cy="2034568"/>
          </a:xfrm>
          <a:prstGeom prst="rect">
            <a:avLst/>
          </a:prstGeom>
        </p:spPr>
      </p:pic>
      <p:sp>
        <p:nvSpPr>
          <p:cNvPr id="5" name="Text 1"/>
          <p:cNvSpPr txBox="1"/>
          <p:nvPr/>
        </p:nvSpPr>
        <p:spPr>
          <a:xfrm>
            <a:off x="5852160" y="4343400"/>
            <a:ext cx="1691640" cy="1828800"/>
          </a:xfrm>
          <a:prstGeom prst="rect">
            <a:avLst/>
          </a:prstGeom>
          <a:noFill/>
          <a:ln/>
        </p:spPr>
        <p:txBody>
          <a:bodyPr wrap="square" lIns="0" tIns="0" rIns="0" bIns="0" rtlCol="0" anchor="t"/>
          <a:lstStyle/>
          <a:p>
            <a:pPr indent="0" marL="0">
              <a:buNone/>
            </a:pPr>
            <a:r>
              <a:rPr lang="en-US" sz="1200" dirty="0">
                <a:solidFill>
                  <a:schemeClr val="accent6"/>
                </a:solidFill>
              </a:rPr>
              <a:t>Across the season, what moves tomorrow away from today: recent pollution, then weather, calendar and upwind fires.</a:t>
            </a:r>
            <a:endParaRPr lang="en-US" sz="1200" dirty="0"/>
          </a:p>
        </p:txBody>
      </p:sp>
      <p:sp>
        <p:nvSpPr>
          <p:cNvPr id="6" name="decomposition card"/>
          <p:cNvSpPr/>
          <p:nvPr/>
        </p:nvSpPr>
        <p:spPr>
          <a:xfrm>
            <a:off x="7818120" y="1325880"/>
            <a:ext cx="3794760" cy="4663440"/>
          </a:xfrm>
          <a:prstGeom prst="roundRect">
            <a:avLst>
              <a:gd name="adj" fmla="val 1928"/>
            </a:avLst>
          </a:prstGeom>
          <a:solidFill>
            <a:schemeClr val="bg2"/>
          </a:solidFill>
          <a:ln/>
        </p:spPr>
      </p:sp>
      <p:sp>
        <p:nvSpPr>
          <p:cNvPr id="7" name="Text 3"/>
          <p:cNvSpPr txBox="1"/>
          <p:nvPr/>
        </p:nvSpPr>
        <p:spPr>
          <a:xfrm>
            <a:off x="8046720" y="1463040"/>
            <a:ext cx="3383280"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Lahore, 08:00, 6 Nov 2024</a:t>
            </a:r>
            <a:endParaRPr lang="en-US" sz="1700" dirty="0"/>
          </a:p>
        </p:txBody>
      </p:sp>
      <p:sp>
        <p:nvSpPr>
          <p:cNvPr id="8" name="Text 4"/>
          <p:cNvSpPr txBox="1"/>
          <p:nvPr/>
        </p:nvSpPr>
        <p:spPr>
          <a:xfrm>
            <a:off x="8046720" y="1965960"/>
            <a:ext cx="2286000" cy="365760"/>
          </a:xfrm>
          <a:prstGeom prst="rect">
            <a:avLst/>
          </a:prstGeom>
          <a:noFill/>
          <a:ln/>
        </p:spPr>
        <p:txBody>
          <a:bodyPr wrap="square" lIns="0" tIns="0" rIns="0" bIns="0" rtlCol="0" anchor="ctr"/>
          <a:lstStyle/>
          <a:p>
            <a:pPr indent="0" marL="0">
              <a:buNone/>
            </a:pPr>
            <a:r>
              <a:rPr lang="en-US" sz="1500" dirty="0">
                <a:solidFill>
                  <a:schemeClr val="tx1"/>
                </a:solidFill>
              </a:rPr>
              <a:t>Typical level</a:t>
            </a:r>
            <a:endParaRPr lang="en-US" sz="1500" dirty="0"/>
          </a:p>
        </p:txBody>
      </p:sp>
      <p:sp>
        <p:nvSpPr>
          <p:cNvPr id="9" name="Text 5"/>
          <p:cNvSpPr txBox="1"/>
          <p:nvPr/>
        </p:nvSpPr>
        <p:spPr>
          <a:xfrm>
            <a:off x="10332720" y="1965960"/>
            <a:ext cx="1051560" cy="365760"/>
          </a:xfrm>
          <a:prstGeom prst="rect">
            <a:avLst/>
          </a:prstGeom>
          <a:noFill/>
          <a:ln/>
        </p:spPr>
        <p:txBody>
          <a:bodyPr wrap="square" lIns="0" tIns="0" rIns="0" bIns="0" rtlCol="0" anchor="ctr"/>
          <a:lstStyle/>
          <a:p>
            <a:pPr algn="r" indent="0" marL="0">
              <a:buNone/>
            </a:pPr>
            <a:r>
              <a:rPr lang="en-US" sz="1500" dirty="0">
                <a:solidFill>
                  <a:schemeClr val="tx1"/>
                </a:solidFill>
              </a:rPr>
              <a:t>70</a:t>
            </a:r>
            <a:endParaRPr lang="en-US" sz="1500" dirty="0"/>
          </a:p>
        </p:txBody>
      </p:sp>
      <p:sp>
        <p:nvSpPr>
          <p:cNvPr id="10" name="Text 6"/>
          <p:cNvSpPr txBox="1"/>
          <p:nvPr/>
        </p:nvSpPr>
        <p:spPr>
          <a:xfrm>
            <a:off x="8046720" y="2377440"/>
            <a:ext cx="2286000" cy="365760"/>
          </a:xfrm>
          <a:prstGeom prst="rect">
            <a:avLst/>
          </a:prstGeom>
          <a:noFill/>
          <a:ln/>
        </p:spPr>
        <p:txBody>
          <a:bodyPr wrap="square" lIns="0" tIns="0" rIns="0" bIns="0" rtlCol="0" anchor="ctr"/>
          <a:lstStyle/>
          <a:p>
            <a:pPr indent="0" marL="0">
              <a:buNone/>
            </a:pPr>
            <a:r>
              <a:rPr lang="en-US" sz="1500" dirty="0">
                <a:solidFill>
                  <a:schemeClr val="tx1"/>
                </a:solidFill>
              </a:rPr>
              <a:t>+ Recent pollution</a:t>
            </a:r>
            <a:endParaRPr lang="en-US" sz="1500" dirty="0"/>
          </a:p>
        </p:txBody>
      </p:sp>
      <p:sp>
        <p:nvSpPr>
          <p:cNvPr id="11" name="Text 7"/>
          <p:cNvSpPr txBox="1"/>
          <p:nvPr/>
        </p:nvSpPr>
        <p:spPr>
          <a:xfrm>
            <a:off x="10332720" y="2377440"/>
            <a:ext cx="1051560" cy="365760"/>
          </a:xfrm>
          <a:prstGeom prst="rect">
            <a:avLst/>
          </a:prstGeom>
          <a:noFill/>
          <a:ln/>
        </p:spPr>
        <p:txBody>
          <a:bodyPr wrap="square" lIns="0" tIns="0" rIns="0" bIns="0" rtlCol="0" anchor="ctr"/>
          <a:lstStyle/>
          <a:p>
            <a:pPr algn="r" indent="0" marL="0">
              <a:buNone/>
            </a:pPr>
            <a:r>
              <a:rPr lang="en-US" sz="1500" dirty="0">
                <a:solidFill>
                  <a:schemeClr val="tx1"/>
                </a:solidFill>
              </a:rPr>
              <a:t>+288</a:t>
            </a:r>
            <a:endParaRPr lang="en-US" sz="1500" dirty="0"/>
          </a:p>
        </p:txBody>
      </p:sp>
      <p:sp>
        <p:nvSpPr>
          <p:cNvPr id="12" name="Text 8"/>
          <p:cNvSpPr txBox="1"/>
          <p:nvPr/>
        </p:nvSpPr>
        <p:spPr>
          <a:xfrm>
            <a:off x="8046720" y="2788920"/>
            <a:ext cx="2286000" cy="365760"/>
          </a:xfrm>
          <a:prstGeom prst="rect">
            <a:avLst/>
          </a:prstGeom>
          <a:noFill/>
          <a:ln/>
        </p:spPr>
        <p:txBody>
          <a:bodyPr wrap="square" lIns="0" tIns="0" rIns="0" bIns="0" rtlCol="0" anchor="ctr"/>
          <a:lstStyle/>
          <a:p>
            <a:pPr indent="0" marL="0">
              <a:buNone/>
            </a:pPr>
            <a:r>
              <a:rPr lang="en-US" sz="1500" dirty="0">
                <a:solidFill>
                  <a:schemeClr val="tx1"/>
                </a:solidFill>
              </a:rPr>
              <a:t>+ Upwind fires</a:t>
            </a:r>
            <a:endParaRPr lang="en-US" sz="1500" dirty="0"/>
          </a:p>
        </p:txBody>
      </p:sp>
      <p:sp>
        <p:nvSpPr>
          <p:cNvPr id="13" name="Text 9"/>
          <p:cNvSpPr txBox="1"/>
          <p:nvPr/>
        </p:nvSpPr>
        <p:spPr>
          <a:xfrm>
            <a:off x="10332720" y="2788920"/>
            <a:ext cx="1051560" cy="365760"/>
          </a:xfrm>
          <a:prstGeom prst="rect">
            <a:avLst/>
          </a:prstGeom>
          <a:noFill/>
          <a:ln/>
        </p:spPr>
        <p:txBody>
          <a:bodyPr wrap="square" lIns="0" tIns="0" rIns="0" bIns="0" rtlCol="0" anchor="ctr"/>
          <a:lstStyle/>
          <a:p>
            <a:pPr algn="r" indent="0" marL="0">
              <a:buNone/>
            </a:pPr>
            <a:r>
              <a:rPr lang="en-US" sz="1500" dirty="0">
                <a:solidFill>
                  <a:schemeClr val="tx1"/>
                </a:solidFill>
              </a:rPr>
              <a:t>+15</a:t>
            </a:r>
            <a:endParaRPr lang="en-US" sz="1500" dirty="0"/>
          </a:p>
        </p:txBody>
      </p:sp>
      <p:sp>
        <p:nvSpPr>
          <p:cNvPr id="14" name="Text 10"/>
          <p:cNvSpPr txBox="1"/>
          <p:nvPr/>
        </p:nvSpPr>
        <p:spPr>
          <a:xfrm>
            <a:off x="8046720" y="3200400"/>
            <a:ext cx="2286000" cy="365760"/>
          </a:xfrm>
          <a:prstGeom prst="rect">
            <a:avLst/>
          </a:prstGeom>
          <a:noFill/>
          <a:ln/>
        </p:spPr>
        <p:txBody>
          <a:bodyPr wrap="square" lIns="0" tIns="0" rIns="0" bIns="0" rtlCol="0" anchor="ctr"/>
          <a:lstStyle/>
          <a:p>
            <a:pPr indent="0" marL="0">
              <a:buNone/>
            </a:pPr>
            <a:r>
              <a:rPr lang="en-US" sz="1500" dirty="0">
                <a:solidFill>
                  <a:schemeClr val="tx1"/>
                </a:solidFill>
              </a:rPr>
              <a:t>+ Calendar</a:t>
            </a:r>
            <a:endParaRPr lang="en-US" sz="1500" dirty="0"/>
          </a:p>
        </p:txBody>
      </p:sp>
      <p:sp>
        <p:nvSpPr>
          <p:cNvPr id="15" name="Text 11"/>
          <p:cNvSpPr txBox="1"/>
          <p:nvPr/>
        </p:nvSpPr>
        <p:spPr>
          <a:xfrm>
            <a:off x="10332720" y="3200400"/>
            <a:ext cx="1051560" cy="365760"/>
          </a:xfrm>
          <a:prstGeom prst="rect">
            <a:avLst/>
          </a:prstGeom>
          <a:noFill/>
          <a:ln/>
        </p:spPr>
        <p:txBody>
          <a:bodyPr wrap="square" lIns="0" tIns="0" rIns="0" bIns="0" rtlCol="0" anchor="ctr"/>
          <a:lstStyle/>
          <a:p>
            <a:pPr algn="r" indent="0" marL="0">
              <a:buNone/>
            </a:pPr>
            <a:r>
              <a:rPr lang="en-US" sz="1500" dirty="0">
                <a:solidFill>
                  <a:schemeClr val="tx1"/>
                </a:solidFill>
              </a:rPr>
              <a:t>+8</a:t>
            </a:r>
            <a:endParaRPr lang="en-US" sz="1500" dirty="0"/>
          </a:p>
        </p:txBody>
      </p:sp>
      <p:sp>
        <p:nvSpPr>
          <p:cNvPr id="16" name="Text 12"/>
          <p:cNvSpPr txBox="1"/>
          <p:nvPr/>
        </p:nvSpPr>
        <p:spPr>
          <a:xfrm>
            <a:off x="8046720" y="3611880"/>
            <a:ext cx="2286000" cy="365760"/>
          </a:xfrm>
          <a:prstGeom prst="rect">
            <a:avLst/>
          </a:prstGeom>
          <a:noFill/>
          <a:ln/>
        </p:spPr>
        <p:txBody>
          <a:bodyPr wrap="square" lIns="0" tIns="0" rIns="0" bIns="0" rtlCol="0" anchor="ctr"/>
          <a:lstStyle/>
          <a:p>
            <a:pPr indent="0" marL="0">
              <a:buNone/>
            </a:pPr>
            <a:r>
              <a:rPr lang="en-US" sz="1500" dirty="0">
                <a:solidFill>
                  <a:schemeClr val="tx1"/>
                </a:solidFill>
              </a:rPr>
              <a:t>+ Weather</a:t>
            </a:r>
            <a:endParaRPr lang="en-US" sz="1500" dirty="0"/>
          </a:p>
        </p:txBody>
      </p:sp>
      <p:sp>
        <p:nvSpPr>
          <p:cNvPr id="17" name="Text 13"/>
          <p:cNvSpPr txBox="1"/>
          <p:nvPr/>
        </p:nvSpPr>
        <p:spPr>
          <a:xfrm>
            <a:off x="10332720" y="3611880"/>
            <a:ext cx="1051560" cy="365760"/>
          </a:xfrm>
          <a:prstGeom prst="rect">
            <a:avLst/>
          </a:prstGeom>
          <a:noFill/>
          <a:ln/>
        </p:spPr>
        <p:txBody>
          <a:bodyPr wrap="square" lIns="0" tIns="0" rIns="0" bIns="0" rtlCol="0" anchor="ctr"/>
          <a:lstStyle/>
          <a:p>
            <a:pPr algn="r" indent="0" marL="0">
              <a:buNone/>
            </a:pPr>
            <a:r>
              <a:rPr lang="en-US" sz="1500" dirty="0">
                <a:solidFill>
                  <a:schemeClr val="tx1"/>
                </a:solidFill>
              </a:rPr>
              <a:t>+1</a:t>
            </a:r>
            <a:endParaRPr lang="en-US" sz="1500" dirty="0"/>
          </a:p>
        </p:txBody>
      </p:sp>
      <p:sp>
        <p:nvSpPr>
          <p:cNvPr id="18" name="sum rule"/>
          <p:cNvSpPr/>
          <p:nvPr/>
        </p:nvSpPr>
        <p:spPr>
          <a:xfrm>
            <a:off x="8046720" y="4069080"/>
            <a:ext cx="3337560" cy="0"/>
          </a:xfrm>
          <a:prstGeom prst="line">
            <a:avLst/>
          </a:prstGeom>
          <a:noFill/>
          <a:ln w="12700">
            <a:solidFill>
              <a:srgbClr val="C3C2B7"/>
            </a:solidFill>
            <a:prstDash val="solid"/>
          </a:ln>
        </p:spPr>
      </p:sp>
      <p:sp>
        <p:nvSpPr>
          <p:cNvPr id="19" name="Text 15"/>
          <p:cNvSpPr txBox="1"/>
          <p:nvPr/>
        </p:nvSpPr>
        <p:spPr>
          <a:xfrm>
            <a:off x="8046720" y="4160520"/>
            <a:ext cx="2286000" cy="411480"/>
          </a:xfrm>
          <a:prstGeom prst="rect">
            <a:avLst/>
          </a:prstGeom>
          <a:noFill/>
          <a:ln/>
        </p:spPr>
        <p:txBody>
          <a:bodyPr wrap="square" lIns="0" tIns="0" rIns="0" bIns="0" rtlCol="0" anchor="ctr"/>
          <a:lstStyle/>
          <a:p>
            <a:pPr indent="0" marL="0">
              <a:buNone/>
            </a:pPr>
            <a:r>
              <a:rPr lang="en-US" sz="1600" b="1" dirty="0">
                <a:solidFill>
                  <a:schemeClr val="tx1"/>
                </a:solidFill>
              </a:rPr>
              <a:t>= Forecast</a:t>
            </a:r>
            <a:endParaRPr lang="en-US" sz="1600" dirty="0"/>
          </a:p>
        </p:txBody>
      </p:sp>
      <p:sp>
        <p:nvSpPr>
          <p:cNvPr id="20" name="Text 16"/>
          <p:cNvSpPr txBox="1"/>
          <p:nvPr/>
        </p:nvSpPr>
        <p:spPr>
          <a:xfrm>
            <a:off x="9692640" y="4160520"/>
            <a:ext cx="1691640" cy="411480"/>
          </a:xfrm>
          <a:prstGeom prst="rect">
            <a:avLst/>
          </a:prstGeom>
          <a:noFill/>
          <a:ln/>
        </p:spPr>
        <p:txBody>
          <a:bodyPr wrap="square" lIns="0" tIns="0" rIns="0" bIns="0" rtlCol="0" anchor="ctr"/>
          <a:lstStyle/>
          <a:p>
            <a:pPr algn="r" indent="0" marL="0">
              <a:buNone/>
            </a:pPr>
            <a:r>
              <a:rPr lang="en-US" sz="1600" b="1" dirty="0">
                <a:solidFill>
                  <a:schemeClr val="accent1"/>
                </a:solidFill>
              </a:rPr>
              <a:t>383 µg/m³</a:t>
            </a:r>
            <a:endParaRPr lang="en-US" sz="1600" dirty="0"/>
          </a:p>
        </p:txBody>
      </p:sp>
      <p:sp>
        <p:nvSpPr>
          <p:cNvPr id="21" name="Text 17"/>
          <p:cNvSpPr txBox="1"/>
          <p:nvPr/>
        </p:nvSpPr>
        <p:spPr>
          <a:xfrm>
            <a:off x="8046720" y="470916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Observed: 510. What-if: with no upwind fires the forecast drops to 325; monotone constraints guarantee fewer fires never raise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Live: today's forecast from data fetched now</a:t>
            </a:r>
            <a:endParaRPr lang="en-US" sz="3000" dirty="0"/>
          </a:p>
        </p:txBody>
      </p:sp>
      <p:sp>
        <p:nvSpPr>
          <p:cNvPr id="3" name="circle 1"/>
          <p:cNvSpPr/>
          <p:nvPr/>
        </p:nvSpPr>
        <p:spPr>
          <a:xfrm>
            <a:off x="548640" y="1417320"/>
            <a:ext cx="457200" cy="457200"/>
          </a:xfrm>
          <a:prstGeom prst="ellipse">
            <a:avLst/>
          </a:prstGeom>
          <a:solidFill>
            <a:schemeClr val="accent1"/>
          </a:solidFill>
          <a:ln/>
        </p:spPr>
      </p:sp>
      <p:sp>
        <p:nvSpPr>
          <p:cNvPr id="4" name="Text 2"/>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325880"/>
            <a:ext cx="4480560" cy="731520"/>
          </a:xfrm>
          <a:prstGeom prst="rect">
            <a:avLst/>
          </a:prstGeom>
          <a:noFill/>
          <a:ln/>
        </p:spPr>
        <p:txBody>
          <a:bodyPr wrap="square" lIns="0" tIns="0" rIns="0" bIns="0" rtlCol="0" anchor="ctr"/>
          <a:lstStyle/>
          <a:p>
            <a:pPr indent="0" marL="0">
              <a:buNone/>
            </a:pPr>
            <a:r>
              <a:rPr lang="en-US" sz="1500" dirty="0">
                <a:solidFill>
                  <a:schemeClr val="tx1"/>
                </a:solidFill>
              </a:rPr>
              <a:t>Fetch the last 4 days: OpenAQ sensors, Open-Meteo forecast weather, NASA FIRMS near-real-time fires</a:t>
            </a:r>
            <a:endParaRPr lang="en-US" sz="1500" dirty="0"/>
          </a:p>
        </p:txBody>
      </p:sp>
      <p:sp>
        <p:nvSpPr>
          <p:cNvPr id="6" name="circle 2"/>
          <p:cNvSpPr/>
          <p:nvPr/>
        </p:nvSpPr>
        <p:spPr>
          <a:xfrm>
            <a:off x="548640" y="2286000"/>
            <a:ext cx="457200" cy="457200"/>
          </a:xfrm>
          <a:prstGeom prst="ellipse">
            <a:avLst/>
          </a:prstGeom>
          <a:solidFill>
            <a:schemeClr val="accent1"/>
          </a:solidFill>
          <a:ln/>
        </p:spPr>
      </p:sp>
      <p:sp>
        <p:nvSpPr>
          <p:cNvPr id="7" name="Text 5"/>
          <p:cNvSpPr txBox="1"/>
          <p:nvPr/>
        </p:nvSpPr>
        <p:spPr>
          <a:xfrm>
            <a:off x="548640" y="22860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94560"/>
            <a:ext cx="4480560" cy="731520"/>
          </a:xfrm>
          <a:prstGeom prst="rect">
            <a:avLst/>
          </a:prstGeom>
          <a:noFill/>
          <a:ln/>
        </p:spPr>
        <p:txBody>
          <a:bodyPr wrap="square" lIns="0" tIns="0" rIns="0" bIns="0" rtlCol="0" anchor="ctr"/>
          <a:lstStyle/>
          <a:p>
            <a:pPr indent="0" marL="0">
              <a:buNone/>
            </a:pPr>
            <a:r>
              <a:rPr lang="en-US" sz="1500" dirty="0">
                <a:solidFill>
                  <a:schemeClr val="tx1"/>
                </a:solidFill>
              </a:rPr>
              <a:t>Clean them with the same rules as notebook 02</a:t>
            </a:r>
            <a:endParaRPr lang="en-US" sz="1500" dirty="0"/>
          </a:p>
        </p:txBody>
      </p:sp>
      <p:sp>
        <p:nvSpPr>
          <p:cNvPr id="9" name="circle 3"/>
          <p:cNvSpPr/>
          <p:nvPr/>
        </p:nvSpPr>
        <p:spPr>
          <a:xfrm>
            <a:off x="548640" y="3154680"/>
            <a:ext cx="457200" cy="457200"/>
          </a:xfrm>
          <a:prstGeom prst="ellipse">
            <a:avLst/>
          </a:prstGeom>
          <a:solidFill>
            <a:schemeClr val="accent1"/>
          </a:solidFill>
          <a:ln/>
        </p:spPr>
      </p:sp>
      <p:sp>
        <p:nvSpPr>
          <p:cNvPr id="10" name="Text 8"/>
          <p:cNvSpPr txBox="1"/>
          <p:nvPr/>
        </p:nvSpPr>
        <p:spPr>
          <a:xfrm>
            <a:off x="548640" y="3154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3063240"/>
            <a:ext cx="4480560" cy="731520"/>
          </a:xfrm>
          <a:prstGeom prst="rect">
            <a:avLst/>
          </a:prstGeom>
          <a:noFill/>
          <a:ln/>
        </p:spPr>
        <p:txBody>
          <a:bodyPr wrap="square" lIns="0" tIns="0" rIns="0" bIns="0" rtlCol="0" anchor="ctr"/>
          <a:lstStyle/>
          <a:p>
            <a:pPr indent="0" marL="0">
              <a:buNone/>
            </a:pPr>
            <a:r>
              <a:rPr lang="en-US" sz="1500" dirty="0">
                <a:solidFill>
                  <a:schemeClr val="tx1"/>
                </a:solidFill>
              </a:rPr>
              <a:t>Same feature code, models and thresholds as training; then the advisories</a:t>
            </a:r>
            <a:endParaRPr lang="en-US" sz="1500" dirty="0"/>
          </a:p>
        </p:txBody>
      </p:sp>
      <p:sp>
        <p:nvSpPr>
          <p:cNvPr id="12" name="parity card"/>
          <p:cNvSpPr/>
          <p:nvPr/>
        </p:nvSpPr>
        <p:spPr>
          <a:xfrm>
            <a:off x="548640" y="4069080"/>
            <a:ext cx="5120640" cy="1783080"/>
          </a:xfrm>
          <a:prstGeom prst="roundRect">
            <a:avLst>
              <a:gd name="adj" fmla="val 4103"/>
            </a:avLst>
          </a:prstGeom>
          <a:solidFill>
            <a:schemeClr val="bg2"/>
          </a:solidFill>
          <a:ln/>
        </p:spPr>
      </p:sp>
      <p:sp>
        <p:nvSpPr>
          <p:cNvPr id="13" name="Text 11"/>
          <p:cNvSpPr txBox="1"/>
          <p:nvPr/>
        </p:nvSpPr>
        <p:spPr>
          <a:xfrm>
            <a:off x="777240" y="4160520"/>
            <a:ext cx="1280160" cy="91440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0.0</a:t>
            </a:r>
            <a:endParaRPr lang="en-US" sz="4400" dirty="0"/>
          </a:p>
        </p:txBody>
      </p:sp>
      <p:sp>
        <p:nvSpPr>
          <p:cNvPr id="14" name="Text 12"/>
          <p:cNvSpPr txBox="1"/>
          <p:nvPr/>
        </p:nvSpPr>
        <p:spPr>
          <a:xfrm>
            <a:off x="2148840" y="4206240"/>
            <a:ext cx="3383280" cy="1554480"/>
          </a:xfrm>
          <a:prstGeom prst="rect">
            <a:avLst/>
          </a:prstGeom>
          <a:noFill/>
          <a:ln/>
        </p:spPr>
        <p:txBody>
          <a:bodyPr wrap="square" lIns="0" tIns="0" rIns="0" bIns="0" rtlCol="0" anchor="ctr"/>
          <a:lstStyle/>
          <a:p>
            <a:pPr indent="0" marL="0">
              <a:buNone/>
            </a:pPr>
            <a:r>
              <a:rPr lang="en-US" sz="1400" dirty="0">
                <a:solidFill>
                  <a:schemeClr val="tx1"/>
                </a:solidFill>
              </a:rPr>
              <a:t>difference between live and training features over 266,760 rows × 44 features; replaying 6 Nov 2024 gives the same 383.45 µg/m³</a:t>
            </a:r>
            <a:endParaRPr lang="en-US" sz="1400" dirty="0"/>
          </a:p>
        </p:txBody>
      </p:sp>
      <p:sp>
        <p:nvSpPr>
          <p:cNvPr id="15" name="Text 13"/>
          <p:cNvSpPr txBox="1"/>
          <p:nvPr/>
        </p:nvSpPr>
        <p:spPr>
          <a:xfrm>
            <a:off x="6035040" y="1325880"/>
            <a:ext cx="5577840"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Deployed dashboard, Sat 24 Oct 2026, 18:00 PKT</a:t>
            </a:r>
            <a:endParaRPr lang="en-US" sz="1700" dirty="0"/>
          </a:p>
        </p:txBody>
      </p:sp>
      <p:sp>
        <p:nvSpPr>
          <p:cNvPr id="16" name="Text 14"/>
          <p:cNvSpPr txBox="1"/>
          <p:nvPr/>
        </p:nvSpPr>
        <p:spPr>
          <a:xfrm>
            <a:off x="6035040" y="1719072"/>
            <a:ext cx="5577840" cy="365760"/>
          </a:xfrm>
          <a:prstGeom prst="rect">
            <a:avLst/>
          </a:prstGeom>
          <a:noFill/>
          <a:ln/>
        </p:spPr>
        <p:txBody>
          <a:bodyPr wrap="square" lIns="0" tIns="0" rIns="0" bIns="0" rtlCol="0" anchor="t"/>
          <a:lstStyle/>
          <a:p>
            <a:pPr indent="0" marL="0">
              <a:buNone/>
            </a:pPr>
            <a:r>
              <a:rPr lang="en-US" sz="1300" dirty="0">
                <a:solidFill>
                  <a:schemeClr val="accent6"/>
                </a:solidFill>
              </a:rPr>
              <a:t>10 sensors per city · fresh weather · 2,237 cleaned fire detections · next 24-hour mean</a:t>
            </a:r>
            <a:endParaRPr lang="en-US" sz="1300" dirty="0"/>
          </a:p>
        </p:txBody>
      </p:sp>
      <p:sp>
        <p:nvSpPr>
          <p:cNvPr id="17" name="live tile Lahore"/>
          <p:cNvSpPr/>
          <p:nvPr/>
        </p:nvSpPr>
        <p:spPr>
          <a:xfrm>
            <a:off x="6035040" y="2240280"/>
            <a:ext cx="1737360" cy="1417320"/>
          </a:xfrm>
          <a:prstGeom prst="roundRect">
            <a:avLst>
              <a:gd name="adj" fmla="val 5161"/>
            </a:avLst>
          </a:prstGeom>
          <a:solidFill>
            <a:schemeClr val="bg2"/>
          </a:solidFill>
          <a:ln/>
        </p:spPr>
      </p:sp>
      <p:sp>
        <p:nvSpPr>
          <p:cNvPr id="18" name="Text 16"/>
          <p:cNvSpPr txBox="1"/>
          <p:nvPr/>
        </p:nvSpPr>
        <p:spPr>
          <a:xfrm>
            <a:off x="6172200" y="2350008"/>
            <a:ext cx="1463040" cy="320040"/>
          </a:xfrm>
          <a:prstGeom prst="rect">
            <a:avLst/>
          </a:prstGeom>
          <a:noFill/>
          <a:ln/>
        </p:spPr>
        <p:txBody>
          <a:bodyPr wrap="square" lIns="0" tIns="0" rIns="0" bIns="0" rtlCol="0" anchor="ctr"/>
          <a:lstStyle/>
          <a:p>
            <a:pPr indent="0" marL="0">
              <a:buNone/>
            </a:pPr>
            <a:r>
              <a:rPr lang="en-US" sz="1400" b="1" dirty="0">
                <a:solidFill>
                  <a:schemeClr val="tx1"/>
                </a:solidFill>
              </a:rPr>
              <a:t>Lahore</a:t>
            </a:r>
            <a:endParaRPr lang="en-US" sz="1400" dirty="0"/>
          </a:p>
        </p:txBody>
      </p:sp>
      <p:sp>
        <p:nvSpPr>
          <p:cNvPr id="19" name="Text 17"/>
          <p:cNvSpPr txBox="1"/>
          <p:nvPr/>
        </p:nvSpPr>
        <p:spPr>
          <a:xfrm>
            <a:off x="6172200" y="2697480"/>
            <a:ext cx="1508760" cy="502920"/>
          </a:xfrm>
          <a:prstGeom prst="rect">
            <a:avLst/>
          </a:prstGeom>
          <a:noFill/>
          <a:ln/>
        </p:spPr>
        <p:txBody>
          <a:bodyPr wrap="square" lIns="0" tIns="0" rIns="0" bIns="0" rtlCol="0" anchor="ctr"/>
          <a:lstStyle/>
          <a:p>
            <a:pPr indent="0" marL="0">
              <a:buNone/>
            </a:pPr>
            <a:r>
              <a:rPr lang="en-US" sz="2800" b="1" dirty="0">
                <a:solidFill>
                  <a:schemeClr val="tx1"/>
                </a:solidFill>
              </a:rPr>
              <a:t>74</a:t>
            </a:r>
            <a:pPr indent="0" marL="0">
              <a:buNone/>
            </a:pPr>
            <a:r>
              <a:rPr lang="en-US" sz="1200" dirty="0">
                <a:solidFill>
                  <a:schemeClr val="tx1"/>
                </a:solidFill>
              </a:rPr>
              <a:t> µg/m³</a:t>
            </a:r>
            <a:endParaRPr lang="en-US" sz="2800" dirty="0"/>
          </a:p>
        </p:txBody>
      </p:sp>
      <p:sp>
        <p:nvSpPr>
          <p:cNvPr id="20" name="Lahore level marker"/>
          <p:cNvSpPr/>
          <p:nvPr/>
        </p:nvSpPr>
        <p:spPr>
          <a:xfrm>
            <a:off x="6172200" y="3291840"/>
            <a:ext cx="201168" cy="201168"/>
          </a:xfrm>
          <a:prstGeom prst="triangle">
            <a:avLst/>
          </a:prstGeom>
          <a:solidFill>
            <a:srgbClr val="FAB219"/>
          </a:solidFill>
          <a:ln/>
        </p:spPr>
      </p:sp>
      <p:sp>
        <p:nvSpPr>
          <p:cNvPr id="21" name="Text 19"/>
          <p:cNvSpPr txBox="1"/>
          <p:nvPr/>
        </p:nvSpPr>
        <p:spPr>
          <a:xfrm>
            <a:off x="6446520" y="3227832"/>
            <a:ext cx="1188720" cy="320040"/>
          </a:xfrm>
          <a:prstGeom prst="rect">
            <a:avLst/>
          </a:prstGeom>
          <a:noFill/>
          <a:ln/>
        </p:spPr>
        <p:txBody>
          <a:bodyPr wrap="square" lIns="0" tIns="0" rIns="0" bIns="0" rtlCol="0" anchor="ctr"/>
          <a:lstStyle/>
          <a:p>
            <a:pPr indent="0" marL="0">
              <a:buNone/>
            </a:pPr>
            <a:r>
              <a:rPr lang="en-US" sz="1300" b="1" dirty="0">
                <a:solidFill>
                  <a:schemeClr val="tx1"/>
                </a:solidFill>
              </a:rPr>
              <a:t>Yellow</a:t>
            </a:r>
            <a:endParaRPr lang="en-US" sz="1300" dirty="0"/>
          </a:p>
        </p:txBody>
      </p:sp>
      <p:sp>
        <p:nvSpPr>
          <p:cNvPr id="22" name="live tile Faisalabad"/>
          <p:cNvSpPr/>
          <p:nvPr/>
        </p:nvSpPr>
        <p:spPr>
          <a:xfrm>
            <a:off x="7927848" y="2240280"/>
            <a:ext cx="1737360" cy="1417320"/>
          </a:xfrm>
          <a:prstGeom prst="roundRect">
            <a:avLst>
              <a:gd name="adj" fmla="val 5161"/>
            </a:avLst>
          </a:prstGeom>
          <a:solidFill>
            <a:schemeClr val="bg2"/>
          </a:solidFill>
          <a:ln/>
        </p:spPr>
      </p:sp>
      <p:sp>
        <p:nvSpPr>
          <p:cNvPr id="23" name="Text 21"/>
          <p:cNvSpPr txBox="1"/>
          <p:nvPr/>
        </p:nvSpPr>
        <p:spPr>
          <a:xfrm>
            <a:off x="8065008" y="2350008"/>
            <a:ext cx="1463040" cy="320040"/>
          </a:xfrm>
          <a:prstGeom prst="rect">
            <a:avLst/>
          </a:prstGeom>
          <a:noFill/>
          <a:ln/>
        </p:spPr>
        <p:txBody>
          <a:bodyPr wrap="square" lIns="0" tIns="0" rIns="0" bIns="0" rtlCol="0" anchor="ctr"/>
          <a:lstStyle/>
          <a:p>
            <a:pPr indent="0" marL="0">
              <a:buNone/>
            </a:pPr>
            <a:r>
              <a:rPr lang="en-US" sz="1400" b="1" dirty="0">
                <a:solidFill>
                  <a:schemeClr val="tx1"/>
                </a:solidFill>
              </a:rPr>
              <a:t>Faisalabad</a:t>
            </a:r>
            <a:endParaRPr lang="en-US" sz="1400" dirty="0"/>
          </a:p>
        </p:txBody>
      </p:sp>
      <p:sp>
        <p:nvSpPr>
          <p:cNvPr id="24" name="Text 22"/>
          <p:cNvSpPr txBox="1"/>
          <p:nvPr/>
        </p:nvSpPr>
        <p:spPr>
          <a:xfrm>
            <a:off x="8065008" y="2697480"/>
            <a:ext cx="1508760" cy="502920"/>
          </a:xfrm>
          <a:prstGeom prst="rect">
            <a:avLst/>
          </a:prstGeom>
          <a:noFill/>
          <a:ln/>
        </p:spPr>
        <p:txBody>
          <a:bodyPr wrap="square" lIns="0" tIns="0" rIns="0" bIns="0" rtlCol="0" anchor="ctr"/>
          <a:lstStyle/>
          <a:p>
            <a:pPr indent="0" marL="0">
              <a:buNone/>
            </a:pPr>
            <a:r>
              <a:rPr lang="en-US" sz="2800" b="1" dirty="0">
                <a:solidFill>
                  <a:schemeClr val="tx1"/>
                </a:solidFill>
              </a:rPr>
              <a:t>58</a:t>
            </a:r>
            <a:pPr indent="0" marL="0">
              <a:buNone/>
            </a:pPr>
            <a:r>
              <a:rPr lang="en-US" sz="1200" dirty="0">
                <a:solidFill>
                  <a:schemeClr val="tx1"/>
                </a:solidFill>
              </a:rPr>
              <a:t> µg/m³</a:t>
            </a:r>
            <a:endParaRPr lang="en-US" sz="2800" dirty="0"/>
          </a:p>
        </p:txBody>
      </p:sp>
      <p:sp>
        <p:nvSpPr>
          <p:cNvPr id="25" name="Faisalabad level marker"/>
          <p:cNvSpPr/>
          <p:nvPr/>
        </p:nvSpPr>
        <p:spPr>
          <a:xfrm>
            <a:off x="8065008" y="3291840"/>
            <a:ext cx="201168" cy="201168"/>
          </a:xfrm>
          <a:prstGeom prst="triangle">
            <a:avLst/>
          </a:prstGeom>
          <a:solidFill>
            <a:srgbClr val="FAB219"/>
          </a:solidFill>
          <a:ln/>
        </p:spPr>
      </p:sp>
      <p:sp>
        <p:nvSpPr>
          <p:cNvPr id="26" name="Text 24"/>
          <p:cNvSpPr txBox="1"/>
          <p:nvPr/>
        </p:nvSpPr>
        <p:spPr>
          <a:xfrm>
            <a:off x="8339328" y="3227832"/>
            <a:ext cx="1188720" cy="320040"/>
          </a:xfrm>
          <a:prstGeom prst="rect">
            <a:avLst/>
          </a:prstGeom>
          <a:noFill/>
          <a:ln/>
        </p:spPr>
        <p:txBody>
          <a:bodyPr wrap="square" lIns="0" tIns="0" rIns="0" bIns="0" rtlCol="0" anchor="ctr"/>
          <a:lstStyle/>
          <a:p>
            <a:pPr indent="0" marL="0">
              <a:buNone/>
            </a:pPr>
            <a:r>
              <a:rPr lang="en-US" sz="1300" b="1" dirty="0">
                <a:solidFill>
                  <a:schemeClr val="tx1"/>
                </a:solidFill>
              </a:rPr>
              <a:t>Yellow</a:t>
            </a:r>
            <a:endParaRPr lang="en-US" sz="1300" dirty="0"/>
          </a:p>
        </p:txBody>
      </p:sp>
      <p:sp>
        <p:nvSpPr>
          <p:cNvPr id="27" name="live tile Multan"/>
          <p:cNvSpPr/>
          <p:nvPr/>
        </p:nvSpPr>
        <p:spPr>
          <a:xfrm>
            <a:off x="9820656" y="2240280"/>
            <a:ext cx="1737360" cy="1417320"/>
          </a:xfrm>
          <a:prstGeom prst="roundRect">
            <a:avLst>
              <a:gd name="adj" fmla="val 5161"/>
            </a:avLst>
          </a:prstGeom>
          <a:solidFill>
            <a:schemeClr val="bg2"/>
          </a:solidFill>
          <a:ln/>
        </p:spPr>
      </p:sp>
      <p:sp>
        <p:nvSpPr>
          <p:cNvPr id="28" name="Text 26"/>
          <p:cNvSpPr txBox="1"/>
          <p:nvPr/>
        </p:nvSpPr>
        <p:spPr>
          <a:xfrm>
            <a:off x="9957816" y="2350008"/>
            <a:ext cx="1463040" cy="320040"/>
          </a:xfrm>
          <a:prstGeom prst="rect">
            <a:avLst/>
          </a:prstGeom>
          <a:noFill/>
          <a:ln/>
        </p:spPr>
        <p:txBody>
          <a:bodyPr wrap="square" lIns="0" tIns="0" rIns="0" bIns="0" rtlCol="0" anchor="ctr"/>
          <a:lstStyle/>
          <a:p>
            <a:pPr indent="0" marL="0">
              <a:buNone/>
            </a:pPr>
            <a:r>
              <a:rPr lang="en-US" sz="1400" b="1" dirty="0">
                <a:solidFill>
                  <a:schemeClr val="tx1"/>
                </a:solidFill>
              </a:rPr>
              <a:t>Multan</a:t>
            </a:r>
            <a:endParaRPr lang="en-US" sz="1400" dirty="0"/>
          </a:p>
        </p:txBody>
      </p:sp>
      <p:sp>
        <p:nvSpPr>
          <p:cNvPr id="29" name="Text 27"/>
          <p:cNvSpPr txBox="1"/>
          <p:nvPr/>
        </p:nvSpPr>
        <p:spPr>
          <a:xfrm>
            <a:off x="9957816" y="2697480"/>
            <a:ext cx="1508760" cy="502920"/>
          </a:xfrm>
          <a:prstGeom prst="rect">
            <a:avLst/>
          </a:prstGeom>
          <a:noFill/>
          <a:ln/>
        </p:spPr>
        <p:txBody>
          <a:bodyPr wrap="square" lIns="0" tIns="0" rIns="0" bIns="0" rtlCol="0" anchor="ctr"/>
          <a:lstStyle/>
          <a:p>
            <a:pPr indent="0" marL="0">
              <a:buNone/>
            </a:pPr>
            <a:r>
              <a:rPr lang="en-US" sz="2800" b="1" dirty="0">
                <a:solidFill>
                  <a:schemeClr val="tx1"/>
                </a:solidFill>
              </a:rPr>
              <a:t>122</a:t>
            </a:r>
            <a:pPr indent="0" marL="0">
              <a:buNone/>
            </a:pPr>
            <a:r>
              <a:rPr lang="en-US" sz="1200" dirty="0">
                <a:solidFill>
                  <a:schemeClr val="tx1"/>
                </a:solidFill>
              </a:rPr>
              <a:t> µg/m³</a:t>
            </a:r>
            <a:endParaRPr lang="en-US" sz="2800" dirty="0"/>
          </a:p>
        </p:txBody>
      </p:sp>
      <p:sp>
        <p:nvSpPr>
          <p:cNvPr id="30" name="Multan level marker"/>
          <p:cNvSpPr/>
          <p:nvPr/>
        </p:nvSpPr>
        <p:spPr>
          <a:xfrm>
            <a:off x="9957816" y="3291840"/>
            <a:ext cx="201168" cy="201168"/>
          </a:xfrm>
          <a:prstGeom prst="triangle">
            <a:avLst/>
          </a:prstGeom>
          <a:solidFill>
            <a:srgbClr val="FAB219"/>
          </a:solidFill>
          <a:ln/>
        </p:spPr>
      </p:sp>
      <p:sp>
        <p:nvSpPr>
          <p:cNvPr id="31" name="Text 29"/>
          <p:cNvSpPr txBox="1"/>
          <p:nvPr/>
        </p:nvSpPr>
        <p:spPr>
          <a:xfrm>
            <a:off x="10232136" y="3227832"/>
            <a:ext cx="1188720" cy="320040"/>
          </a:xfrm>
          <a:prstGeom prst="rect">
            <a:avLst/>
          </a:prstGeom>
          <a:noFill/>
          <a:ln/>
        </p:spPr>
        <p:txBody>
          <a:bodyPr wrap="square" lIns="0" tIns="0" rIns="0" bIns="0" rtlCol="0" anchor="ctr"/>
          <a:lstStyle/>
          <a:p>
            <a:pPr indent="0" marL="0">
              <a:buNone/>
            </a:pPr>
            <a:r>
              <a:rPr lang="en-US" sz="1300" b="1" dirty="0">
                <a:solidFill>
                  <a:schemeClr val="tx1"/>
                </a:solidFill>
              </a:rPr>
              <a:t>Yellow</a:t>
            </a:r>
            <a:endParaRPr lang="en-US" sz="1300" dirty="0"/>
          </a:p>
        </p:txBody>
      </p:sp>
      <p:sp>
        <p:nvSpPr>
          <p:cNvPr id="32" name="live tile Islamabad"/>
          <p:cNvSpPr/>
          <p:nvPr/>
        </p:nvSpPr>
        <p:spPr>
          <a:xfrm>
            <a:off x="6035040" y="3840480"/>
            <a:ext cx="1737360" cy="1417320"/>
          </a:xfrm>
          <a:prstGeom prst="roundRect">
            <a:avLst>
              <a:gd name="adj" fmla="val 5161"/>
            </a:avLst>
          </a:prstGeom>
          <a:solidFill>
            <a:schemeClr val="bg2"/>
          </a:solidFill>
          <a:ln/>
        </p:spPr>
      </p:sp>
      <p:sp>
        <p:nvSpPr>
          <p:cNvPr id="33" name="Text 31"/>
          <p:cNvSpPr txBox="1"/>
          <p:nvPr/>
        </p:nvSpPr>
        <p:spPr>
          <a:xfrm>
            <a:off x="6172200" y="3950208"/>
            <a:ext cx="1463040" cy="320040"/>
          </a:xfrm>
          <a:prstGeom prst="rect">
            <a:avLst/>
          </a:prstGeom>
          <a:noFill/>
          <a:ln/>
        </p:spPr>
        <p:txBody>
          <a:bodyPr wrap="square" lIns="0" tIns="0" rIns="0" bIns="0" rtlCol="0" anchor="ctr"/>
          <a:lstStyle/>
          <a:p>
            <a:pPr indent="0" marL="0">
              <a:buNone/>
            </a:pPr>
            <a:r>
              <a:rPr lang="en-US" sz="1400" b="1" dirty="0">
                <a:solidFill>
                  <a:schemeClr val="tx1"/>
                </a:solidFill>
              </a:rPr>
              <a:t>Islamabad</a:t>
            </a:r>
            <a:endParaRPr lang="en-US" sz="1400" dirty="0"/>
          </a:p>
        </p:txBody>
      </p:sp>
      <p:sp>
        <p:nvSpPr>
          <p:cNvPr id="34" name="Text 32"/>
          <p:cNvSpPr txBox="1"/>
          <p:nvPr/>
        </p:nvSpPr>
        <p:spPr>
          <a:xfrm>
            <a:off x="6172200" y="4297680"/>
            <a:ext cx="1508760" cy="502920"/>
          </a:xfrm>
          <a:prstGeom prst="rect">
            <a:avLst/>
          </a:prstGeom>
          <a:noFill/>
          <a:ln/>
        </p:spPr>
        <p:txBody>
          <a:bodyPr wrap="square" lIns="0" tIns="0" rIns="0" bIns="0" rtlCol="0" anchor="ctr"/>
          <a:lstStyle/>
          <a:p>
            <a:pPr indent="0" marL="0">
              <a:buNone/>
            </a:pPr>
            <a:r>
              <a:rPr lang="en-US" sz="2800" b="1" dirty="0">
                <a:solidFill>
                  <a:schemeClr val="tx1"/>
                </a:solidFill>
              </a:rPr>
              <a:t>34</a:t>
            </a:r>
            <a:pPr indent="0" marL="0">
              <a:buNone/>
            </a:pPr>
            <a:r>
              <a:rPr lang="en-US" sz="1200" dirty="0">
                <a:solidFill>
                  <a:schemeClr val="tx1"/>
                </a:solidFill>
              </a:rPr>
              <a:t> µg/m³</a:t>
            </a:r>
            <a:endParaRPr lang="en-US" sz="2800" dirty="0"/>
          </a:p>
        </p:txBody>
      </p:sp>
      <p:sp>
        <p:nvSpPr>
          <p:cNvPr id="35" name="Islamabad level marker"/>
          <p:cNvSpPr/>
          <p:nvPr/>
        </p:nvSpPr>
        <p:spPr>
          <a:xfrm>
            <a:off x="6172200" y="4892040"/>
            <a:ext cx="201168" cy="201168"/>
          </a:xfrm>
          <a:prstGeom prst="ellipse">
            <a:avLst/>
          </a:prstGeom>
          <a:solidFill>
            <a:srgbClr val="0CA30C"/>
          </a:solidFill>
          <a:ln/>
        </p:spPr>
      </p:sp>
      <p:sp>
        <p:nvSpPr>
          <p:cNvPr id="36" name="Text 34"/>
          <p:cNvSpPr txBox="1"/>
          <p:nvPr/>
        </p:nvSpPr>
        <p:spPr>
          <a:xfrm>
            <a:off x="6446520" y="4828032"/>
            <a:ext cx="1188720" cy="320040"/>
          </a:xfrm>
          <a:prstGeom prst="rect">
            <a:avLst/>
          </a:prstGeom>
          <a:noFill/>
          <a:ln/>
        </p:spPr>
        <p:txBody>
          <a:bodyPr wrap="square" lIns="0" tIns="0" rIns="0" bIns="0" rtlCol="0" anchor="ctr"/>
          <a:lstStyle/>
          <a:p>
            <a:pPr indent="0" marL="0">
              <a:buNone/>
            </a:pPr>
            <a:r>
              <a:rPr lang="en-US" sz="1300" b="1" dirty="0">
                <a:solidFill>
                  <a:schemeClr val="tx1"/>
                </a:solidFill>
              </a:rPr>
              <a:t>Green</a:t>
            </a:r>
            <a:endParaRPr lang="en-US" sz="1300" dirty="0"/>
          </a:p>
        </p:txBody>
      </p:sp>
      <p:sp>
        <p:nvSpPr>
          <p:cNvPr id="37" name="live tile Karachi"/>
          <p:cNvSpPr/>
          <p:nvPr/>
        </p:nvSpPr>
        <p:spPr>
          <a:xfrm>
            <a:off x="7927848" y="3840480"/>
            <a:ext cx="1737360" cy="1417320"/>
          </a:xfrm>
          <a:prstGeom prst="roundRect">
            <a:avLst>
              <a:gd name="adj" fmla="val 5161"/>
            </a:avLst>
          </a:prstGeom>
          <a:solidFill>
            <a:schemeClr val="bg2"/>
          </a:solidFill>
          <a:ln/>
        </p:spPr>
      </p:sp>
      <p:sp>
        <p:nvSpPr>
          <p:cNvPr id="38" name="Text 36"/>
          <p:cNvSpPr txBox="1"/>
          <p:nvPr/>
        </p:nvSpPr>
        <p:spPr>
          <a:xfrm>
            <a:off x="8065008" y="3950208"/>
            <a:ext cx="1463040" cy="320040"/>
          </a:xfrm>
          <a:prstGeom prst="rect">
            <a:avLst/>
          </a:prstGeom>
          <a:noFill/>
          <a:ln/>
        </p:spPr>
        <p:txBody>
          <a:bodyPr wrap="square" lIns="0" tIns="0" rIns="0" bIns="0" rtlCol="0" anchor="ctr"/>
          <a:lstStyle/>
          <a:p>
            <a:pPr indent="0" marL="0">
              <a:buNone/>
            </a:pPr>
            <a:r>
              <a:rPr lang="en-US" sz="1400" b="1" dirty="0">
                <a:solidFill>
                  <a:schemeClr val="tx1"/>
                </a:solidFill>
              </a:rPr>
              <a:t>Karachi</a:t>
            </a:r>
            <a:endParaRPr lang="en-US" sz="1400" dirty="0"/>
          </a:p>
        </p:txBody>
      </p:sp>
      <p:sp>
        <p:nvSpPr>
          <p:cNvPr id="39" name="Text 37"/>
          <p:cNvSpPr txBox="1"/>
          <p:nvPr/>
        </p:nvSpPr>
        <p:spPr>
          <a:xfrm>
            <a:off x="8065008" y="4297680"/>
            <a:ext cx="1508760" cy="502920"/>
          </a:xfrm>
          <a:prstGeom prst="rect">
            <a:avLst/>
          </a:prstGeom>
          <a:noFill/>
          <a:ln/>
        </p:spPr>
        <p:txBody>
          <a:bodyPr wrap="square" lIns="0" tIns="0" rIns="0" bIns="0" rtlCol="0" anchor="ctr"/>
          <a:lstStyle/>
          <a:p>
            <a:pPr indent="0" marL="0">
              <a:buNone/>
            </a:pPr>
            <a:r>
              <a:rPr lang="en-US" sz="2800" b="1" dirty="0">
                <a:solidFill>
                  <a:schemeClr val="tx1"/>
                </a:solidFill>
              </a:rPr>
              <a:t>39</a:t>
            </a:r>
            <a:pPr indent="0" marL="0">
              <a:buNone/>
            </a:pPr>
            <a:r>
              <a:rPr lang="en-US" sz="1200" dirty="0">
                <a:solidFill>
                  <a:schemeClr val="tx1"/>
                </a:solidFill>
              </a:rPr>
              <a:t> µg/m³</a:t>
            </a:r>
            <a:endParaRPr lang="en-US" sz="2800" dirty="0"/>
          </a:p>
        </p:txBody>
      </p:sp>
      <p:sp>
        <p:nvSpPr>
          <p:cNvPr id="40" name="Karachi level marker"/>
          <p:cNvSpPr/>
          <p:nvPr/>
        </p:nvSpPr>
        <p:spPr>
          <a:xfrm>
            <a:off x="8065008" y="4892040"/>
            <a:ext cx="201168" cy="201168"/>
          </a:xfrm>
          <a:prstGeom prst="triangle">
            <a:avLst/>
          </a:prstGeom>
          <a:solidFill>
            <a:srgbClr val="FAB219"/>
          </a:solidFill>
          <a:ln/>
        </p:spPr>
      </p:sp>
      <p:sp>
        <p:nvSpPr>
          <p:cNvPr id="41" name="Text 39"/>
          <p:cNvSpPr txBox="1"/>
          <p:nvPr/>
        </p:nvSpPr>
        <p:spPr>
          <a:xfrm>
            <a:off x="8339328" y="4828032"/>
            <a:ext cx="1188720" cy="320040"/>
          </a:xfrm>
          <a:prstGeom prst="rect">
            <a:avLst/>
          </a:prstGeom>
          <a:noFill/>
          <a:ln/>
        </p:spPr>
        <p:txBody>
          <a:bodyPr wrap="square" lIns="0" tIns="0" rIns="0" bIns="0" rtlCol="0" anchor="ctr"/>
          <a:lstStyle/>
          <a:p>
            <a:pPr indent="0" marL="0">
              <a:buNone/>
            </a:pPr>
            <a:r>
              <a:rPr lang="en-US" sz="1300" b="1" dirty="0">
                <a:solidFill>
                  <a:schemeClr val="tx1"/>
                </a:solidFill>
              </a:rPr>
              <a:t>Yellow</a:t>
            </a:r>
            <a:endParaRPr lang="en-US" sz="1300" dirty="0"/>
          </a:p>
        </p:txBody>
      </p:sp>
      <p:sp>
        <p:nvSpPr>
          <p:cNvPr id="42" name="hazard chance tile"/>
          <p:cNvSpPr/>
          <p:nvPr/>
        </p:nvSpPr>
        <p:spPr>
          <a:xfrm>
            <a:off x="9820656" y="3840480"/>
            <a:ext cx="1737360" cy="1417320"/>
          </a:xfrm>
          <a:prstGeom prst="roundRect">
            <a:avLst>
              <a:gd name="adj" fmla="val 5161"/>
            </a:avLst>
          </a:prstGeom>
          <a:solidFill>
            <a:schemeClr val="bg2"/>
          </a:solidFill>
          <a:ln/>
        </p:spPr>
      </p:sp>
      <p:sp>
        <p:nvSpPr>
          <p:cNvPr id="43" name="Text 41"/>
          <p:cNvSpPr txBox="1"/>
          <p:nvPr/>
        </p:nvSpPr>
        <p:spPr>
          <a:xfrm>
            <a:off x="9957816" y="3931920"/>
            <a:ext cx="1463040" cy="548640"/>
          </a:xfrm>
          <a:prstGeom prst="rect">
            <a:avLst/>
          </a:prstGeom>
          <a:noFill/>
          <a:ln/>
        </p:spPr>
        <p:txBody>
          <a:bodyPr wrap="square" lIns="0" tIns="0" rIns="0" bIns="0" rtlCol="0" anchor="ctr"/>
          <a:lstStyle/>
          <a:p>
            <a:pPr indent="0" marL="0">
              <a:buNone/>
            </a:pPr>
            <a:r>
              <a:rPr lang="en-US" sz="2800" b="1" dirty="0">
                <a:solidFill>
                  <a:schemeClr val="accent3"/>
                </a:solidFill>
              </a:rPr>
              <a:t>0%</a:t>
            </a:r>
            <a:endParaRPr lang="en-US" sz="2800" dirty="0"/>
          </a:p>
        </p:txBody>
      </p:sp>
      <p:sp>
        <p:nvSpPr>
          <p:cNvPr id="44" name="Text 42"/>
          <p:cNvSpPr txBox="1"/>
          <p:nvPr/>
        </p:nvSpPr>
        <p:spPr>
          <a:xfrm>
            <a:off x="9957816" y="4526280"/>
            <a:ext cx="1508760" cy="594360"/>
          </a:xfrm>
          <a:prstGeom prst="rect">
            <a:avLst/>
          </a:prstGeom>
          <a:noFill/>
          <a:ln/>
        </p:spPr>
        <p:txBody>
          <a:bodyPr wrap="square" lIns="0" tIns="0" rIns="0" bIns="0" rtlCol="0" anchor="t"/>
          <a:lstStyle/>
          <a:p>
            <a:pPr indent="0" marL="0">
              <a:buNone/>
            </a:pPr>
            <a:r>
              <a:rPr lang="en-US" sz="1200" dirty="0">
                <a:solidFill>
                  <a:schemeClr val="tx1"/>
                </a:solidFill>
              </a:rPr>
              <a:t>chance of AQI &gt; 300 in every city</a:t>
            </a:r>
            <a:endParaRPr lang="en-US" sz="1200" dirty="0"/>
          </a:p>
        </p:txBody>
      </p:sp>
      <p:sp>
        <p:nvSpPr>
          <p:cNvPr id="45" name="Text 43"/>
          <p:cNvSpPr txBox="1"/>
          <p:nvPr/>
        </p:nvSpPr>
        <p:spPr>
          <a:xfrm>
            <a:off x="6035040" y="5440680"/>
            <a:ext cx="5577840" cy="777240"/>
          </a:xfrm>
          <a:prstGeom prst="rect">
            <a:avLst/>
          </a:prstGeom>
          <a:noFill/>
          <a:ln/>
        </p:spPr>
        <p:txBody>
          <a:bodyPr wrap="square" lIns="0" tIns="0" rIns="0" bIns="0" rtlCol="0" anchor="t"/>
          <a:lstStyle/>
          <a:p>
            <a:pPr indent="0" marL="0">
              <a:buNone/>
            </a:pPr>
            <a:r>
              <a:rPr lang="en-US" sz="1300" dirty="0">
                <a:solidFill>
                  <a:schemeClr val="accent6"/>
                </a:solidFill>
              </a:rPr>
              <a:t>An earlier 16:00 run on the development machine had no fire data: NASA FIRMS had stopped answering it (finding F6). The dashboard says so on screen instead of assuming no fires.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The dashboard: live forecast, replay, data and reasons</a:t>
            </a:r>
            <a:endParaRPr lang="en-US" sz="3000" dirty="0"/>
          </a:p>
        </p:txBody>
      </p:sp>
      <p:pic>
        <p:nvPicPr>
          <p:cNvPr id="3" name="Dashboard Live forecast tab" descr="Dashboard Live forecast tab">    </p:cNvPr>
          <p:cNvPicPr>
            <a:picLocks noChangeAspect="1"/>
          </p:cNvPicPr>
          <p:nvPr/>
        </p:nvPicPr>
        <p:blipFill>
          <a:blip r:embed="rId1"/>
          <a:stretch>
            <a:fillRect/>
          </a:stretch>
        </p:blipFill>
        <p:spPr>
          <a:xfrm>
            <a:off x="548640" y="1280160"/>
            <a:ext cx="5440680" cy="3627120"/>
          </a:xfrm>
          <a:prstGeom prst="rect">
            <a:avLst/>
          </a:prstGeom>
        </p:spPr>
      </p:pic>
      <p:pic>
        <p:nvPicPr>
          <p:cNvPr id="4" name="Dashboard Cleaned data tab" descr="Dashboard Cleaned data tab">    </p:cNvPr>
          <p:cNvPicPr>
            <a:picLocks noChangeAspect="1"/>
          </p:cNvPicPr>
          <p:nvPr/>
        </p:nvPicPr>
        <p:blipFill>
          <a:blip r:embed="rId2"/>
          <a:stretch>
            <a:fillRect/>
          </a:stretch>
        </p:blipFill>
        <p:spPr>
          <a:xfrm>
            <a:off x="6172200" y="1280160"/>
            <a:ext cx="5440680" cy="3627120"/>
          </a:xfrm>
          <a:prstGeom prst="rect">
            <a:avLst/>
          </a:prstGeom>
        </p:spPr>
      </p:pic>
      <p:sp>
        <p:nvSpPr>
          <p:cNvPr id="5" name="Text 1"/>
          <p:cNvSpPr txBox="1"/>
          <p:nvPr/>
        </p:nvSpPr>
        <p:spPr>
          <a:xfrm>
            <a:off x="548640" y="4983480"/>
            <a:ext cx="5440680" cy="365760"/>
          </a:xfrm>
          <a:prstGeom prst="rect">
            <a:avLst/>
          </a:prstGeom>
          <a:noFill/>
          <a:ln/>
        </p:spPr>
        <p:txBody>
          <a:bodyPr wrap="square" lIns="0" tIns="0" rIns="0" bIns="0" rtlCol="0" anchor="t"/>
          <a:lstStyle/>
          <a:p>
            <a:pPr indent="0" marL="0">
              <a:buNone/>
            </a:pPr>
            <a:r>
              <a:rPr lang="en-US" sz="1300" dirty="0">
                <a:solidFill>
                  <a:schemeClr val="accent6"/>
                </a:solidFill>
              </a:rPr>
              <a:t>Live forecast tab (the 16:00 run, flagging the missing fire data)</a:t>
            </a:r>
            <a:endParaRPr lang="en-US" sz="1300" dirty="0"/>
          </a:p>
        </p:txBody>
      </p:sp>
      <p:sp>
        <p:nvSpPr>
          <p:cNvPr id="6" name="Text 2"/>
          <p:cNvSpPr txBox="1"/>
          <p:nvPr/>
        </p:nvSpPr>
        <p:spPr>
          <a:xfrm>
            <a:off x="6172200" y="4983480"/>
            <a:ext cx="5440680" cy="365760"/>
          </a:xfrm>
          <a:prstGeom prst="rect">
            <a:avLst/>
          </a:prstGeom>
          <a:noFill/>
          <a:ln/>
        </p:spPr>
        <p:txBody>
          <a:bodyPr wrap="square" lIns="0" tIns="0" rIns="0" bIns="0" rtlCol="0" anchor="t"/>
          <a:lstStyle/>
          <a:p>
            <a:pPr indent="0" marL="0">
              <a:buNone/>
            </a:pPr>
            <a:r>
              <a:rPr lang="en-US" sz="1300" dirty="0">
                <a:solidFill>
                  <a:schemeClr val="accent6"/>
                </a:solidFill>
              </a:rPr>
              <a:t>Cleaned data tab: browse the hourly master table and download CSV</a:t>
            </a:r>
            <a:endParaRPr lang="en-US" sz="1300" dirty="0"/>
          </a:p>
        </p:txBody>
      </p:sp>
      <p:sp>
        <p:nvSpPr>
          <p:cNvPr id="7" name="Text 3"/>
          <p:cNvSpPr txBox="1"/>
          <p:nvPr/>
        </p:nvSpPr>
        <p:spPr>
          <a:xfrm>
            <a:off x="548640" y="5376672"/>
            <a:ext cx="11064240" cy="365760"/>
          </a:xfrm>
          <a:prstGeom prst="rect">
            <a:avLst/>
          </a:prstGeom>
          <a:noFill/>
          <a:ln/>
        </p:spPr>
        <p:txBody>
          <a:bodyPr wrap="square" lIns="0" tIns="0" rIns="0" bIns="0" rtlCol="0" anchor="t"/>
          <a:lstStyle/>
          <a:p>
            <a:pPr indent="0" marL="0">
              <a:buNone/>
            </a:pPr>
            <a:r>
              <a:rPr lang="en-US" sz="1300" dirty="0">
                <a:solidFill>
                  <a:schemeClr val="tx1"/>
                </a:solidFill>
              </a:rPr>
              <a:t>Seven tabs: Live forecast · Replay: test seasons · How the data was made · Cleaned data · Data quality · Model performance · About</a:t>
            </a:r>
            <a:endParaRPr lang="en-US" sz="1300" dirty="0"/>
          </a:p>
        </p:txBody>
      </p:sp>
      <p:sp>
        <p:nvSpPr>
          <p:cNvPr id="8" name="live link box"/>
          <p:cNvSpPr/>
          <p:nvPr/>
        </p:nvSpPr>
        <p:spPr>
          <a:xfrm>
            <a:off x="548640" y="5760720"/>
            <a:ext cx="11064240" cy="502920"/>
          </a:xfrm>
          <a:prstGeom prst="roundRect">
            <a:avLst>
              <a:gd name="adj" fmla="val 14545"/>
            </a:avLst>
          </a:prstGeom>
          <a:solidFill>
            <a:schemeClr val="bg2"/>
          </a:solidFill>
          <a:ln/>
        </p:spPr>
      </p:sp>
      <p:sp>
        <p:nvSpPr>
          <p:cNvPr id="9" name="Text 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400" dirty="0">
                <a:solidFill>
                  <a:schemeClr val="tx1"/>
                </a:solidFill>
              </a:rPr>
              <a:t>Live: https://saansgit-uhebsjzld3rfqxupnygsop.streamlit.app/  ·  Code: github.com/FarhanRajputFelix/saans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000" b="1" dirty="0">
                <a:solidFill>
                  <a:schemeClr val="tx1"/>
                </a:solidFill>
              </a:rPr>
              <a:t>What SAANS cannot claim yet</a:t>
            </a:r>
            <a:endParaRPr lang="en-US" sz="3000" dirty="0"/>
          </a:p>
        </p:txBody>
      </p:sp>
      <p:sp>
        <p:nvSpPr>
          <p:cNvPr id="3" name="limitation 1"/>
          <p:cNvSpPr/>
          <p:nvPr/>
        </p:nvSpPr>
        <p:spPr>
          <a:xfrm>
            <a:off x="548640" y="1325880"/>
            <a:ext cx="3474720" cy="2148840"/>
          </a:xfrm>
          <a:prstGeom prst="roundRect">
            <a:avLst>
              <a:gd name="adj" fmla="val 3404"/>
            </a:avLst>
          </a:prstGeom>
          <a:solidFill>
            <a:schemeClr val="bg2"/>
          </a:solidFill>
          <a:ln/>
        </p:spPr>
      </p:sp>
      <p:sp>
        <p:nvSpPr>
          <p:cNvPr id="4" name="circle 1"/>
          <p:cNvSpPr/>
          <p:nvPr/>
        </p:nvSpPr>
        <p:spPr>
          <a:xfrm>
            <a:off x="822960" y="1600200"/>
            <a:ext cx="411480" cy="411480"/>
          </a:xfrm>
          <a:prstGeom prst="ellipse">
            <a:avLst/>
          </a:prstGeom>
          <a:solidFill>
            <a:schemeClr val="accent6"/>
          </a:solidFill>
          <a:ln/>
        </p:spPr>
      </p:sp>
      <p:sp>
        <p:nvSpPr>
          <p:cNvPr id="5" name="Text 3"/>
          <p:cNvSpPr txBox="1"/>
          <p:nvPr/>
        </p:nvSpPr>
        <p:spPr>
          <a:xfrm>
            <a:off x="822960" y="16002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55448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Statistical, not chemical</a:t>
            </a:r>
            <a:endParaRPr lang="en-US" sz="1600" dirty="0"/>
          </a:p>
        </p:txBody>
      </p:sp>
      <p:sp>
        <p:nvSpPr>
          <p:cNvPr id="7" name="Text 5"/>
          <p:cNvSpPr txBox="1"/>
          <p:nvPr/>
        </p:nvSpPr>
        <p:spPr>
          <a:xfrm>
            <a:off x="822960" y="2240280"/>
            <a:ext cx="2971800" cy="1143000"/>
          </a:xfrm>
          <a:prstGeom prst="rect">
            <a:avLst/>
          </a:prstGeom>
          <a:noFill/>
          <a:ln/>
        </p:spPr>
        <p:txBody>
          <a:bodyPr wrap="square" lIns="0" tIns="0" rIns="0" bIns="0" rtlCol="0" anchor="t"/>
          <a:lstStyle/>
          <a:p>
            <a:pPr indent="0" marL="0">
              <a:buNone/>
            </a:pPr>
            <a:r>
              <a:rPr lang="en-US" sz="1400" dirty="0">
                <a:solidFill>
                  <a:schemeClr val="tx1"/>
                </a:solidFill>
              </a:rPr>
              <a:t>SHAP shows what the model relied on, not measured emission sources.</a:t>
            </a:r>
            <a:endParaRPr lang="en-US" sz="1400" dirty="0"/>
          </a:p>
        </p:txBody>
      </p:sp>
      <p:sp>
        <p:nvSpPr>
          <p:cNvPr id="8" name="limitation 2"/>
          <p:cNvSpPr/>
          <p:nvPr/>
        </p:nvSpPr>
        <p:spPr>
          <a:xfrm>
            <a:off x="4297680" y="1325880"/>
            <a:ext cx="3474720" cy="2148840"/>
          </a:xfrm>
          <a:prstGeom prst="roundRect">
            <a:avLst>
              <a:gd name="adj" fmla="val 3404"/>
            </a:avLst>
          </a:prstGeom>
          <a:solidFill>
            <a:schemeClr val="bg2"/>
          </a:solidFill>
          <a:ln/>
        </p:spPr>
      </p:sp>
      <p:sp>
        <p:nvSpPr>
          <p:cNvPr id="9" name="circle 2"/>
          <p:cNvSpPr/>
          <p:nvPr/>
        </p:nvSpPr>
        <p:spPr>
          <a:xfrm>
            <a:off x="4572000" y="1600200"/>
            <a:ext cx="411480" cy="411480"/>
          </a:xfrm>
          <a:prstGeom prst="ellipse">
            <a:avLst/>
          </a:prstGeom>
          <a:solidFill>
            <a:schemeClr val="accent6"/>
          </a:solidFill>
          <a:ln/>
        </p:spPr>
      </p:sp>
      <p:sp>
        <p:nvSpPr>
          <p:cNvPr id="10" name="Text 8"/>
          <p:cNvSpPr txBox="1"/>
          <p:nvPr/>
        </p:nvSpPr>
        <p:spPr>
          <a:xfrm>
            <a:off x="4572000" y="16002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55448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Losing a reference monitor hurts</a:t>
            </a:r>
            <a:endParaRPr lang="en-US" sz="1600" dirty="0"/>
          </a:p>
        </p:txBody>
      </p:sp>
      <p:sp>
        <p:nvSpPr>
          <p:cNvPr id="12" name="Text 10"/>
          <p:cNvSpPr txBox="1"/>
          <p:nvPr/>
        </p:nvSpPr>
        <p:spPr>
          <a:xfrm>
            <a:off x="4572000" y="2240280"/>
            <a:ext cx="2971800" cy="1143000"/>
          </a:xfrm>
          <a:prstGeom prst="rect">
            <a:avLst/>
          </a:prstGeom>
          <a:noFill/>
          <a:ln/>
        </p:spPr>
        <p:txBody>
          <a:bodyPr wrap="square" lIns="0" tIns="0" rIns="0" bIns="0" rtlCol="0" anchor="t"/>
          <a:lstStyle/>
          <a:p>
            <a:pPr indent="0" marL="0">
              <a:buNone/>
            </a:pPr>
            <a:r>
              <a:rPr lang="en-US" sz="1400" dirty="0">
                <a:solidFill>
                  <a:schemeClr val="tx1"/>
                </a:solidFill>
              </a:rPr>
              <a:t>Lahore 2025-26 runs 25 µg/m³ high; Clarity reads about 32% low.</a:t>
            </a:r>
            <a:endParaRPr lang="en-US" sz="1400" dirty="0"/>
          </a:p>
        </p:txBody>
      </p:sp>
      <p:sp>
        <p:nvSpPr>
          <p:cNvPr id="13" name="limitation 3"/>
          <p:cNvSpPr/>
          <p:nvPr/>
        </p:nvSpPr>
        <p:spPr>
          <a:xfrm>
            <a:off x="8046720" y="1325880"/>
            <a:ext cx="3474720" cy="2148840"/>
          </a:xfrm>
          <a:prstGeom prst="roundRect">
            <a:avLst>
              <a:gd name="adj" fmla="val 3404"/>
            </a:avLst>
          </a:prstGeom>
          <a:solidFill>
            <a:schemeClr val="bg2"/>
          </a:solidFill>
          <a:ln/>
        </p:spPr>
      </p:sp>
      <p:sp>
        <p:nvSpPr>
          <p:cNvPr id="14" name="circle 3"/>
          <p:cNvSpPr/>
          <p:nvPr/>
        </p:nvSpPr>
        <p:spPr>
          <a:xfrm>
            <a:off x="8321040" y="1600200"/>
            <a:ext cx="411480" cy="411480"/>
          </a:xfrm>
          <a:prstGeom prst="ellipse">
            <a:avLst/>
          </a:prstGeom>
          <a:solidFill>
            <a:schemeClr val="accent6"/>
          </a:solidFill>
          <a:ln/>
        </p:spPr>
      </p:sp>
      <p:sp>
        <p:nvSpPr>
          <p:cNvPr id="15" name="Text 13"/>
          <p:cNvSpPr txBox="1"/>
          <p:nvPr/>
        </p:nvSpPr>
        <p:spPr>
          <a:xfrm>
            <a:off x="8321040" y="16002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55448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Live mode has its own limits</a:t>
            </a:r>
            <a:endParaRPr lang="en-US" sz="1600" dirty="0"/>
          </a:p>
        </p:txBody>
      </p:sp>
      <p:sp>
        <p:nvSpPr>
          <p:cNvPr id="17" name="Text 15"/>
          <p:cNvSpPr txBox="1"/>
          <p:nvPr/>
        </p:nvSpPr>
        <p:spPr>
          <a:xfrm>
            <a:off x="8321040" y="2240280"/>
            <a:ext cx="2971800" cy="1143000"/>
          </a:xfrm>
          <a:prstGeom prst="rect">
            <a:avLst/>
          </a:prstGeom>
          <a:noFill/>
          <a:ln/>
        </p:spPr>
        <p:txBody>
          <a:bodyPr wrap="square" lIns="0" tIns="0" rIns="0" bIns="0" rtlCol="0" anchor="t"/>
          <a:lstStyle/>
          <a:p>
            <a:pPr indent="0" marL="0">
              <a:buNone/>
            </a:pPr>
            <a:r>
              <a:rPr lang="en-US" sz="1400" dirty="0">
                <a:solidFill>
                  <a:schemeClr val="tx1"/>
                </a:solidFill>
              </a:rPr>
              <a:t>Forecast weather instead of ERA5; news calendar not live; each run needs the APIs to answer.</a:t>
            </a:r>
            <a:endParaRPr lang="en-US" sz="1400" dirty="0"/>
          </a:p>
        </p:txBody>
      </p:sp>
      <p:sp>
        <p:nvSpPr>
          <p:cNvPr id="18" name="limitation 4"/>
          <p:cNvSpPr/>
          <p:nvPr/>
        </p:nvSpPr>
        <p:spPr>
          <a:xfrm>
            <a:off x="548640" y="3703320"/>
            <a:ext cx="3474720" cy="2148840"/>
          </a:xfrm>
          <a:prstGeom prst="roundRect">
            <a:avLst>
              <a:gd name="adj" fmla="val 3404"/>
            </a:avLst>
          </a:prstGeom>
          <a:solidFill>
            <a:schemeClr val="bg2"/>
          </a:solidFill>
          <a:ln/>
        </p:spPr>
      </p:sp>
      <p:sp>
        <p:nvSpPr>
          <p:cNvPr id="19" name="circle 4"/>
          <p:cNvSpPr/>
          <p:nvPr/>
        </p:nvSpPr>
        <p:spPr>
          <a:xfrm>
            <a:off x="822960" y="3977640"/>
            <a:ext cx="411480" cy="411480"/>
          </a:xfrm>
          <a:prstGeom prst="ellipse">
            <a:avLst/>
          </a:prstGeom>
          <a:solidFill>
            <a:schemeClr val="accent6"/>
          </a:solidFill>
          <a:ln/>
        </p:spPr>
      </p:sp>
      <p:sp>
        <p:nvSpPr>
          <p:cNvPr id="20" name="Text 18"/>
          <p:cNvSpPr txBox="1"/>
          <p:nvPr/>
        </p:nvSpPr>
        <p:spPr>
          <a:xfrm>
            <a:off x="822960" y="39776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393192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Thin data in two cities</a:t>
            </a:r>
            <a:endParaRPr lang="en-US" sz="1600" dirty="0"/>
          </a:p>
        </p:txBody>
      </p:sp>
      <p:sp>
        <p:nvSpPr>
          <p:cNvPr id="22" name="Text 20"/>
          <p:cNvSpPr txBox="1"/>
          <p:nvPr/>
        </p:nvSpPr>
        <p:spPr>
          <a:xfrm>
            <a:off x="822960" y="4617720"/>
            <a:ext cx="2971800" cy="1143000"/>
          </a:xfrm>
          <a:prstGeom prst="rect">
            <a:avLst/>
          </a:prstGeom>
          <a:noFill/>
          <a:ln/>
        </p:spPr>
        <p:txBody>
          <a:bodyPr wrap="square" lIns="0" tIns="0" rIns="0" bIns="0" rtlCol="0" anchor="t"/>
          <a:lstStyle/>
          <a:p>
            <a:pPr indent="0" marL="0">
              <a:buNone/>
            </a:pPr>
            <a:r>
              <a:rPr lang="en-US" sz="1400" dirty="0">
                <a:solidFill>
                  <a:schemeClr val="tx1"/>
                </a:solidFill>
              </a:rPr>
              <a:t>Faisalabad and Multan: one season, low-cost sensors only, no reference.</a:t>
            </a:r>
            <a:endParaRPr lang="en-US" sz="1400" dirty="0"/>
          </a:p>
        </p:txBody>
      </p:sp>
      <p:sp>
        <p:nvSpPr>
          <p:cNvPr id="23" name="limitation 5"/>
          <p:cNvSpPr/>
          <p:nvPr/>
        </p:nvSpPr>
        <p:spPr>
          <a:xfrm>
            <a:off x="4297680" y="3703320"/>
            <a:ext cx="3474720" cy="2148840"/>
          </a:xfrm>
          <a:prstGeom prst="roundRect">
            <a:avLst>
              <a:gd name="adj" fmla="val 3404"/>
            </a:avLst>
          </a:prstGeom>
          <a:solidFill>
            <a:schemeClr val="bg2"/>
          </a:solidFill>
          <a:ln/>
        </p:spPr>
      </p:sp>
      <p:sp>
        <p:nvSpPr>
          <p:cNvPr id="24" name="circle 5"/>
          <p:cNvSpPr/>
          <p:nvPr/>
        </p:nvSpPr>
        <p:spPr>
          <a:xfrm>
            <a:off x="4572000" y="3977640"/>
            <a:ext cx="411480" cy="411480"/>
          </a:xfrm>
          <a:prstGeom prst="ellipse">
            <a:avLst/>
          </a:prstGeom>
          <a:solidFill>
            <a:schemeClr val="accent6"/>
          </a:solidFill>
          <a:ln/>
        </p:spPr>
      </p:sp>
      <p:sp>
        <p:nvSpPr>
          <p:cNvPr id="25" name="Text 23"/>
          <p:cNvSpPr txBox="1"/>
          <p:nvPr/>
        </p:nvSpPr>
        <p:spPr>
          <a:xfrm>
            <a:off x="4572000" y="39776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5120640" y="393192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Coarse weather, no forecast inputs</a:t>
            </a:r>
            <a:endParaRPr lang="en-US" sz="1600" dirty="0"/>
          </a:p>
        </p:txBody>
      </p:sp>
      <p:sp>
        <p:nvSpPr>
          <p:cNvPr id="27" name="Text 25"/>
          <p:cNvSpPr txBox="1"/>
          <p:nvPr/>
        </p:nvSpPr>
        <p:spPr>
          <a:xfrm>
            <a:off x="4572000" y="4617720"/>
            <a:ext cx="2971800" cy="1143000"/>
          </a:xfrm>
          <a:prstGeom prst="rect">
            <a:avLst/>
          </a:prstGeom>
          <a:noFill/>
          <a:ln/>
        </p:spPr>
        <p:txBody>
          <a:bodyPr wrap="square" lIns="0" tIns="0" rIns="0" bIns="0" rtlCol="0" anchor="t"/>
          <a:lstStyle/>
          <a:p>
            <a:pPr indent="0" marL="0">
              <a:buNone/>
            </a:pPr>
            <a:r>
              <a:rPr lang="en-US" sz="1400" dirty="0">
                <a:solidFill>
                  <a:schemeClr val="tx1"/>
                </a:solidFill>
              </a:rPr>
              <a:t>ERA5 is a 25 km grid; BLH for Jan-Jun 2024 is imputed; no NWP inputs.</a:t>
            </a:r>
            <a:endParaRPr lang="en-US" sz="1400" dirty="0"/>
          </a:p>
        </p:txBody>
      </p:sp>
      <p:sp>
        <p:nvSpPr>
          <p:cNvPr id="28" name="limitation 6"/>
          <p:cNvSpPr/>
          <p:nvPr/>
        </p:nvSpPr>
        <p:spPr>
          <a:xfrm>
            <a:off x="8046720" y="3703320"/>
            <a:ext cx="3474720" cy="2148840"/>
          </a:xfrm>
          <a:prstGeom prst="roundRect">
            <a:avLst>
              <a:gd name="adj" fmla="val 3404"/>
            </a:avLst>
          </a:prstGeom>
          <a:solidFill>
            <a:schemeClr val="bg2"/>
          </a:solidFill>
          <a:ln/>
        </p:spPr>
      </p:sp>
      <p:sp>
        <p:nvSpPr>
          <p:cNvPr id="29" name="circle 6"/>
          <p:cNvSpPr/>
          <p:nvPr/>
        </p:nvSpPr>
        <p:spPr>
          <a:xfrm>
            <a:off x="8321040" y="3977640"/>
            <a:ext cx="411480" cy="411480"/>
          </a:xfrm>
          <a:prstGeom prst="ellipse">
            <a:avLst/>
          </a:prstGeom>
          <a:solidFill>
            <a:schemeClr val="accent6"/>
          </a:solidFill>
          <a:ln/>
        </p:spPr>
      </p:sp>
      <p:sp>
        <p:nvSpPr>
          <p:cNvPr id="30" name="Text 28"/>
          <p:cNvSpPr txBox="1"/>
          <p:nvPr/>
        </p:nvSpPr>
        <p:spPr>
          <a:xfrm>
            <a:off x="8321040" y="39776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8869680" y="393192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Noisy event calendar</a:t>
            </a:r>
            <a:endParaRPr lang="en-US" sz="1600" dirty="0"/>
          </a:p>
        </p:txBody>
      </p:sp>
      <p:sp>
        <p:nvSpPr>
          <p:cNvPr id="32" name="Text 30"/>
          <p:cNvSpPr txBox="1"/>
          <p:nvPr/>
        </p:nvSpPr>
        <p:spPr>
          <a:xfrm>
            <a:off x="8321040" y="4617720"/>
            <a:ext cx="2971800" cy="1143000"/>
          </a:xfrm>
          <a:prstGeom prst="rect">
            <a:avLst/>
          </a:prstGeom>
          <a:noFill/>
          <a:ln/>
        </p:spPr>
        <p:txBody>
          <a:bodyPr wrap="square" lIns="0" tIns="0" rIns="0" bIns="0" rtlCol="0" anchor="t"/>
          <a:lstStyle/>
          <a:p>
            <a:pPr indent="0" marL="0">
              <a:buNone/>
            </a:pPr>
            <a:r>
              <a:rPr lang="en-US" sz="1400" dirty="0">
                <a:solidFill>
                  <a:schemeClr val="tx1"/>
                </a:solidFill>
              </a:rPr>
              <a:t>65% strict accuracy; misses on headlines that lift or end a measure.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lIns="0" tIns="0" rIns="0" bIns="0" rtlCol="0" anchor="ctr"/>
          <a:lstStyle/>
          <a:p>
            <a:pPr indent="0" marL="0">
              <a:buNone/>
            </a:pPr>
            <a:r>
              <a:rPr lang="en-US" sz="4000" b="1" dirty="0">
                <a:solidFill>
                  <a:schemeClr val="bg1"/>
                </a:solidFill>
              </a:rPr>
              <a:t>Conclusion and next steps</a:t>
            </a:r>
            <a:endParaRPr lang="en-US" sz="4000" dirty="0"/>
          </a:p>
        </p:txBody>
      </p:sp>
      <p:sp>
        <p:nvSpPr>
          <p:cNvPr id="3" name="Text 1"/>
          <p:cNvSpPr txBox="1"/>
          <p:nvPr/>
        </p:nvSpPr>
        <p:spPr>
          <a:xfrm>
            <a:off x="640080" y="1737360"/>
            <a:ext cx="5577840" cy="329184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bg1"/>
                </a:solidFill>
              </a:rPr>
              <a:t>Free data can forecast city smog a day ahead: 13% better than persistence in the record season.</a:t>
            </a:r>
            <a:endParaRPr lang="en-US" sz="1800" dirty="0"/>
          </a:p>
          <a:p>
            <a:pPr marL="342900" indent="-342900">
              <a:spcAft>
                <a:spcPts val="1400"/>
              </a:spcAft>
              <a:buSzPct val="100000"/>
              <a:buChar char="•"/>
            </a:pPr>
            <a:r>
              <a:rPr lang="en-US" sz="1800" dirty="0">
                <a:solidFill>
                  <a:schemeClr val="bg1"/>
                </a:solidFill>
              </a:rPr>
              <a:t>Warnings catch 93% of hazardous periods, and the model transfers to two unseen cities.</a:t>
            </a:r>
            <a:endParaRPr lang="en-US" sz="1800" dirty="0"/>
          </a:p>
          <a:p>
            <a:pPr marL="342900" indent="-342900">
              <a:spcAft>
                <a:spcPts val="1400"/>
              </a:spcAft>
              <a:buSzPct val="100000"/>
              <a:buChar char="•"/>
            </a:pPr>
            <a:r>
              <a:rPr lang="en-US" sz="1800" dirty="0">
                <a:solidFill>
                  <a:schemeClr val="bg1"/>
                </a:solidFill>
              </a:rPr>
              <a:t>It runs live: today's forecast from fresh data, with the same code as training.</a:t>
            </a:r>
            <a:endParaRPr lang="en-US" sz="1800" dirty="0"/>
          </a:p>
          <a:p>
            <a:pPr marL="342900" indent="-342900">
              <a:spcAft>
                <a:spcPts val="1400"/>
              </a:spcAft>
              <a:buSzPct val="100000"/>
              <a:buChar char="•"/>
            </a:pPr>
            <a:r>
              <a:rPr lang="en-US" sz="1800" dirty="0">
                <a:solidFill>
                  <a:schemeClr val="bg1"/>
                </a:solidFill>
              </a:rPr>
              <a:t>Careful cleaning changed the results: silent errors caught, logged and fixed.</a:t>
            </a:r>
            <a:endParaRPr lang="en-US" sz="1800" dirty="0"/>
          </a:p>
        </p:txBody>
      </p:sp>
      <p:sp>
        <p:nvSpPr>
          <p:cNvPr id="4" name="Text 2"/>
          <p:cNvSpPr txBox="1"/>
          <p:nvPr/>
        </p:nvSpPr>
        <p:spPr>
          <a:xfrm>
            <a:off x="6766560" y="1737360"/>
            <a:ext cx="4754880" cy="457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Next</a:t>
            </a:r>
            <a:endParaRPr lang="en-US" sz="2200" dirty="0"/>
          </a:p>
        </p:txBody>
      </p:sp>
      <p:sp>
        <p:nvSpPr>
          <p:cNvPr id="5" name="Text 3"/>
          <p:cNvSpPr txBox="1"/>
          <p:nvPr/>
        </p:nvSpPr>
        <p:spPr>
          <a:xfrm>
            <a:off x="6766560" y="2286000"/>
            <a:ext cx="475488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2"/>
                </a:solidFill>
              </a:rPr>
              <a:t>Calibrate low-cost networks, Lahore first</a:t>
            </a:r>
            <a:endParaRPr lang="en-US" sz="1600" dirty="0"/>
          </a:p>
          <a:p>
            <a:pPr marL="342900" indent="-342900">
              <a:spcAft>
                <a:spcPts val="800"/>
              </a:spcAft>
              <a:buSzPct val="100000"/>
              <a:buChar char="•"/>
            </a:pPr>
            <a:r>
              <a:rPr lang="en-US" sz="1600" dirty="0">
                <a:solidFill>
                  <a:schemeClr val="bg2"/>
                </a:solidFill>
              </a:rPr>
              <a:t>Feed weather forecasts into the models</a:t>
            </a:r>
            <a:endParaRPr lang="en-US" sz="1600" dirty="0"/>
          </a:p>
          <a:p>
            <a:pPr marL="342900" indent="-342900">
              <a:spcAft>
                <a:spcPts val="800"/>
              </a:spcAft>
              <a:buSzPct val="100000"/>
              <a:buChar char="•"/>
            </a:pPr>
            <a:r>
              <a:rPr lang="en-US" sz="1600" dirty="0">
                <a:solidFill>
                  <a:schemeClr val="bg2"/>
                </a:solidFill>
              </a:rPr>
              <a:t>Live news calendar; scheduled runs all season</a:t>
            </a:r>
            <a:endParaRPr lang="en-US" sz="1600" dirty="0"/>
          </a:p>
          <a:p>
            <a:pPr marL="342900" indent="-342900">
              <a:spcAft>
                <a:spcPts val="800"/>
              </a:spcAft>
              <a:buSzPct val="100000"/>
              <a:buChar char="•"/>
            </a:pPr>
            <a:r>
              <a:rPr lang="en-US" sz="1600" dirty="0">
                <a:solidFill>
                  <a:schemeClr val="bg2"/>
                </a:solidFill>
              </a:rPr>
              <a:t>Publish the dataset on Kaggle (not done yet)</a:t>
            </a:r>
            <a:endParaRPr lang="en-US" sz="1600" dirty="0"/>
          </a:p>
          <a:p>
            <a:pPr marL="342900" indent="-342900">
              <a:spcAft>
                <a:spcPts val="800"/>
              </a:spcAft>
              <a:buSzPct val="100000"/>
              <a:buChar char="•"/>
            </a:pPr>
            <a:r>
              <a:rPr lang="en-US" sz="1600" dirty="0">
                <a:solidFill>
                  <a:schemeClr val="bg2"/>
                </a:solidFill>
              </a:rPr>
              <a:t>SMS alerts, Sentinel-5P, neighbourhood grid</a:t>
            </a:r>
            <a:endParaRPr lang="en-US" sz="1600" dirty="0"/>
          </a:p>
        </p:txBody>
      </p:sp>
      <p:sp>
        <p:nvSpPr>
          <p:cNvPr id="6" name="Text 4"/>
          <p:cNvSpPr txBox="1"/>
          <p:nvPr/>
        </p:nvSpPr>
        <p:spPr>
          <a:xfrm>
            <a:off x="640080" y="5760720"/>
            <a:ext cx="10881360" cy="457200"/>
          </a:xfrm>
          <a:prstGeom prst="rect">
            <a:avLst/>
          </a:prstGeom>
          <a:noFill/>
          <a:ln/>
        </p:spPr>
        <p:txBody>
          <a:bodyPr wrap="square" lIns="0" tIns="0" rIns="0" bIns="0" rtlCol="0" anchor="ctr"/>
          <a:lstStyle/>
          <a:p>
            <a:pPr indent="0" marL="0">
              <a:buNone/>
            </a:pPr>
            <a:r>
              <a:rPr lang="en-US" sz="1600" dirty="0">
                <a:solidFill>
                  <a:schemeClr val="bg2"/>
                </a:solidFill>
              </a:rPr>
              <a:t>github.com/FarhanRajputFelix/saans  ·  Thank you</a:t>
            </a:r>
            <a:endParaRPr lang="en-US" sz="1600" dirty="0"/>
          </a:p>
        </p:txBody>
      </p:sp>
    </p:spTree>
  </p:cSld>
  <p:clrMapOvr>
    <a:masterClrMapping/>
  </p:clrMapOvr>
</p:sld>
</file>

<file path=ppt/theme/theme1.xml><?xml version="1.0" encoding="utf-8"?>
<a:theme xmlns:a="http://schemas.openxmlformats.org/drawingml/2006/main" name="SAANS">
  <a:themeElements>
    <a:clrScheme name="SAANS">
      <a:dk1>
        <a:srgbClr val="0B0B0B"/>
      </a:dk1>
      <a:lt1>
        <a:srgbClr val="FCFCFB"/>
      </a:lt1>
      <a:dk2>
        <a:srgbClr val="16324F"/>
      </a:dk2>
      <a:lt2>
        <a:srgbClr val="EEF2F7"/>
      </a:lt2>
      <a:accent1>
        <a:srgbClr val="2A78D6"/>
      </a:accent1>
      <a:accent2>
        <a:srgbClr val="EB6834"/>
      </a:accent2>
      <a:accent3>
        <a:srgbClr val="1BAF7A"/>
      </a:accent3>
      <a:accent4>
        <a:srgbClr val="EDA100"/>
      </a:accent4>
      <a:accent5>
        <a:srgbClr val="D03B3B"/>
      </a:accent5>
      <a:accent6>
        <a:srgbClr val="52514E"/>
      </a:accent6>
      <a:hlink>
        <a:srgbClr val="2A78D6"/>
      </a:hlink>
      <a:folHlink>
        <a:srgbClr val="6250D6"/>
      </a:folHlink>
    </a:clrScheme>
    <a:fontScheme name="SAA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SAANS: AI Smog Forecasting and Source Attribution</dc:title>
  <dc:subject>PptxGenJS Presentation</dc:subject>
  <dc:creator>Farhan Bashir</dc:creator>
  <cp:lastModifiedBy>Farhan Bashir</cp:lastModifiedBy>
  <cp:revision>1</cp:revision>
  <dcterms:created xsi:type="dcterms:W3CDTF">2026-10-24T13:20:36Z</dcterms:created>
  <dcterms:modified xsi:type="dcterms:W3CDTF">2026-10-24T13:20:36Z</dcterms:modified>
</cp:coreProperties>
</file>